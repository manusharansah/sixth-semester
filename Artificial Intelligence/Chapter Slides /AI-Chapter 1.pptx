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5" r:id="rId8"/>
    <p:sldId id="266" r:id="rId9"/>
    <p:sldId id="268" r:id="rId10"/>
    <p:sldId id="269" r:id="rId11"/>
    <p:sldId id="272" r:id="rId12"/>
    <p:sldId id="273" r:id="rId13"/>
    <p:sldId id="333" r:id="rId14"/>
    <p:sldId id="313" r:id="rId15"/>
    <p:sldId id="334" r:id="rId16"/>
    <p:sldId id="320" r:id="rId17"/>
    <p:sldId id="335" r:id="rId18"/>
    <p:sldId id="322" r:id="rId19"/>
    <p:sldId id="274" r:id="rId20"/>
    <p:sldId id="270" r:id="rId21"/>
    <p:sldId id="271" r:id="rId22"/>
    <p:sldId id="315" r:id="rId23"/>
    <p:sldId id="316" r:id="rId24"/>
    <p:sldId id="318" r:id="rId25"/>
    <p:sldId id="317" r:id="rId26"/>
    <p:sldId id="319" r:id="rId27"/>
    <p:sldId id="276" r:id="rId28"/>
    <p:sldId id="277" r:id="rId29"/>
    <p:sldId id="278" r:id="rId30"/>
    <p:sldId id="312" r:id="rId31"/>
    <p:sldId id="314" r:id="rId32"/>
    <p:sldId id="324" r:id="rId33"/>
    <p:sldId id="294" r:id="rId34"/>
    <p:sldId id="296" r:id="rId35"/>
    <p:sldId id="298" r:id="rId36"/>
    <p:sldId id="349" r:id="rId37"/>
    <p:sldId id="350" r:id="rId38"/>
    <p:sldId id="351" r:id="rId39"/>
    <p:sldId id="352" r:id="rId40"/>
    <p:sldId id="353" r:id="rId41"/>
    <p:sldId id="367" r:id="rId42"/>
    <p:sldId id="368" r:id="rId43"/>
    <p:sldId id="369" r:id="rId44"/>
    <p:sldId id="370" r:id="rId45"/>
    <p:sldId id="371" r:id="rId46"/>
    <p:sldId id="300" r:id="rId47"/>
    <p:sldId id="301" r:id="rId48"/>
    <p:sldId id="378" r:id="rId49"/>
    <p:sldId id="357" r:id="rId50"/>
    <p:sldId id="358" r:id="rId51"/>
    <p:sldId id="279" r:id="rId52"/>
    <p:sldId id="280" r:id="rId53"/>
    <p:sldId id="337" r:id="rId54"/>
    <p:sldId id="336" r:id="rId55"/>
    <p:sldId id="338" r:id="rId56"/>
    <p:sldId id="339" r:id="rId57"/>
    <p:sldId id="340" r:id="rId58"/>
    <p:sldId id="341" r:id="rId59"/>
    <p:sldId id="342" r:id="rId60"/>
    <p:sldId id="343" r:id="rId61"/>
    <p:sldId id="345" r:id="rId62"/>
    <p:sldId id="286" r:id="rId63"/>
    <p:sldId id="289" r:id="rId64"/>
    <p:sldId id="290" r:id="rId65"/>
    <p:sldId id="291" r:id="rId66"/>
    <p:sldId id="292" r:id="rId67"/>
    <p:sldId id="302" r:id="rId68"/>
    <p:sldId id="303" r:id="rId69"/>
    <p:sldId id="304" r:id="rId70"/>
    <p:sldId id="305" r:id="rId71"/>
    <p:sldId id="306" r:id="rId72"/>
    <p:sldId id="363" r:id="rId73"/>
    <p:sldId id="307" r:id="rId74"/>
    <p:sldId id="325" r:id="rId75"/>
    <p:sldId id="308" r:id="rId76"/>
    <p:sldId id="326" r:id="rId77"/>
    <p:sldId id="327" r:id="rId78"/>
    <p:sldId id="360" r:id="rId79"/>
    <p:sldId id="309" r:id="rId80"/>
    <p:sldId id="328" r:id="rId81"/>
    <p:sldId id="361" r:id="rId82"/>
    <p:sldId id="310" r:id="rId83"/>
    <p:sldId id="330" r:id="rId84"/>
    <p:sldId id="362" r:id="rId85"/>
    <p:sldId id="331" r:id="rId86"/>
    <p:sldId id="364" r:id="rId87"/>
    <p:sldId id="365" r:id="rId88"/>
    <p:sldId id="366" r:id="rId89"/>
    <p:sldId id="356" r:id="rId90"/>
    <p:sldId id="372" r:id="rId91"/>
    <p:sldId id="373" r:id="rId92"/>
    <p:sldId id="374" r:id="rId93"/>
    <p:sldId id="375" r:id="rId94"/>
    <p:sldId id="377" r:id="rId95"/>
    <p:sldId id="311"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63" d="100"/>
          <a:sy n="63" d="100"/>
        </p:scale>
        <p:origin x="7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55BCF80-B630-44FB-892A-C7537BE50B81}"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101747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5BCF80-B630-44FB-892A-C7537BE50B81}"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2157232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5BCF80-B630-44FB-892A-C7537BE50B81}"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2956715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55BCF80-B630-44FB-892A-C7537BE50B81}"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3457981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55BCF80-B630-44FB-892A-C7537BE50B81}"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1951871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5BCF80-B630-44FB-892A-C7537BE50B81}"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3911512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5BCF80-B630-44FB-892A-C7537BE50B81}"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1624077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5BCF80-B630-44FB-892A-C7537BE50B81}"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1417872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5BCF80-B630-44FB-892A-C7537BE50B81}"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157661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5BCF80-B630-44FB-892A-C7537BE50B81}"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324128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5BCF80-B630-44FB-892A-C7537BE50B81}"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23529-93BB-4741-A35C-8A45E7A7F565}" type="slidenum">
              <a:rPr lang="en-US" smtClean="0"/>
              <a:t>‹#›</a:t>
            </a:fld>
            <a:endParaRPr lang="en-US"/>
          </a:p>
        </p:txBody>
      </p:sp>
    </p:spTree>
    <p:extLst>
      <p:ext uri="{BB962C8B-B14F-4D97-AF65-F5344CB8AC3E}">
        <p14:creationId xmlns:p14="http://schemas.microsoft.com/office/powerpoint/2010/main" val="2379716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5BCF80-B630-44FB-892A-C7537BE50B81}" type="datetimeFigureOut">
              <a:rPr lang="en-US" smtClean="0"/>
              <a:t>5/25/2026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23529-93BB-4741-A35C-8A45E7A7F565}" type="slidenum">
              <a:rPr lang="en-US" smtClean="0"/>
              <a:t>‹#›</a:t>
            </a:fld>
            <a:endParaRPr lang="en-US"/>
          </a:p>
        </p:txBody>
      </p:sp>
    </p:spTree>
    <p:extLst>
      <p:ext uri="{BB962C8B-B14F-4D97-AF65-F5344CB8AC3E}">
        <p14:creationId xmlns:p14="http://schemas.microsoft.com/office/powerpoint/2010/main" val="2875847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1</a:t>
            </a:r>
            <a:br>
              <a:rPr lang="en-US" dirty="0"/>
            </a:br>
            <a:r>
              <a:rPr lang="en-US" dirty="0"/>
              <a:t>Introduction</a:t>
            </a:r>
          </a:p>
        </p:txBody>
      </p:sp>
    </p:spTree>
    <p:extLst>
      <p:ext uri="{BB962C8B-B14F-4D97-AF65-F5344CB8AC3E}">
        <p14:creationId xmlns:p14="http://schemas.microsoft.com/office/powerpoint/2010/main" val="1798104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pPr marL="0" indent="0">
              <a:buNone/>
            </a:pPr>
            <a:r>
              <a:rPr lang="en-US" dirty="0"/>
              <a:t>1.1 Definition, Foundation, History of Artificial Intelligence</a:t>
            </a:r>
          </a:p>
          <a:p>
            <a:pPr marL="0" indent="0">
              <a:buNone/>
            </a:pPr>
            <a:r>
              <a:rPr lang="en-US" dirty="0"/>
              <a:t>1.2 Definition and Importance of Knowledge</a:t>
            </a:r>
          </a:p>
          <a:p>
            <a:pPr marL="0" indent="0">
              <a:buNone/>
            </a:pPr>
            <a:r>
              <a:rPr lang="en-US" dirty="0"/>
              <a:t>1.3 Cognition and Learning</a:t>
            </a:r>
          </a:p>
          <a:p>
            <a:pPr marL="0" indent="0">
              <a:buNone/>
            </a:pPr>
            <a:r>
              <a:rPr lang="en-US" dirty="0"/>
              <a:t>1.4 Human Intelligence and Machine Intelligence</a:t>
            </a:r>
          </a:p>
          <a:p>
            <a:pPr marL="0" indent="0">
              <a:buNone/>
            </a:pPr>
            <a:r>
              <a:rPr lang="en-US" dirty="0"/>
              <a:t>1.5 AI Tree: Branches and Interdisciplinary Nature</a:t>
            </a:r>
          </a:p>
          <a:p>
            <a:pPr marL="0" indent="0">
              <a:buNone/>
            </a:pPr>
            <a:r>
              <a:rPr lang="en-US" dirty="0"/>
              <a:t>1.6 Intelligent Agents and Types</a:t>
            </a:r>
          </a:p>
          <a:p>
            <a:pPr marL="0" indent="0">
              <a:buNone/>
            </a:pPr>
            <a:r>
              <a:rPr lang="en-US" dirty="0"/>
              <a:t>1.7 Agentic AI</a:t>
            </a:r>
          </a:p>
        </p:txBody>
      </p:sp>
    </p:spTree>
    <p:extLst>
      <p:ext uri="{BB962C8B-B14F-4D97-AF65-F5344CB8AC3E}">
        <p14:creationId xmlns:p14="http://schemas.microsoft.com/office/powerpoint/2010/main" val="2422532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Definition, Foundation, History of Artificial Intelligence</a:t>
            </a:r>
          </a:p>
        </p:txBody>
      </p:sp>
      <p:sp>
        <p:nvSpPr>
          <p:cNvPr id="3" name="Content Placeholder 2"/>
          <p:cNvSpPr>
            <a:spLocks noGrp="1"/>
          </p:cNvSpPr>
          <p:nvPr>
            <p:ph idx="1"/>
          </p:nvPr>
        </p:nvSpPr>
        <p:spPr>
          <a:xfrm>
            <a:off x="838200" y="1899920"/>
            <a:ext cx="10515600" cy="4592955"/>
          </a:xfrm>
        </p:spPr>
        <p:txBody>
          <a:bodyPr/>
          <a:lstStyle/>
          <a:p>
            <a:pPr marL="0" indent="0">
              <a:buNone/>
            </a:pPr>
            <a:r>
              <a:rPr lang="en-US" dirty="0"/>
              <a:t>Definition of Artificial Intelligence:</a:t>
            </a:r>
          </a:p>
          <a:p>
            <a:pPr marL="0" indent="0">
              <a:buNone/>
            </a:pPr>
            <a:r>
              <a:rPr lang="en-US" b="1" dirty="0"/>
              <a:t>Meaning of the word: ``Intelligence'‘</a:t>
            </a:r>
          </a:p>
          <a:p>
            <a:r>
              <a:rPr lang="en-US" dirty="0"/>
              <a:t>The ability to reason</a:t>
            </a:r>
          </a:p>
          <a:p>
            <a:r>
              <a:rPr lang="en-US" dirty="0"/>
              <a:t>The ability to understand</a:t>
            </a:r>
          </a:p>
          <a:p>
            <a:r>
              <a:rPr lang="en-US" dirty="0"/>
              <a:t>The ability to create</a:t>
            </a:r>
          </a:p>
          <a:p>
            <a:r>
              <a:rPr lang="en-US" dirty="0"/>
              <a:t>The ability to learn from past experience</a:t>
            </a:r>
          </a:p>
          <a:p>
            <a:r>
              <a:rPr lang="en-US" dirty="0"/>
              <a:t>The ability to plan and execute complex task</a:t>
            </a:r>
          </a:p>
        </p:txBody>
      </p:sp>
    </p:spTree>
    <p:extLst>
      <p:ext uri="{BB962C8B-B14F-4D97-AF65-F5344CB8AC3E}">
        <p14:creationId xmlns:p14="http://schemas.microsoft.com/office/powerpoint/2010/main" val="311226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Behaviors are Intelligent?</a:t>
            </a:r>
          </a:p>
        </p:txBody>
      </p:sp>
      <p:sp>
        <p:nvSpPr>
          <p:cNvPr id="3" name="Content Placeholder 2"/>
          <p:cNvSpPr>
            <a:spLocks noGrp="1"/>
          </p:cNvSpPr>
          <p:nvPr>
            <p:ph idx="1"/>
          </p:nvPr>
        </p:nvSpPr>
        <p:spPr>
          <a:xfrm>
            <a:off x="838200" y="1573306"/>
            <a:ext cx="10515600" cy="4603657"/>
          </a:xfrm>
        </p:spPr>
        <p:txBody>
          <a:bodyPr/>
          <a:lstStyle/>
          <a:p>
            <a:pPr marL="0" indent="0">
              <a:buNone/>
            </a:pPr>
            <a:r>
              <a:rPr lang="en-US" b="1" dirty="0"/>
              <a:t>Everyday tasks</a:t>
            </a:r>
            <a:r>
              <a:rPr lang="en-US" dirty="0"/>
              <a:t>:</a:t>
            </a:r>
          </a:p>
          <a:p>
            <a:pPr algn="just">
              <a:buFont typeface="Wingdings" panose="05000000000000000000" pitchFamily="2" charset="2"/>
              <a:buChar char="Ø"/>
            </a:pPr>
            <a:r>
              <a:rPr lang="en-US" dirty="0"/>
              <a:t> recognize a friend, recognize who is calling, translate from one language to another, interpret a photograph, talk, cook a dinner</a:t>
            </a:r>
          </a:p>
          <a:p>
            <a:pPr marL="0" indent="0">
              <a:buNone/>
            </a:pPr>
            <a:r>
              <a:rPr lang="en-US" b="1" dirty="0"/>
              <a:t>Formal tasks</a:t>
            </a:r>
            <a:r>
              <a:rPr lang="en-US" dirty="0"/>
              <a:t>: </a:t>
            </a:r>
          </a:p>
          <a:p>
            <a:pPr>
              <a:buFont typeface="Wingdings" panose="05000000000000000000" pitchFamily="2" charset="2"/>
              <a:buChar char="Ø"/>
            </a:pPr>
            <a:r>
              <a:rPr lang="en-US" dirty="0"/>
              <a:t>prove a logic theorem, geometry, calculus, play chess, checkers, or Go</a:t>
            </a:r>
          </a:p>
          <a:p>
            <a:pPr marL="0" indent="0">
              <a:buNone/>
            </a:pPr>
            <a:r>
              <a:rPr lang="en-US" b="1" dirty="0"/>
              <a:t>Expert tasks</a:t>
            </a:r>
            <a:r>
              <a:rPr lang="en-US" dirty="0"/>
              <a:t>: </a:t>
            </a:r>
          </a:p>
          <a:p>
            <a:pPr>
              <a:buFont typeface="Wingdings" panose="05000000000000000000" pitchFamily="2" charset="2"/>
              <a:buChar char="Ø"/>
            </a:pPr>
            <a:r>
              <a:rPr lang="en-US" dirty="0"/>
              <a:t>engineering design, medical design, financial analysis</a:t>
            </a:r>
          </a:p>
        </p:txBody>
      </p:sp>
    </p:spTree>
    <p:extLst>
      <p:ext uri="{BB962C8B-B14F-4D97-AF65-F5344CB8AC3E}">
        <p14:creationId xmlns:p14="http://schemas.microsoft.com/office/powerpoint/2010/main" val="355129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a:t>
            </a:r>
            <a:br>
              <a:rPr lang="en-US" b="1" dirty="0"/>
            </a:br>
            <a:endParaRPr lang="en-US" dirty="0"/>
          </a:p>
        </p:txBody>
      </p:sp>
      <p:sp>
        <p:nvSpPr>
          <p:cNvPr id="3" name="Content Placeholder 2"/>
          <p:cNvSpPr>
            <a:spLocks noGrp="1"/>
          </p:cNvSpPr>
          <p:nvPr>
            <p:ph idx="1"/>
          </p:nvPr>
        </p:nvSpPr>
        <p:spPr>
          <a:xfrm>
            <a:off x="838200" y="1411941"/>
            <a:ext cx="10515600" cy="4948518"/>
          </a:xfrm>
        </p:spPr>
        <p:txBody>
          <a:bodyPr>
            <a:normAutofit/>
          </a:bodyPr>
          <a:lstStyle/>
          <a:p>
            <a:pPr marL="0" indent="0" algn="just">
              <a:buNone/>
            </a:pPr>
            <a:r>
              <a:rPr lang="en-US" dirty="0"/>
              <a:t>Based on the above definition of intelligence, `artificial intelligence' is the branch of the science and engineering necessary to create artifacts that can</a:t>
            </a:r>
          </a:p>
          <a:p>
            <a:pPr algn="just"/>
            <a:r>
              <a:rPr lang="en-US" b="1" dirty="0"/>
              <a:t>acquire knowledge</a:t>
            </a:r>
            <a:r>
              <a:rPr lang="en-US" dirty="0"/>
              <a:t>, i.e., can learn and extract knowledge; and</a:t>
            </a:r>
          </a:p>
          <a:p>
            <a:pPr algn="just"/>
            <a:r>
              <a:rPr lang="en-US" b="1" dirty="0"/>
              <a:t>reason with knowledge </a:t>
            </a:r>
            <a:r>
              <a:rPr lang="en-US" dirty="0"/>
              <a:t>(leading to doing tasks such as planning, explaining, diagnosing, acting rationally, etc.),</a:t>
            </a:r>
          </a:p>
          <a:p>
            <a:pPr algn="just"/>
            <a:r>
              <a:rPr lang="en-US" dirty="0"/>
              <a:t>it is the branch of science concerned with making computers behave like humans</a:t>
            </a:r>
          </a:p>
          <a:p>
            <a:pPr algn="just"/>
            <a:r>
              <a:rPr lang="en-US" dirty="0"/>
              <a:t>AI is the science of making intelligent machines, especially intelligent computer programs</a:t>
            </a:r>
          </a:p>
          <a:p>
            <a:pPr algn="just"/>
            <a:endParaRPr lang="en-US" dirty="0"/>
          </a:p>
          <a:p>
            <a:endParaRPr lang="en-US" dirty="0"/>
          </a:p>
        </p:txBody>
      </p:sp>
    </p:spTree>
    <p:extLst>
      <p:ext uri="{BB962C8B-B14F-4D97-AF65-F5344CB8AC3E}">
        <p14:creationId xmlns:p14="http://schemas.microsoft.com/office/powerpoint/2010/main" val="3588454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Intelligence</a:t>
            </a:r>
            <a:br>
              <a:rPr lang="en-US" dirty="0"/>
            </a:br>
            <a:endParaRPr lang="en-US" dirty="0"/>
          </a:p>
        </p:txBody>
      </p:sp>
      <p:sp>
        <p:nvSpPr>
          <p:cNvPr id="3" name="Content Placeholder 2"/>
          <p:cNvSpPr>
            <a:spLocks noGrp="1"/>
          </p:cNvSpPr>
          <p:nvPr>
            <p:ph idx="1"/>
          </p:nvPr>
        </p:nvSpPr>
        <p:spPr>
          <a:xfrm>
            <a:off x="838200" y="1290319"/>
            <a:ext cx="10515600" cy="5202555"/>
          </a:xfrm>
        </p:spPr>
        <p:txBody>
          <a:bodyPr>
            <a:normAutofit lnSpcReduction="10000"/>
          </a:bodyPr>
          <a:lstStyle/>
          <a:p>
            <a:pPr algn="just"/>
            <a:r>
              <a:rPr lang="en-US" dirty="0"/>
              <a:t>According to </a:t>
            </a:r>
            <a:r>
              <a:rPr lang="en-US" b="1" dirty="0"/>
              <a:t>Barr and Feigenbaum</a:t>
            </a:r>
            <a:r>
              <a:rPr lang="en-US" dirty="0"/>
              <a:t>, “Artificial Intelligence is the part of computer science concerned with designing intelligent computer systems, that is, systems that exhibit the characteristics we associate with intelligence in human behavior.”</a:t>
            </a:r>
          </a:p>
          <a:p>
            <a:pPr algn="just"/>
            <a:r>
              <a:rPr lang="en-US" dirty="0"/>
              <a:t>According to Elaine Rich, “AI is the study of how to make computers do things at which, at the moment, people are better”.</a:t>
            </a:r>
          </a:p>
          <a:p>
            <a:r>
              <a:rPr lang="en-US" dirty="0"/>
              <a:t>An</a:t>
            </a:r>
            <a:r>
              <a:rPr lang="en-US" b="1" dirty="0"/>
              <a:t> </a:t>
            </a:r>
            <a:r>
              <a:rPr lang="en-US" dirty="0"/>
              <a:t>AI System should have:</a:t>
            </a:r>
          </a:p>
          <a:p>
            <a:pPr>
              <a:buFont typeface="Wingdings" panose="05000000000000000000" pitchFamily="2" charset="2"/>
              <a:buChar char="Ø"/>
            </a:pPr>
            <a:r>
              <a:rPr lang="en-US" dirty="0"/>
              <a:t>Capability to provide reason about something</a:t>
            </a:r>
          </a:p>
          <a:p>
            <a:pPr>
              <a:buFont typeface="Wingdings" panose="05000000000000000000" pitchFamily="2" charset="2"/>
              <a:buChar char="Ø"/>
            </a:pPr>
            <a:r>
              <a:rPr lang="en-US" dirty="0"/>
              <a:t>Capability of Natural Language Processing</a:t>
            </a:r>
          </a:p>
          <a:p>
            <a:pPr>
              <a:buFont typeface="Wingdings" panose="05000000000000000000" pitchFamily="2" charset="2"/>
              <a:buChar char="Ø"/>
            </a:pPr>
            <a:r>
              <a:rPr lang="en-US" dirty="0"/>
              <a:t>Capability of learning from past experience</a:t>
            </a:r>
          </a:p>
          <a:p>
            <a:pPr>
              <a:buFont typeface="Wingdings" panose="05000000000000000000" pitchFamily="2" charset="2"/>
              <a:buChar char="Ø"/>
            </a:pPr>
            <a:r>
              <a:rPr lang="en-US" dirty="0"/>
              <a:t>Capability of self correction</a:t>
            </a:r>
            <a:br>
              <a:rPr lang="en-US" dirty="0"/>
            </a:br>
            <a:endParaRPr lang="en-US" dirty="0"/>
          </a:p>
          <a:p>
            <a:pPr algn="just"/>
            <a:endParaRPr lang="en-US" dirty="0"/>
          </a:p>
        </p:txBody>
      </p:sp>
    </p:spTree>
    <p:extLst>
      <p:ext uri="{BB962C8B-B14F-4D97-AF65-F5344CB8AC3E}">
        <p14:creationId xmlns:p14="http://schemas.microsoft.com/office/powerpoint/2010/main" val="2327698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of AI falls under four categories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3756" y="2232212"/>
            <a:ext cx="9764488" cy="3281081"/>
          </a:xfrm>
        </p:spPr>
      </p:pic>
    </p:spTree>
    <p:extLst>
      <p:ext uri="{BB962C8B-B14F-4D97-AF65-F5344CB8AC3E}">
        <p14:creationId xmlns:p14="http://schemas.microsoft.com/office/powerpoint/2010/main" val="1489235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9387" y="1169894"/>
            <a:ext cx="10570954" cy="4881282"/>
          </a:xfrm>
        </p:spPr>
      </p:pic>
    </p:spTree>
    <p:extLst>
      <p:ext uri="{BB962C8B-B14F-4D97-AF65-F5344CB8AC3E}">
        <p14:creationId xmlns:p14="http://schemas.microsoft.com/office/powerpoint/2010/main" val="3671085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Humanly: The Cognitive Modelling Approach</a:t>
            </a:r>
          </a:p>
        </p:txBody>
      </p:sp>
      <p:sp>
        <p:nvSpPr>
          <p:cNvPr id="3" name="Content Placeholder 2"/>
          <p:cNvSpPr>
            <a:spLocks noGrp="1"/>
          </p:cNvSpPr>
          <p:nvPr>
            <p:ph idx="1"/>
          </p:nvPr>
        </p:nvSpPr>
        <p:spPr>
          <a:xfrm>
            <a:off x="838200" y="1825624"/>
            <a:ext cx="10515600" cy="4747895"/>
          </a:xfrm>
        </p:spPr>
        <p:txBody>
          <a:bodyPr>
            <a:normAutofit fontScale="85000" lnSpcReduction="20000"/>
          </a:bodyPr>
          <a:lstStyle/>
          <a:p>
            <a:pPr algn="just"/>
            <a:r>
              <a:rPr lang="en-US" dirty="0"/>
              <a:t>If we are going to say that a given program thinks like a human, we must have some way of determining how human thinks.</a:t>
            </a:r>
          </a:p>
          <a:p>
            <a:pPr algn="just"/>
            <a:r>
              <a:rPr lang="en-US" dirty="0"/>
              <a:t>We need to get inside the actual working of human minds.</a:t>
            </a:r>
          </a:p>
          <a:p>
            <a:pPr algn="just"/>
            <a:r>
              <a:rPr lang="en-US" dirty="0"/>
              <a:t>Three ways of doing this is:</a:t>
            </a:r>
          </a:p>
          <a:p>
            <a:pPr algn="just">
              <a:buFont typeface="Wingdings" panose="05000000000000000000" pitchFamily="2" charset="2"/>
              <a:buChar char="Ø"/>
            </a:pPr>
            <a:r>
              <a:rPr lang="en-US" dirty="0"/>
              <a:t>Introspection=trying to catch our own thoughts as they go by; </a:t>
            </a:r>
          </a:p>
          <a:p>
            <a:pPr algn="just">
              <a:buFont typeface="Wingdings" panose="05000000000000000000" pitchFamily="2" charset="2"/>
              <a:buChar char="Ø"/>
            </a:pPr>
            <a:r>
              <a:rPr lang="en-US" dirty="0"/>
              <a:t>psychological experiments=observing a person in action; </a:t>
            </a:r>
          </a:p>
          <a:p>
            <a:pPr algn="just">
              <a:buFont typeface="Wingdings" panose="05000000000000000000" pitchFamily="2" charset="2"/>
              <a:buChar char="Ø"/>
            </a:pPr>
            <a:r>
              <a:rPr lang="en-US" dirty="0"/>
              <a:t>brain imaging=observing the brain in action</a:t>
            </a:r>
          </a:p>
          <a:p>
            <a:pPr algn="just"/>
            <a:r>
              <a:rPr lang="en-US" dirty="0"/>
              <a:t>Once we have a sufficiently precise theory of the mind, it becomes possible to express the theory as a computer program.</a:t>
            </a:r>
          </a:p>
          <a:p>
            <a:pPr algn="just"/>
            <a:r>
              <a:rPr lang="en-US" dirty="0"/>
              <a:t>If the program’s input/output and timing behavior matches human behavior, that is evidence that some of the program’s mechanisms may also be operating in humans.</a:t>
            </a:r>
          </a:p>
          <a:p>
            <a:pPr algn="just"/>
            <a:r>
              <a:rPr lang="en-US" dirty="0"/>
              <a:t>Activities that we associate with human thinking are decision-making, problem solving, learning, etc.</a:t>
            </a:r>
          </a:p>
          <a:p>
            <a:endParaRPr lang="en-US" dirty="0"/>
          </a:p>
        </p:txBody>
      </p:sp>
    </p:spTree>
    <p:extLst>
      <p:ext uri="{BB962C8B-B14F-4D97-AF65-F5344CB8AC3E}">
        <p14:creationId xmlns:p14="http://schemas.microsoft.com/office/powerpoint/2010/main" val="1764522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Acting Humanly: The Turing Test Approach</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t>The Turing test originally called the Imitation Game is a method for determining whether or not a computer is capable of thinking like a human. </a:t>
            </a:r>
          </a:p>
          <a:p>
            <a:pPr algn="just">
              <a:buFont typeface="Wingdings" panose="05000000000000000000" pitchFamily="2" charset="2"/>
              <a:buChar char="Ø"/>
            </a:pPr>
            <a:r>
              <a:rPr lang="en-US" dirty="0"/>
              <a:t>The test is named after Alan Turing, an English mathematician who pioneered artificial intelligence during the 1940s and 1950s, and who is credited with devising the original version of test.</a:t>
            </a:r>
          </a:p>
          <a:p>
            <a:pPr algn="just">
              <a:buFont typeface="Wingdings" panose="05000000000000000000" pitchFamily="2" charset="2"/>
              <a:buChar char="Ø"/>
            </a:pPr>
            <a:r>
              <a:rPr lang="en-US" dirty="0"/>
              <a:t>According to this kind of test, a computer is deemed to have artificial intelligence if it can mimic human responses under specific conditions.</a:t>
            </a:r>
          </a:p>
        </p:txBody>
      </p:sp>
    </p:spTree>
    <p:extLst>
      <p:ext uri="{BB962C8B-B14F-4D97-AF65-F5344CB8AC3E}">
        <p14:creationId xmlns:p14="http://schemas.microsoft.com/office/powerpoint/2010/main" val="4068482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Approach</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765" y="1690688"/>
            <a:ext cx="8222682" cy="4351338"/>
          </a:xfrm>
        </p:spPr>
      </p:pic>
    </p:spTree>
    <p:extLst>
      <p:ext uri="{BB962C8B-B14F-4D97-AF65-F5344CB8AC3E}">
        <p14:creationId xmlns:p14="http://schemas.microsoft.com/office/powerpoint/2010/main" val="1496185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Approach</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Consider the following scenario:</a:t>
            </a:r>
          </a:p>
          <a:p>
            <a:pPr algn="just">
              <a:buFont typeface="Wingdings" panose="05000000000000000000" pitchFamily="2" charset="2"/>
              <a:buChar char="Ø"/>
            </a:pPr>
            <a:r>
              <a:rPr lang="en-US" dirty="0"/>
              <a:t>There are two rooms, A and B. </a:t>
            </a:r>
          </a:p>
          <a:p>
            <a:pPr algn="just">
              <a:buFont typeface="Wingdings" panose="05000000000000000000" pitchFamily="2" charset="2"/>
              <a:buChar char="Ø"/>
            </a:pPr>
            <a:r>
              <a:rPr lang="en-US" dirty="0"/>
              <a:t>One of the rooms contain a computer. The other contains a human. </a:t>
            </a:r>
          </a:p>
          <a:p>
            <a:pPr algn="just">
              <a:buFont typeface="Wingdings" panose="05000000000000000000" pitchFamily="2" charset="2"/>
              <a:buChar char="Ø"/>
            </a:pPr>
            <a:r>
              <a:rPr lang="en-US" dirty="0"/>
              <a:t>The interrogator is outside and does not know which one is a computer. </a:t>
            </a:r>
          </a:p>
          <a:p>
            <a:pPr algn="just">
              <a:buFont typeface="Wingdings" panose="05000000000000000000" pitchFamily="2" charset="2"/>
              <a:buChar char="Ø"/>
            </a:pPr>
            <a:r>
              <a:rPr lang="en-US" dirty="0"/>
              <a:t>He can ask questions through a teletype and receives answers from both A and B. </a:t>
            </a:r>
          </a:p>
          <a:p>
            <a:pPr algn="just">
              <a:buFont typeface="Wingdings" panose="05000000000000000000" pitchFamily="2" charset="2"/>
              <a:buChar char="Ø"/>
            </a:pPr>
            <a:r>
              <a:rPr lang="en-US" dirty="0"/>
              <a:t>The interrogator needs to identify whether A or B are humans. </a:t>
            </a:r>
          </a:p>
          <a:p>
            <a:pPr algn="just">
              <a:buFont typeface="Wingdings" panose="05000000000000000000" pitchFamily="2" charset="2"/>
              <a:buChar char="Ø"/>
            </a:pPr>
            <a:r>
              <a:rPr lang="en-US" dirty="0"/>
              <a:t>To pass the Turing test, the machine has to fool the interrogator into believing that it is human.</a:t>
            </a:r>
          </a:p>
          <a:p>
            <a:pPr algn="just">
              <a:buFont typeface="Wingdings" panose="05000000000000000000" pitchFamily="2" charset="2"/>
              <a:buChar char="Ø"/>
            </a:pPr>
            <a:r>
              <a:rPr lang="en-US" dirty="0"/>
              <a:t>The unofficial “Total Turing Test” adds that the interrogation should also involve visual activity and physical interaction.</a:t>
            </a:r>
          </a:p>
        </p:txBody>
      </p:sp>
    </p:spTree>
    <p:extLst>
      <p:ext uri="{BB962C8B-B14F-4D97-AF65-F5344CB8AC3E}">
        <p14:creationId xmlns:p14="http://schemas.microsoft.com/office/powerpoint/2010/main" val="3376161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00EC-F350-49FF-7652-1669B7214E58}"/>
              </a:ext>
            </a:extLst>
          </p:cNvPr>
          <p:cNvSpPr>
            <a:spLocks noGrp="1"/>
          </p:cNvSpPr>
          <p:nvPr>
            <p:ph type="title"/>
          </p:nvPr>
        </p:nvSpPr>
        <p:spPr>
          <a:xfrm>
            <a:off x="838200" y="365125"/>
            <a:ext cx="10515600" cy="610235"/>
          </a:xfrm>
        </p:spPr>
        <p:txBody>
          <a:bodyPr>
            <a:normAutofit fontScale="90000"/>
          </a:bodyPr>
          <a:lstStyle/>
          <a:p>
            <a:r>
              <a:rPr lang="en-US" dirty="0"/>
              <a:t>The Turing Test Approach</a:t>
            </a:r>
          </a:p>
        </p:txBody>
      </p:sp>
      <p:sp>
        <p:nvSpPr>
          <p:cNvPr id="3" name="Content Placeholder 2">
            <a:extLst>
              <a:ext uri="{FF2B5EF4-FFF2-40B4-BE49-F238E27FC236}">
                <a16:creationId xmlns:a16="http://schemas.microsoft.com/office/drawing/2014/main" id="{CF2852FD-D9AB-C299-895F-B7F13B9036DB}"/>
              </a:ext>
            </a:extLst>
          </p:cNvPr>
          <p:cNvSpPr>
            <a:spLocks noGrp="1"/>
          </p:cNvSpPr>
          <p:nvPr>
            <p:ph idx="1"/>
          </p:nvPr>
        </p:nvSpPr>
        <p:spPr>
          <a:xfrm>
            <a:off x="838200" y="1198880"/>
            <a:ext cx="10515600" cy="5445760"/>
          </a:xfrm>
        </p:spPr>
        <p:txBody>
          <a:bodyPr>
            <a:normAutofit fontScale="92500" lnSpcReduction="10000"/>
          </a:bodyPr>
          <a:lstStyle/>
          <a:p>
            <a:r>
              <a:rPr lang="en-US" dirty="0"/>
              <a:t>Few examples are:</a:t>
            </a:r>
          </a:p>
          <a:p>
            <a:pPr marL="0" indent="0" algn="just">
              <a:buNone/>
            </a:pPr>
            <a:r>
              <a:rPr lang="en-US" sz="2400" dirty="0"/>
              <a:t>1. ELIZA (1966)</a:t>
            </a:r>
          </a:p>
          <a:p>
            <a:pPr algn="just">
              <a:buFont typeface="Wingdings" panose="05000000000000000000" pitchFamily="2" charset="2"/>
              <a:buChar char="Ø"/>
            </a:pPr>
            <a:r>
              <a:rPr lang="en-US" sz="2400" dirty="0"/>
              <a:t>computer programs that could have a conversation with people made by Joseph </a:t>
            </a:r>
            <a:r>
              <a:rPr lang="en-US" sz="2400" dirty="0" err="1"/>
              <a:t>Weizenbaum</a:t>
            </a:r>
            <a:r>
              <a:rPr lang="en-US" sz="2400" dirty="0"/>
              <a:t>.</a:t>
            </a:r>
          </a:p>
          <a:p>
            <a:pPr algn="just">
              <a:buFont typeface="Wingdings" panose="05000000000000000000" pitchFamily="2" charset="2"/>
              <a:buChar char="Ø"/>
            </a:pPr>
            <a:r>
              <a:rPr lang="en-US" sz="2400" dirty="0"/>
              <a:t>worked by finding patterns in what you said and giving a response that sounded like it understood you. </a:t>
            </a:r>
          </a:p>
          <a:p>
            <a:pPr algn="just">
              <a:buFont typeface="Wingdings" panose="05000000000000000000" pitchFamily="2" charset="2"/>
              <a:buChar char="Ø"/>
            </a:pPr>
            <a:r>
              <a:rPr lang="en-US" sz="2400" dirty="0"/>
              <a:t>really good at making people think it knew what they were talking about especially when it was pretending to be a therapist. </a:t>
            </a:r>
          </a:p>
          <a:p>
            <a:pPr algn="just">
              <a:buFont typeface="Wingdings" panose="05000000000000000000" pitchFamily="2" charset="2"/>
              <a:buChar char="Ø"/>
            </a:pPr>
            <a:r>
              <a:rPr lang="en-US" sz="2400" dirty="0"/>
              <a:t>did not really understand what people were saying &amp; could only have conversations and did not know what the conversations were actually, about. </a:t>
            </a:r>
          </a:p>
          <a:p>
            <a:pPr marL="0" indent="0" fontAlgn="base">
              <a:buNone/>
            </a:pPr>
            <a:r>
              <a:rPr lang="en-US" sz="2600" dirty="0"/>
              <a:t>2. </a:t>
            </a:r>
            <a:r>
              <a:rPr lang="en-US" sz="2600" dirty="0" err="1"/>
              <a:t>Mitsuku</a:t>
            </a:r>
            <a:r>
              <a:rPr lang="en-US" sz="2600" dirty="0"/>
              <a:t> (Kuki) (2005 - Present)</a:t>
            </a:r>
          </a:p>
          <a:p>
            <a:pPr algn="just" fontAlgn="base">
              <a:buFont typeface="Wingdings" panose="05000000000000000000" pitchFamily="2" charset="2"/>
              <a:buChar char="Ø"/>
            </a:pPr>
            <a:r>
              <a:rPr lang="en-US" sz="2600" dirty="0" err="1"/>
              <a:t>Mitsuku</a:t>
            </a:r>
            <a:r>
              <a:rPr lang="en-US" sz="2600" dirty="0"/>
              <a:t>, also known as Kuki, is a chatbot developed by Steve Worswick. </a:t>
            </a:r>
          </a:p>
          <a:p>
            <a:pPr algn="just" fontAlgn="base">
              <a:buFont typeface="Wingdings" panose="05000000000000000000" pitchFamily="2" charset="2"/>
              <a:buChar char="Ø"/>
            </a:pPr>
            <a:r>
              <a:rPr lang="en-US" sz="2600" dirty="0"/>
              <a:t>known for its vast database of conversational knowledge and its ability to engage in lengthy, coherent dialogues. </a:t>
            </a:r>
          </a:p>
          <a:p>
            <a:pPr algn="just">
              <a:buFont typeface="Wingdings" panose="05000000000000000000" pitchFamily="2" charset="2"/>
              <a:buChar char="Ø"/>
            </a:pPr>
            <a:endParaRPr lang="en-US" sz="2600" dirty="0"/>
          </a:p>
        </p:txBody>
      </p:sp>
    </p:spTree>
    <p:extLst>
      <p:ext uri="{BB962C8B-B14F-4D97-AF65-F5344CB8AC3E}">
        <p14:creationId xmlns:p14="http://schemas.microsoft.com/office/powerpoint/2010/main" val="1789672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E62D5-05AE-4C6C-F111-8FF670B4BF28}"/>
              </a:ext>
            </a:extLst>
          </p:cNvPr>
          <p:cNvSpPr>
            <a:spLocks noGrp="1"/>
          </p:cNvSpPr>
          <p:nvPr>
            <p:ph type="title"/>
          </p:nvPr>
        </p:nvSpPr>
        <p:spPr>
          <a:xfrm>
            <a:off x="838200" y="365125"/>
            <a:ext cx="10515600" cy="589915"/>
          </a:xfrm>
        </p:spPr>
        <p:txBody>
          <a:bodyPr>
            <a:normAutofit fontScale="90000"/>
          </a:bodyPr>
          <a:lstStyle/>
          <a:p>
            <a:r>
              <a:rPr lang="en-US" dirty="0"/>
              <a:t>The Turing Test Approach</a:t>
            </a:r>
          </a:p>
        </p:txBody>
      </p:sp>
      <p:sp>
        <p:nvSpPr>
          <p:cNvPr id="3" name="Content Placeholder 2">
            <a:extLst>
              <a:ext uri="{FF2B5EF4-FFF2-40B4-BE49-F238E27FC236}">
                <a16:creationId xmlns:a16="http://schemas.microsoft.com/office/drawing/2014/main" id="{5D843725-9D84-E0A9-7204-F4634C81D5C6}"/>
              </a:ext>
            </a:extLst>
          </p:cNvPr>
          <p:cNvSpPr>
            <a:spLocks noGrp="1"/>
          </p:cNvSpPr>
          <p:nvPr>
            <p:ph idx="1"/>
          </p:nvPr>
        </p:nvSpPr>
        <p:spPr>
          <a:xfrm>
            <a:off x="838200" y="1108074"/>
            <a:ext cx="10515600" cy="5628005"/>
          </a:xfrm>
        </p:spPr>
        <p:txBody>
          <a:bodyPr>
            <a:normAutofit lnSpcReduction="10000"/>
          </a:bodyPr>
          <a:lstStyle/>
          <a:p>
            <a:pPr marL="0" indent="0" algn="just">
              <a:buNone/>
            </a:pPr>
            <a:r>
              <a:rPr lang="en-US" b="0" i="0" dirty="0">
                <a:solidFill>
                  <a:srgbClr val="111111"/>
                </a:solidFill>
                <a:effectLst/>
                <a:highlight>
                  <a:srgbClr val="FFFFFF"/>
                </a:highlight>
                <a:latin typeface="SourceSansPro"/>
              </a:rPr>
              <a:t>Turing test are continually evolving to maintain relevance during technological advancements.</a:t>
            </a:r>
          </a:p>
          <a:p>
            <a:pPr marL="0" indent="0" algn="just">
              <a:buNone/>
            </a:pPr>
            <a:r>
              <a:rPr lang="en-US" i="0" dirty="0">
                <a:solidFill>
                  <a:srgbClr val="111111"/>
                </a:solidFill>
                <a:effectLst/>
                <a:highlight>
                  <a:srgbClr val="FFFFFF"/>
                </a:highlight>
                <a:latin typeface="Cabin-semi-bold"/>
              </a:rPr>
              <a:t>1. The Reverse Turing Test</a:t>
            </a:r>
            <a:r>
              <a:rPr lang="en-US" i="0" dirty="0">
                <a:solidFill>
                  <a:srgbClr val="111111"/>
                </a:solidFill>
                <a:effectLst/>
                <a:highlight>
                  <a:srgbClr val="FFFFFF"/>
                </a:highlight>
                <a:latin typeface="SourceSansPro"/>
              </a:rPr>
              <a:t> </a:t>
            </a:r>
            <a:r>
              <a:rPr lang="en-US" b="0" i="0" dirty="0">
                <a:solidFill>
                  <a:srgbClr val="111111"/>
                </a:solidFill>
                <a:effectLst/>
                <a:highlight>
                  <a:srgbClr val="FFFFFF"/>
                </a:highlight>
                <a:latin typeface="SourceSansPro"/>
              </a:rPr>
              <a:t>aims to have a human trick a computer into having the computer believe it is not interrogating a human.</a:t>
            </a:r>
          </a:p>
          <a:p>
            <a:pPr algn="just"/>
            <a:r>
              <a:rPr lang="en-US" dirty="0">
                <a:highlight>
                  <a:srgbClr val="FFFFFF"/>
                </a:highlight>
              </a:rPr>
              <a:t>In a Reverse Turing Test, a human must prove they are not a machine.</a:t>
            </a:r>
          </a:p>
          <a:p>
            <a:pPr algn="just"/>
            <a:r>
              <a:rPr lang="en-US" b="0" i="0" dirty="0">
                <a:solidFill>
                  <a:srgbClr val="111111"/>
                </a:solidFill>
                <a:effectLst/>
                <a:highlight>
                  <a:srgbClr val="FFFFFF"/>
                </a:highlight>
                <a:latin typeface="SourceSansPro"/>
              </a:rPr>
              <a:t>Examples:</a:t>
            </a:r>
          </a:p>
          <a:p>
            <a:pPr marL="0" indent="0" algn="just">
              <a:buNone/>
            </a:pPr>
            <a:r>
              <a:rPr lang="en-US" dirty="0">
                <a:highlight>
                  <a:srgbClr val="FFFFFF"/>
                </a:highlight>
              </a:rPr>
              <a:t>1.  CAPTCHAs</a:t>
            </a:r>
            <a:r>
              <a:rPr lang="en-US" b="1" dirty="0">
                <a:highlight>
                  <a:srgbClr val="FFFFFF"/>
                </a:highlight>
              </a:rPr>
              <a:t>: </a:t>
            </a:r>
            <a:r>
              <a:rPr lang="en-US" dirty="0">
                <a:highlight>
                  <a:srgbClr val="FFFFFF"/>
                </a:highlight>
              </a:rPr>
              <a:t>The little puzzles like: “Select all crosswalks”, “Type the distorted letters”, “Solve this simple math puzzle”</a:t>
            </a:r>
          </a:p>
          <a:p>
            <a:pPr marL="0" indent="0" algn="just">
              <a:buNone/>
            </a:pPr>
            <a:r>
              <a:rPr lang="en-US" dirty="0">
                <a:highlight>
                  <a:srgbClr val="FFFFFF"/>
                </a:highlight>
              </a:rPr>
              <a:t>2.  Behavior-based Detection</a:t>
            </a:r>
            <a:r>
              <a:rPr lang="en-US" b="1" dirty="0">
                <a:highlight>
                  <a:srgbClr val="FFFFFF"/>
                </a:highlight>
              </a:rPr>
              <a:t>: </a:t>
            </a:r>
            <a:r>
              <a:rPr lang="en-US" dirty="0">
                <a:highlight>
                  <a:srgbClr val="FFFFFF"/>
                </a:highlight>
              </a:rPr>
              <a:t>Some systems analyze mouse movement, typing cadence and reaction time, to determine whether a real human is interacting.</a:t>
            </a:r>
          </a:p>
          <a:p>
            <a:pPr marL="0" indent="0" algn="just">
              <a:buNone/>
            </a:pPr>
            <a:r>
              <a:rPr lang="en-US" dirty="0">
                <a:highlight>
                  <a:srgbClr val="FFFFFF"/>
                </a:highlight>
              </a:rPr>
              <a:t>3. Human Verification Prompts</a:t>
            </a:r>
            <a:r>
              <a:rPr lang="en-US" b="1" dirty="0">
                <a:highlight>
                  <a:srgbClr val="FFFFFF"/>
                </a:highlight>
              </a:rPr>
              <a:t>: </a:t>
            </a:r>
            <a:r>
              <a:rPr lang="en-US" dirty="0">
                <a:highlight>
                  <a:srgbClr val="FFFFFF"/>
                </a:highlight>
              </a:rPr>
              <a:t>When websites ask “Are you a robot?” and require a checkbox or puzzle, that’s a reverse Turing test.</a:t>
            </a:r>
          </a:p>
          <a:p>
            <a:pPr algn="just"/>
            <a:endParaRPr lang="en-US" dirty="0"/>
          </a:p>
        </p:txBody>
      </p:sp>
    </p:spTree>
    <p:extLst>
      <p:ext uri="{BB962C8B-B14F-4D97-AF65-F5344CB8AC3E}">
        <p14:creationId xmlns:p14="http://schemas.microsoft.com/office/powerpoint/2010/main" val="1600340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648B7-5310-A4B3-4CA7-F80AF4CCC2D4}"/>
              </a:ext>
            </a:extLst>
          </p:cNvPr>
          <p:cNvSpPr>
            <a:spLocks noGrp="1"/>
          </p:cNvSpPr>
          <p:nvPr>
            <p:ph type="title"/>
          </p:nvPr>
        </p:nvSpPr>
        <p:spPr/>
        <p:txBody>
          <a:bodyPr/>
          <a:lstStyle/>
          <a:p>
            <a:r>
              <a:rPr lang="en-US" altLang="en-US" dirty="0"/>
              <a:t>Turing Test vs Reverse Turing Test</a:t>
            </a:r>
            <a:endParaRPr lang="en-US" dirty="0"/>
          </a:p>
        </p:txBody>
      </p:sp>
      <p:graphicFrame>
        <p:nvGraphicFramePr>
          <p:cNvPr id="4" name="Content Placeholder 3">
            <a:extLst>
              <a:ext uri="{FF2B5EF4-FFF2-40B4-BE49-F238E27FC236}">
                <a16:creationId xmlns:a16="http://schemas.microsoft.com/office/drawing/2014/main" id="{7DD5580B-CF8E-2A67-731D-83D48CE0C012}"/>
              </a:ext>
            </a:extLst>
          </p:cNvPr>
          <p:cNvGraphicFramePr>
            <a:graphicFrameLocks noGrp="1"/>
          </p:cNvGraphicFramePr>
          <p:nvPr>
            <p:ph idx="1"/>
            <p:extLst>
              <p:ext uri="{D42A27DB-BD31-4B8C-83A1-F6EECF244321}">
                <p14:modId xmlns:p14="http://schemas.microsoft.com/office/powerpoint/2010/main" val="1061540636"/>
              </p:ext>
            </p:extLst>
          </p:nvPr>
        </p:nvGraphicFramePr>
        <p:xfrm>
          <a:off x="838200" y="1690688"/>
          <a:ext cx="10515600" cy="404685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6443633"/>
                    </a:ext>
                  </a:extLst>
                </a:gridCol>
                <a:gridCol w="5257800">
                  <a:extLst>
                    <a:ext uri="{9D8B030D-6E8A-4147-A177-3AD203B41FA5}">
                      <a16:colId xmlns:a16="http://schemas.microsoft.com/office/drawing/2014/main" val="1859024623"/>
                    </a:ext>
                  </a:extLst>
                </a:gridCol>
              </a:tblGrid>
              <a:tr h="523795">
                <a:tc>
                  <a:txBody>
                    <a:bodyPr/>
                    <a:lstStyle/>
                    <a:p>
                      <a:pPr algn="ctr"/>
                      <a:r>
                        <a:rPr lang="en-US" dirty="0"/>
                        <a:t>Turing Test</a:t>
                      </a:r>
                    </a:p>
                  </a:txBody>
                  <a:tcPr/>
                </a:tc>
                <a:tc>
                  <a:txBody>
                    <a:bodyPr/>
                    <a:lstStyle/>
                    <a:p>
                      <a:pPr algn="ctr"/>
                      <a:r>
                        <a:rPr lang="en-US" dirty="0"/>
                        <a:t>Reverse Turing Test</a:t>
                      </a:r>
                    </a:p>
                  </a:txBody>
                  <a:tcPr/>
                </a:tc>
                <a:extLst>
                  <a:ext uri="{0D108BD9-81ED-4DB2-BD59-A6C34878D82A}">
                    <a16:rowId xmlns:a16="http://schemas.microsoft.com/office/drawing/2014/main" val="902342569"/>
                  </a:ext>
                </a:extLst>
              </a:tr>
              <a:tr h="523795">
                <a:tc>
                  <a:txBody>
                    <a:bodyPr/>
                    <a:lstStyle/>
                    <a:p>
                      <a:r>
                        <a:rPr lang="en-US" dirty="0"/>
                        <a:t>Machine is tested.</a:t>
                      </a:r>
                    </a:p>
                  </a:txBody>
                  <a:tcPr/>
                </a:tc>
                <a:tc>
                  <a:txBody>
                    <a:bodyPr/>
                    <a:lstStyle/>
                    <a:p>
                      <a:r>
                        <a:rPr lang="en-US" dirty="0"/>
                        <a:t>Human is tested.</a:t>
                      </a:r>
                    </a:p>
                  </a:txBody>
                  <a:tcPr/>
                </a:tc>
                <a:extLst>
                  <a:ext uri="{0D108BD9-81ED-4DB2-BD59-A6C34878D82A}">
                    <a16:rowId xmlns:a16="http://schemas.microsoft.com/office/drawing/2014/main" val="2442967599"/>
                  </a:ext>
                </a:extLst>
              </a:tr>
              <a:tr h="523795">
                <a:tc>
                  <a:txBody>
                    <a:bodyPr/>
                    <a:lstStyle/>
                    <a:p>
                      <a:r>
                        <a:rPr lang="en-US" dirty="0"/>
                        <a:t>Human is the interrogator or evaluator.</a:t>
                      </a:r>
                    </a:p>
                  </a:txBody>
                  <a:tcPr/>
                </a:tc>
                <a:tc>
                  <a:txBody>
                    <a:bodyPr/>
                    <a:lstStyle/>
                    <a:p>
                      <a:r>
                        <a:rPr lang="en-US" dirty="0"/>
                        <a:t>Machine is the interrogator or evaluator.</a:t>
                      </a:r>
                    </a:p>
                  </a:txBody>
                  <a:tcPr/>
                </a:tc>
                <a:extLst>
                  <a:ext uri="{0D108BD9-81ED-4DB2-BD59-A6C34878D82A}">
                    <a16:rowId xmlns:a16="http://schemas.microsoft.com/office/drawing/2014/main" val="4069737467"/>
                  </a:ext>
                </a:extLst>
              </a:tr>
              <a:tr h="523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Evaluate if a machine can act like a human.</a:t>
                      </a:r>
                    </a:p>
                  </a:txBody>
                  <a:tcPr/>
                </a:tc>
                <a:tc>
                  <a:txBody>
                    <a:bodyPr/>
                    <a:lstStyle/>
                    <a:p>
                      <a:r>
                        <a:rPr lang="en-US" dirty="0"/>
                        <a:t>Verify if the user is human.</a:t>
                      </a:r>
                    </a:p>
                  </a:txBody>
                  <a:tcPr/>
                </a:tc>
                <a:extLst>
                  <a:ext uri="{0D108BD9-81ED-4DB2-BD59-A6C34878D82A}">
                    <a16:rowId xmlns:a16="http://schemas.microsoft.com/office/drawing/2014/main" val="2262650158"/>
                  </a:ext>
                </a:extLst>
              </a:tr>
              <a:tr h="523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AI passes if it fools the human.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Human passes if they prove they’re not a bot.</a:t>
                      </a:r>
                    </a:p>
                  </a:txBody>
                  <a:tcPr/>
                </a:tc>
                <a:extLst>
                  <a:ext uri="{0D108BD9-81ED-4DB2-BD59-A6C34878D82A}">
                    <a16:rowId xmlns:a16="http://schemas.microsoft.com/office/drawing/2014/main" val="3230792179"/>
                  </a:ext>
                </a:extLst>
              </a:tr>
              <a:tr h="9040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Extensively used in the field of AI research, cognitive science.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Used in Cybersecurity, anti-spam, fraud prevention.</a:t>
                      </a:r>
                    </a:p>
                  </a:txBody>
                  <a:tcPr/>
                </a:tc>
                <a:extLst>
                  <a:ext uri="{0D108BD9-81ED-4DB2-BD59-A6C34878D82A}">
                    <a16:rowId xmlns:a16="http://schemas.microsoft.com/office/drawing/2014/main" val="1867869189"/>
                  </a:ext>
                </a:extLst>
              </a:tr>
              <a:tr h="523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Examples: Chatbots, AI conversation tests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CAPTCHAs, “I’m not a robot” checks.</a:t>
                      </a:r>
                    </a:p>
                  </a:txBody>
                  <a:tcPr/>
                </a:tc>
                <a:extLst>
                  <a:ext uri="{0D108BD9-81ED-4DB2-BD59-A6C34878D82A}">
                    <a16:rowId xmlns:a16="http://schemas.microsoft.com/office/drawing/2014/main" val="1123538903"/>
                  </a:ext>
                </a:extLst>
              </a:tr>
            </a:tbl>
          </a:graphicData>
        </a:graphic>
      </p:graphicFrame>
    </p:spTree>
    <p:extLst>
      <p:ext uri="{BB962C8B-B14F-4D97-AF65-F5344CB8AC3E}">
        <p14:creationId xmlns:p14="http://schemas.microsoft.com/office/powerpoint/2010/main" val="3497364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EC32A-1D66-C51F-553B-47CA8B40A9D3}"/>
              </a:ext>
            </a:extLst>
          </p:cNvPr>
          <p:cNvSpPr>
            <a:spLocks noGrp="1"/>
          </p:cNvSpPr>
          <p:nvPr>
            <p:ph type="title"/>
          </p:nvPr>
        </p:nvSpPr>
        <p:spPr>
          <a:xfrm>
            <a:off x="838200" y="365125"/>
            <a:ext cx="10515600" cy="671195"/>
          </a:xfrm>
        </p:spPr>
        <p:txBody>
          <a:bodyPr>
            <a:normAutofit fontScale="90000"/>
          </a:bodyPr>
          <a:lstStyle/>
          <a:p>
            <a:r>
              <a:rPr lang="en-US" dirty="0"/>
              <a:t>The Turing Test Approach</a:t>
            </a:r>
          </a:p>
        </p:txBody>
      </p:sp>
      <p:sp>
        <p:nvSpPr>
          <p:cNvPr id="3" name="Content Placeholder 2">
            <a:extLst>
              <a:ext uri="{FF2B5EF4-FFF2-40B4-BE49-F238E27FC236}">
                <a16:creationId xmlns:a16="http://schemas.microsoft.com/office/drawing/2014/main" id="{CC4CFDAF-EA2C-F01D-788D-DDAA97C044E2}"/>
              </a:ext>
            </a:extLst>
          </p:cNvPr>
          <p:cNvSpPr>
            <a:spLocks noGrp="1"/>
          </p:cNvSpPr>
          <p:nvPr>
            <p:ph idx="1"/>
          </p:nvPr>
        </p:nvSpPr>
        <p:spPr>
          <a:xfrm>
            <a:off x="838200" y="1117600"/>
            <a:ext cx="10515600" cy="5506719"/>
          </a:xfrm>
        </p:spPr>
        <p:txBody>
          <a:bodyPr>
            <a:normAutofit fontScale="77500" lnSpcReduction="20000"/>
          </a:bodyPr>
          <a:lstStyle/>
          <a:p>
            <a:pPr marL="0" indent="0" algn="just">
              <a:buNone/>
            </a:pPr>
            <a:r>
              <a:rPr lang="en-US" dirty="0">
                <a:solidFill>
                  <a:srgbClr val="111111"/>
                </a:solidFill>
                <a:highlight>
                  <a:srgbClr val="FFFFFF"/>
                </a:highlight>
                <a:latin typeface="Cabin-semi-bold"/>
              </a:rPr>
              <a:t>2. The Total Turing Test</a:t>
            </a:r>
            <a:r>
              <a:rPr lang="en-US" dirty="0">
                <a:solidFill>
                  <a:srgbClr val="111111"/>
                </a:solidFill>
                <a:highlight>
                  <a:srgbClr val="FFFFFF"/>
                </a:highlight>
                <a:latin typeface="SourceSansPro"/>
              </a:rPr>
              <a:t> </a:t>
            </a:r>
          </a:p>
          <a:p>
            <a:pPr algn="just"/>
            <a:r>
              <a:rPr lang="en-US" dirty="0">
                <a:solidFill>
                  <a:srgbClr val="111111"/>
                </a:solidFill>
                <a:highlight>
                  <a:srgbClr val="FFFFFF"/>
                </a:highlight>
                <a:latin typeface="SourceSansPro"/>
              </a:rPr>
              <a:t>incorporates perceptual abilities and the person being question's ability to manipulate objects.</a:t>
            </a:r>
          </a:p>
          <a:p>
            <a:pPr algn="just"/>
            <a:r>
              <a:rPr lang="en-US" dirty="0"/>
              <a:t>It extends the classic Turing Test by requiring a machine to imitate not only human conversation, but also human perception and physical interaction.</a:t>
            </a:r>
          </a:p>
          <a:p>
            <a:r>
              <a:rPr lang="en-US" dirty="0"/>
              <a:t>The Total Turing Test evaluates whether a machine can:</a:t>
            </a:r>
          </a:p>
          <a:p>
            <a:pPr marL="0" indent="0" algn="just">
              <a:buNone/>
            </a:pPr>
            <a:r>
              <a:rPr lang="en-US" dirty="0"/>
              <a:t>1. Perceive the world i.e.  Identify visual objects, Recognize faces, Understand spoken language, Interpret sounds</a:t>
            </a:r>
          </a:p>
          <a:p>
            <a:pPr marL="0" indent="0" algn="just">
              <a:buNone/>
            </a:pPr>
            <a:r>
              <a:rPr lang="en-US" dirty="0"/>
              <a:t>2. Interact physically i.e. Manipulate objects, Perform motor tasks, Show human-like actions</a:t>
            </a:r>
          </a:p>
          <a:p>
            <a:pPr marL="0" indent="0" algn="just">
              <a:buNone/>
            </a:pPr>
            <a:r>
              <a:rPr lang="en-US" dirty="0"/>
              <a:t>3. Use knowledge &amp; reasoning i.e. Combine sensory input with cognition, Respond naturally like a human.</a:t>
            </a:r>
          </a:p>
          <a:p>
            <a:pPr algn="just"/>
            <a:r>
              <a:rPr lang="en-US" dirty="0"/>
              <a:t>To pass the total Turing Test, the computer will need </a:t>
            </a:r>
          </a:p>
          <a:p>
            <a:pPr algn="just">
              <a:buFont typeface="Wingdings" panose="05000000000000000000" pitchFamily="2" charset="2"/>
              <a:buChar char="Ø"/>
            </a:pPr>
            <a:r>
              <a:rPr lang="en-US" dirty="0"/>
              <a:t> computer vision to perceive objects, and </a:t>
            </a:r>
          </a:p>
          <a:p>
            <a:pPr algn="just">
              <a:buFont typeface="Wingdings" panose="05000000000000000000" pitchFamily="2" charset="2"/>
              <a:buChar char="Ø"/>
            </a:pPr>
            <a:r>
              <a:rPr lang="en-US" dirty="0"/>
              <a:t>robotics to move them about </a:t>
            </a:r>
          </a:p>
          <a:p>
            <a:pPr algn="just"/>
            <a:r>
              <a:rPr lang="en-US" dirty="0"/>
              <a:t>The Total Turing Test pushes AI toward: Robotics, Autonomous agents, Human-like perception, Cognitive reasoning</a:t>
            </a:r>
          </a:p>
          <a:p>
            <a:pPr algn="just"/>
            <a:endParaRPr lang="en-US" dirty="0"/>
          </a:p>
          <a:p>
            <a:pPr algn="just"/>
            <a:endParaRPr lang="en-US" dirty="0">
              <a:solidFill>
                <a:srgbClr val="111111"/>
              </a:solidFill>
              <a:highlight>
                <a:srgbClr val="FFFFFF"/>
              </a:highlight>
              <a:latin typeface="SourceSansPro"/>
            </a:endParaRPr>
          </a:p>
          <a:p>
            <a:endParaRPr lang="en-US" dirty="0"/>
          </a:p>
        </p:txBody>
      </p:sp>
    </p:spTree>
    <p:extLst>
      <p:ext uri="{BB962C8B-B14F-4D97-AF65-F5344CB8AC3E}">
        <p14:creationId xmlns:p14="http://schemas.microsoft.com/office/powerpoint/2010/main" val="2497378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994E-1FB7-2A86-6BCE-5CB65479AEA6}"/>
              </a:ext>
            </a:extLst>
          </p:cNvPr>
          <p:cNvSpPr>
            <a:spLocks noGrp="1"/>
          </p:cNvSpPr>
          <p:nvPr>
            <p:ph type="title"/>
          </p:nvPr>
        </p:nvSpPr>
        <p:spPr/>
        <p:txBody>
          <a:bodyPr/>
          <a:lstStyle/>
          <a:p>
            <a:r>
              <a:rPr lang="en-US" dirty="0">
                <a:solidFill>
                  <a:srgbClr val="111111"/>
                </a:solidFill>
                <a:highlight>
                  <a:srgbClr val="FFFFFF"/>
                </a:highlight>
              </a:rPr>
              <a:t>Turing Test Vs Total Turing Test</a:t>
            </a:r>
            <a:endParaRPr lang="en-US" dirty="0"/>
          </a:p>
        </p:txBody>
      </p:sp>
      <p:graphicFrame>
        <p:nvGraphicFramePr>
          <p:cNvPr id="4" name="Content Placeholder 3">
            <a:extLst>
              <a:ext uri="{FF2B5EF4-FFF2-40B4-BE49-F238E27FC236}">
                <a16:creationId xmlns:a16="http://schemas.microsoft.com/office/drawing/2014/main" id="{85740FCF-883F-7172-CDAA-FA51C621E097}"/>
              </a:ext>
            </a:extLst>
          </p:cNvPr>
          <p:cNvGraphicFramePr>
            <a:graphicFrameLocks noGrp="1"/>
          </p:cNvGraphicFramePr>
          <p:nvPr>
            <p:ph idx="1"/>
            <p:extLst>
              <p:ext uri="{D42A27DB-BD31-4B8C-83A1-F6EECF244321}">
                <p14:modId xmlns:p14="http://schemas.microsoft.com/office/powerpoint/2010/main" val="1369701418"/>
              </p:ext>
            </p:extLst>
          </p:nvPr>
        </p:nvGraphicFramePr>
        <p:xfrm>
          <a:off x="838200" y="1825624"/>
          <a:ext cx="10515600" cy="393509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88778079"/>
                    </a:ext>
                  </a:extLst>
                </a:gridCol>
                <a:gridCol w="5257800">
                  <a:extLst>
                    <a:ext uri="{9D8B030D-6E8A-4147-A177-3AD203B41FA5}">
                      <a16:colId xmlns:a16="http://schemas.microsoft.com/office/drawing/2014/main" val="1983199361"/>
                    </a:ext>
                  </a:extLst>
                </a:gridCol>
              </a:tblGrid>
              <a:tr h="609898">
                <a:tc>
                  <a:txBody>
                    <a:bodyPr/>
                    <a:lstStyle/>
                    <a:p>
                      <a:pPr algn="ctr"/>
                      <a:r>
                        <a:rPr lang="en-US" dirty="0"/>
                        <a:t>Turing Test</a:t>
                      </a:r>
                    </a:p>
                  </a:txBody>
                  <a:tcPr/>
                </a:tc>
                <a:tc>
                  <a:txBody>
                    <a:bodyPr/>
                    <a:lstStyle/>
                    <a:p>
                      <a:pPr algn="ctr"/>
                      <a:r>
                        <a:rPr lang="en-US" dirty="0"/>
                        <a:t>Total Turing Test</a:t>
                      </a:r>
                    </a:p>
                  </a:txBody>
                  <a:tcPr/>
                </a:tc>
                <a:extLst>
                  <a:ext uri="{0D108BD9-81ED-4DB2-BD59-A6C34878D82A}">
                    <a16:rowId xmlns:a16="http://schemas.microsoft.com/office/drawing/2014/main" val="2753859393"/>
                  </a:ext>
                </a:extLst>
              </a:tr>
              <a:tr h="1052701">
                <a:tc>
                  <a:txBody>
                    <a:bodyPr/>
                    <a:lstStyle/>
                    <a:p>
                      <a:r>
                        <a:rPr lang="en-US" dirty="0"/>
                        <a:t>Test is text-based only.</a:t>
                      </a:r>
                    </a:p>
                  </a:txBody>
                  <a:tcPr/>
                </a:tc>
                <a:tc>
                  <a:txBody>
                    <a:bodyPr/>
                    <a:lstStyle/>
                    <a:p>
                      <a:r>
                        <a:rPr lang="en-US" dirty="0"/>
                        <a:t>Test is multimodal that includes speech, vision and touch.</a:t>
                      </a:r>
                    </a:p>
                  </a:txBody>
                  <a:tcPr/>
                </a:tc>
                <a:extLst>
                  <a:ext uri="{0D108BD9-81ED-4DB2-BD59-A6C34878D82A}">
                    <a16:rowId xmlns:a16="http://schemas.microsoft.com/office/drawing/2014/main" val="2911734712"/>
                  </a:ext>
                </a:extLst>
              </a:tr>
              <a:tr h="1052701">
                <a:tc>
                  <a:txBody>
                    <a:bodyPr/>
                    <a:lstStyle/>
                    <a:p>
                      <a:r>
                        <a:rPr lang="en-US" dirty="0"/>
                        <a:t>It tests linguistic intelligence of a machine.</a:t>
                      </a:r>
                    </a:p>
                  </a:txBody>
                  <a:tcPr/>
                </a:tc>
                <a:tc>
                  <a:txBody>
                    <a:bodyPr/>
                    <a:lstStyle/>
                    <a:p>
                      <a:r>
                        <a:rPr lang="en-US" dirty="0"/>
                        <a:t>It tests linguistic, sensory &amp; physical intelligence of a machine.</a:t>
                      </a:r>
                    </a:p>
                  </a:txBody>
                  <a:tcPr/>
                </a:tc>
                <a:extLst>
                  <a:ext uri="{0D108BD9-81ED-4DB2-BD59-A6C34878D82A}">
                    <a16:rowId xmlns:a16="http://schemas.microsoft.com/office/drawing/2014/main" val="3633575959"/>
                  </a:ext>
                </a:extLst>
              </a:tr>
              <a:tr h="609898">
                <a:tc>
                  <a:txBody>
                    <a:bodyPr/>
                    <a:lstStyle/>
                    <a:p>
                      <a:r>
                        <a:rPr lang="en-US" dirty="0"/>
                        <a:t>Doesn’t require any physical embodiment.</a:t>
                      </a:r>
                    </a:p>
                  </a:txBody>
                  <a:tcPr/>
                </a:tc>
                <a:tc>
                  <a:txBody>
                    <a:bodyPr/>
                    <a:lstStyle/>
                    <a:p>
                      <a:r>
                        <a:rPr lang="en-US" dirty="0"/>
                        <a:t>Requires robotics or sensors embodiment.</a:t>
                      </a:r>
                    </a:p>
                  </a:txBody>
                  <a:tcPr/>
                </a:tc>
                <a:extLst>
                  <a:ext uri="{0D108BD9-81ED-4DB2-BD59-A6C34878D82A}">
                    <a16:rowId xmlns:a16="http://schemas.microsoft.com/office/drawing/2014/main" val="900701098"/>
                  </a:ext>
                </a:extLst>
              </a:tr>
              <a:tr h="609898">
                <a:tc>
                  <a:txBody>
                    <a:bodyPr/>
                    <a:lstStyle/>
                    <a:p>
                      <a:r>
                        <a:rPr lang="en-US" dirty="0"/>
                        <a:t>Test has lower complexity.</a:t>
                      </a:r>
                    </a:p>
                  </a:txBody>
                  <a:tcPr/>
                </a:tc>
                <a:tc>
                  <a:txBody>
                    <a:bodyPr/>
                    <a:lstStyle/>
                    <a:p>
                      <a:r>
                        <a:rPr lang="en-US" dirty="0"/>
                        <a:t>Complexity is much higher.</a:t>
                      </a:r>
                    </a:p>
                  </a:txBody>
                  <a:tcPr/>
                </a:tc>
                <a:extLst>
                  <a:ext uri="{0D108BD9-81ED-4DB2-BD59-A6C34878D82A}">
                    <a16:rowId xmlns:a16="http://schemas.microsoft.com/office/drawing/2014/main" val="3551547913"/>
                  </a:ext>
                </a:extLst>
              </a:tr>
            </a:tbl>
          </a:graphicData>
        </a:graphic>
      </p:graphicFrame>
    </p:spTree>
    <p:extLst>
      <p:ext uri="{BB962C8B-B14F-4D97-AF65-F5344CB8AC3E}">
        <p14:creationId xmlns:p14="http://schemas.microsoft.com/office/powerpoint/2010/main" val="3367409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D3205-16FD-6FA6-2C8D-5DF5E0556656}"/>
              </a:ext>
            </a:extLst>
          </p:cNvPr>
          <p:cNvSpPr>
            <a:spLocks noGrp="1"/>
          </p:cNvSpPr>
          <p:nvPr>
            <p:ph type="title"/>
          </p:nvPr>
        </p:nvSpPr>
        <p:spPr/>
        <p:txBody>
          <a:bodyPr/>
          <a:lstStyle/>
          <a:p>
            <a:r>
              <a:rPr lang="en-US"/>
              <a:t>The Turing Test Approach</a:t>
            </a:r>
          </a:p>
        </p:txBody>
      </p:sp>
      <p:sp>
        <p:nvSpPr>
          <p:cNvPr id="3" name="Content Placeholder 2">
            <a:extLst>
              <a:ext uri="{FF2B5EF4-FFF2-40B4-BE49-F238E27FC236}">
                <a16:creationId xmlns:a16="http://schemas.microsoft.com/office/drawing/2014/main" id="{EB9CCC4A-EE31-9CA3-763A-42E1FC3E9083}"/>
              </a:ext>
            </a:extLst>
          </p:cNvPr>
          <p:cNvSpPr>
            <a:spLocks noGrp="1"/>
          </p:cNvSpPr>
          <p:nvPr>
            <p:ph idx="1"/>
          </p:nvPr>
        </p:nvSpPr>
        <p:spPr>
          <a:xfrm>
            <a:off x="838200" y="1825625"/>
            <a:ext cx="10515600" cy="2837815"/>
          </a:xfrm>
        </p:spPr>
        <p:txBody>
          <a:bodyPr/>
          <a:lstStyle/>
          <a:p>
            <a:pPr marL="0" indent="0" algn="just">
              <a:buNone/>
            </a:pPr>
            <a:r>
              <a:rPr lang="en-US" dirty="0">
                <a:solidFill>
                  <a:srgbClr val="111111"/>
                </a:solidFill>
                <a:highlight>
                  <a:srgbClr val="FFFFFF"/>
                </a:highlight>
                <a:latin typeface="Cabin-semi-bold"/>
              </a:rPr>
              <a:t>3. The Marcus Test</a:t>
            </a:r>
            <a:r>
              <a:rPr lang="en-US" dirty="0">
                <a:solidFill>
                  <a:srgbClr val="111111"/>
                </a:solidFill>
                <a:highlight>
                  <a:srgbClr val="FFFFFF"/>
                </a:highlight>
                <a:latin typeface="SourceSansPro"/>
              </a:rPr>
              <a:t> has test subjects view media and respond to questions about the content consumed.</a:t>
            </a:r>
          </a:p>
          <a:p>
            <a:pPr marL="0" indent="0" algn="just">
              <a:buNone/>
            </a:pPr>
            <a:r>
              <a:rPr lang="en-US" dirty="0">
                <a:solidFill>
                  <a:srgbClr val="111111"/>
                </a:solidFill>
                <a:highlight>
                  <a:srgbClr val="FFFFFF"/>
                </a:highlight>
                <a:latin typeface="Cabin-semi-bold"/>
              </a:rPr>
              <a:t>4. The Minimum Intelligent Signal</a:t>
            </a:r>
            <a:r>
              <a:rPr lang="en-US" dirty="0">
                <a:solidFill>
                  <a:srgbClr val="111111"/>
                </a:solidFill>
                <a:highlight>
                  <a:srgbClr val="FFFFFF"/>
                </a:highlight>
                <a:latin typeface="SourceSansPro"/>
              </a:rPr>
              <a:t> test asks test subjects only binary questions (i.e. only true/false or yes/no answers are allowed).</a:t>
            </a:r>
          </a:p>
          <a:p>
            <a:endParaRPr lang="en-US" dirty="0"/>
          </a:p>
        </p:txBody>
      </p:sp>
    </p:spTree>
    <p:extLst>
      <p:ext uri="{BB962C8B-B14F-4D97-AF65-F5344CB8AC3E}">
        <p14:creationId xmlns:p14="http://schemas.microsoft.com/office/powerpoint/2010/main" val="108046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Approach</a:t>
            </a:r>
          </a:p>
        </p:txBody>
      </p:sp>
      <p:sp>
        <p:nvSpPr>
          <p:cNvPr id="3" name="Content Placeholder 2"/>
          <p:cNvSpPr>
            <a:spLocks noGrp="1"/>
          </p:cNvSpPr>
          <p:nvPr>
            <p:ph idx="1"/>
          </p:nvPr>
        </p:nvSpPr>
        <p:spPr>
          <a:xfrm>
            <a:off x="838200" y="1398494"/>
            <a:ext cx="10515600" cy="4778469"/>
          </a:xfrm>
        </p:spPr>
        <p:txBody>
          <a:bodyPr>
            <a:normAutofit/>
          </a:bodyPr>
          <a:lstStyle/>
          <a:p>
            <a:pPr marL="0" indent="0">
              <a:buNone/>
            </a:pPr>
            <a:r>
              <a:rPr lang="en-US" dirty="0"/>
              <a:t>To pass a Turing test, a computer must have following capabilities:</a:t>
            </a:r>
          </a:p>
          <a:p>
            <a:r>
              <a:rPr lang="en-US" dirty="0"/>
              <a:t>Natural Language Processing:</a:t>
            </a:r>
          </a:p>
          <a:p>
            <a:pPr>
              <a:buFont typeface="Wingdings" panose="05000000000000000000" pitchFamily="2" charset="2"/>
              <a:buChar char="Ø"/>
            </a:pPr>
            <a:r>
              <a:rPr lang="en-US" dirty="0"/>
              <a:t>Must be able to communicate in English successfully</a:t>
            </a:r>
          </a:p>
          <a:p>
            <a:r>
              <a:rPr lang="en-US" dirty="0"/>
              <a:t>Knowledge representation:</a:t>
            </a:r>
          </a:p>
          <a:p>
            <a:pPr>
              <a:buFont typeface="Wingdings" panose="05000000000000000000" pitchFamily="2" charset="2"/>
              <a:buChar char="Ø"/>
            </a:pPr>
            <a:r>
              <a:rPr lang="en-US" dirty="0"/>
              <a:t>To store what it knows and hears.</a:t>
            </a:r>
          </a:p>
          <a:p>
            <a:r>
              <a:rPr lang="en-US" dirty="0"/>
              <a:t>Automated reasoning:</a:t>
            </a:r>
          </a:p>
          <a:p>
            <a:pPr>
              <a:buFont typeface="Wingdings" panose="05000000000000000000" pitchFamily="2" charset="2"/>
              <a:buChar char="Ø"/>
            </a:pPr>
            <a:r>
              <a:rPr lang="en-US" dirty="0"/>
              <a:t>Answer the Questions based on the stored information.</a:t>
            </a:r>
          </a:p>
          <a:p>
            <a:r>
              <a:rPr lang="en-US" dirty="0"/>
              <a:t>Machine learning:</a:t>
            </a:r>
          </a:p>
          <a:p>
            <a:pPr>
              <a:buFont typeface="Wingdings" panose="05000000000000000000" pitchFamily="2" charset="2"/>
              <a:buChar char="Ø"/>
            </a:pPr>
            <a:r>
              <a:rPr lang="en-US" dirty="0"/>
              <a:t>Must be able to adapt in new circumstances</a:t>
            </a:r>
          </a:p>
        </p:txBody>
      </p:sp>
    </p:spTree>
    <p:extLst>
      <p:ext uri="{BB962C8B-B14F-4D97-AF65-F5344CB8AC3E}">
        <p14:creationId xmlns:p14="http://schemas.microsoft.com/office/powerpoint/2010/main" val="107877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40" y="162560"/>
            <a:ext cx="11424920" cy="589915"/>
          </a:xfrm>
        </p:spPr>
        <p:txBody>
          <a:bodyPr>
            <a:normAutofit fontScale="90000"/>
          </a:bodyPr>
          <a:lstStyle/>
          <a:p>
            <a:r>
              <a:rPr lang="en-US" dirty="0"/>
              <a:t>Thinking Rationally: The “Laws of Thought Approach”</a:t>
            </a:r>
          </a:p>
        </p:txBody>
      </p:sp>
      <p:sp>
        <p:nvSpPr>
          <p:cNvPr id="3" name="Content Placeholder 2"/>
          <p:cNvSpPr>
            <a:spLocks noGrp="1"/>
          </p:cNvSpPr>
          <p:nvPr>
            <p:ph idx="1"/>
          </p:nvPr>
        </p:nvSpPr>
        <p:spPr>
          <a:xfrm>
            <a:off x="838200" y="995680"/>
            <a:ext cx="10515600" cy="5699760"/>
          </a:xfrm>
        </p:spPr>
        <p:txBody>
          <a:bodyPr>
            <a:normAutofit fontScale="85000" lnSpcReduction="20000"/>
          </a:bodyPr>
          <a:lstStyle/>
          <a:p>
            <a:pPr algn="just">
              <a:buFont typeface="Wingdings" panose="05000000000000000000" pitchFamily="2" charset="2"/>
              <a:buChar char="Ø"/>
            </a:pPr>
            <a:r>
              <a:rPr lang="en-US" dirty="0"/>
              <a:t>The study of mental faculties through the use of computational models.</a:t>
            </a:r>
          </a:p>
          <a:p>
            <a:pPr algn="just">
              <a:buFont typeface="Wingdings" panose="05000000000000000000" pitchFamily="2" charset="2"/>
              <a:buChar char="Ø"/>
            </a:pPr>
            <a:r>
              <a:rPr lang="en-US" dirty="0"/>
              <a:t>The study of computations that make it possible to perceive, reason and act.</a:t>
            </a:r>
          </a:p>
          <a:p>
            <a:pPr algn="just">
              <a:buFont typeface="Wingdings" panose="05000000000000000000" pitchFamily="2" charset="2"/>
              <a:buChar char="Ø"/>
            </a:pPr>
            <a:r>
              <a:rPr lang="en-US" dirty="0"/>
              <a:t>The Greek philosopher Aristotle was one of the first to attempt to codify “right thinking”</a:t>
            </a:r>
          </a:p>
          <a:p>
            <a:pPr algn="just">
              <a:buFont typeface="Wingdings" panose="05000000000000000000" pitchFamily="2" charset="2"/>
              <a:buChar char="Ø"/>
            </a:pPr>
            <a:r>
              <a:rPr lang="en-US" dirty="0"/>
              <a:t>His famous syllogisms provided patterns for argument structures that always gave correct conclusions given correct premises.</a:t>
            </a:r>
          </a:p>
          <a:p>
            <a:pPr algn="just">
              <a:buFont typeface="Wingdings" panose="05000000000000000000" pitchFamily="2" charset="2"/>
              <a:buChar char="Ø"/>
            </a:pPr>
            <a:r>
              <a:rPr lang="en-US" dirty="0"/>
              <a:t>For example, “Socrates is a man; all men are mortal; therefore, Socrates is mortal.” These laws of thought were supposed to govern the operation of the mind, and initiated the field of logic.</a:t>
            </a:r>
          </a:p>
          <a:p>
            <a:pPr algn="just">
              <a:buFont typeface="Wingdings" panose="05000000000000000000" pitchFamily="2" charset="2"/>
              <a:buChar char="Ø"/>
            </a:pPr>
            <a:r>
              <a:rPr lang="en-US" dirty="0"/>
              <a:t>Logic requires knowledge of the world that is certain— a condition that, in reality, is seldom achieved. We simply don’t know the rules of, say, politics or warfare in the same way that we know the rules of chess or arithmetic. </a:t>
            </a:r>
          </a:p>
          <a:p>
            <a:pPr algn="just">
              <a:buFont typeface="Wingdings" panose="05000000000000000000" pitchFamily="2" charset="2"/>
              <a:buChar char="Ø"/>
            </a:pPr>
            <a:r>
              <a:rPr lang="en-US" dirty="0"/>
              <a:t>The theory of probability fills this gap, allowing rigorous reasoning with uncertain information. </a:t>
            </a:r>
          </a:p>
          <a:p>
            <a:pPr algn="just">
              <a:buFont typeface="Wingdings" panose="05000000000000000000" pitchFamily="2" charset="2"/>
              <a:buChar char="Ø"/>
            </a:pPr>
            <a:r>
              <a:rPr lang="en-US" dirty="0"/>
              <a:t>In Probability principle, it allows the construction of a comprehensive model of rational thought, leading from raw perceptual information to an understanding of how the world works to predictions about the future. What it does not do, is generate intelligent behavior. For that, we need a theory of rational action.</a:t>
            </a:r>
          </a:p>
          <a:p>
            <a:endParaRPr lang="en-US" dirty="0"/>
          </a:p>
          <a:p>
            <a:endParaRPr lang="en-US" dirty="0"/>
          </a:p>
        </p:txBody>
      </p:sp>
    </p:spTree>
    <p:extLst>
      <p:ext uri="{BB962C8B-B14F-4D97-AF65-F5344CB8AC3E}">
        <p14:creationId xmlns:p14="http://schemas.microsoft.com/office/powerpoint/2010/main" val="4037058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8155"/>
          </a:xfrm>
        </p:spPr>
        <p:txBody>
          <a:bodyPr>
            <a:normAutofit fontScale="90000"/>
          </a:bodyPr>
          <a:lstStyle/>
          <a:p>
            <a:r>
              <a:rPr lang="en-US" dirty="0"/>
              <a:t>Acting Rationally: “The Rational Agent Approach”</a:t>
            </a:r>
          </a:p>
        </p:txBody>
      </p:sp>
      <p:sp>
        <p:nvSpPr>
          <p:cNvPr id="3" name="Content Placeholder 2"/>
          <p:cNvSpPr>
            <a:spLocks noGrp="1"/>
          </p:cNvSpPr>
          <p:nvPr>
            <p:ph idx="1"/>
          </p:nvPr>
        </p:nvSpPr>
        <p:spPr>
          <a:xfrm>
            <a:off x="838200" y="1066800"/>
            <a:ext cx="10515600" cy="5618480"/>
          </a:xfrm>
        </p:spPr>
        <p:txBody>
          <a:bodyPr>
            <a:normAutofit fontScale="92500" lnSpcReduction="20000"/>
          </a:bodyPr>
          <a:lstStyle/>
          <a:p>
            <a:pPr algn="just">
              <a:buFont typeface="Wingdings" panose="05000000000000000000" pitchFamily="2" charset="2"/>
              <a:buChar char="Ø"/>
            </a:pPr>
            <a:r>
              <a:rPr lang="en-US" dirty="0"/>
              <a:t>An agent is just something that acts. </a:t>
            </a:r>
          </a:p>
          <a:p>
            <a:pPr algn="just">
              <a:buFont typeface="Wingdings" panose="05000000000000000000" pitchFamily="2" charset="2"/>
              <a:buChar char="Ø"/>
            </a:pPr>
            <a:r>
              <a:rPr lang="en-US" dirty="0"/>
              <a:t>Of course, all computer programs do something, but computer agents are expected to do more: operate autonomously, perceive their environment, persist over a prolonged time period, adapt to change, and create and pursue goals. </a:t>
            </a:r>
          </a:p>
          <a:p>
            <a:pPr algn="just">
              <a:buFont typeface="Wingdings" panose="05000000000000000000" pitchFamily="2" charset="2"/>
              <a:buChar char="Ø"/>
            </a:pPr>
            <a:r>
              <a:rPr lang="en-US" dirty="0"/>
              <a:t>A rational agent is one that acts so as to achieve the best outcome or, when there is uncertainty, the best expected outcome.</a:t>
            </a:r>
          </a:p>
          <a:p>
            <a:pPr algn="just">
              <a:buFont typeface="Wingdings" panose="05000000000000000000" pitchFamily="2" charset="2"/>
              <a:buChar char="Ø"/>
            </a:pPr>
            <a:r>
              <a:rPr lang="en-US" dirty="0"/>
              <a:t>The rational agent approach to AI has prevailed throughout most of the field’s history.</a:t>
            </a:r>
          </a:p>
          <a:p>
            <a:pPr algn="just">
              <a:buFont typeface="Wingdings" panose="05000000000000000000" pitchFamily="2" charset="2"/>
              <a:buChar char="Ø"/>
            </a:pPr>
            <a:r>
              <a:rPr lang="en-US" dirty="0"/>
              <a:t>In the early decades, rational agents were built on logical foundations and formed definite plans to achieve specific goals also known as </a:t>
            </a:r>
            <a:r>
              <a:rPr lang="en-US" b="1" dirty="0"/>
              <a:t>Symbolic AI</a:t>
            </a:r>
            <a:r>
              <a:rPr lang="en-US" dirty="0"/>
              <a:t>.</a:t>
            </a:r>
          </a:p>
          <a:p>
            <a:pPr algn="just">
              <a:buFont typeface="Wingdings" panose="05000000000000000000" pitchFamily="2" charset="2"/>
              <a:buChar char="Ø"/>
            </a:pPr>
            <a:r>
              <a:rPr lang="en-US" dirty="0"/>
              <a:t>Later, methods based on probability theory and machine learning allowed the creation of agents that could make decisions under uncertainty to attain the best expected outcome also known as </a:t>
            </a:r>
            <a:r>
              <a:rPr lang="en-US" b="1" dirty="0"/>
              <a:t>Statistical AI</a:t>
            </a:r>
            <a:r>
              <a:rPr lang="en-US" dirty="0"/>
              <a:t>. </a:t>
            </a:r>
          </a:p>
          <a:p>
            <a:pPr algn="just">
              <a:buFont typeface="Wingdings" panose="05000000000000000000" pitchFamily="2" charset="2"/>
              <a:buChar char="Ø"/>
            </a:pPr>
            <a:r>
              <a:rPr lang="en-US" dirty="0"/>
              <a:t>Hence, in this approach, AI is viewed as the study and construction of rational agents i.e. agents that do the right thing where “the right thing” is defined by the objective that we provide to the agent.</a:t>
            </a:r>
          </a:p>
          <a:p>
            <a:pPr algn="just">
              <a:buFont typeface="Wingdings" panose="05000000000000000000" pitchFamily="2" charset="2"/>
              <a:buChar char="Ø"/>
            </a:pPr>
            <a:endParaRPr lang="en-US" dirty="0"/>
          </a:p>
          <a:p>
            <a:pPr algn="just">
              <a:buFont typeface="Wingdings" panose="05000000000000000000" pitchFamily="2" charset="2"/>
              <a:buChar char="Ø"/>
            </a:pPr>
            <a:endParaRPr lang="en-US" dirty="0"/>
          </a:p>
          <a:p>
            <a:endParaRPr lang="en-US" dirty="0"/>
          </a:p>
          <a:p>
            <a:pPr marL="0" indent="0">
              <a:buNone/>
            </a:pPr>
            <a:endParaRPr lang="en-US" dirty="0"/>
          </a:p>
        </p:txBody>
      </p:sp>
    </p:spTree>
    <p:extLst>
      <p:ext uri="{BB962C8B-B14F-4D97-AF65-F5344CB8AC3E}">
        <p14:creationId xmlns:p14="http://schemas.microsoft.com/office/powerpoint/2010/main" val="3915975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83BB9-4499-CE2A-334C-B26E2AD60235}"/>
              </a:ext>
            </a:extLst>
          </p:cNvPr>
          <p:cNvSpPr>
            <a:spLocks noGrp="1"/>
          </p:cNvSpPr>
          <p:nvPr>
            <p:ph type="title"/>
          </p:nvPr>
        </p:nvSpPr>
        <p:spPr>
          <a:xfrm>
            <a:off x="838200" y="365125"/>
            <a:ext cx="10515600" cy="742315"/>
          </a:xfrm>
        </p:spPr>
        <p:txBody>
          <a:bodyPr/>
          <a:lstStyle/>
          <a:p>
            <a:r>
              <a:rPr lang="en-US" dirty="0"/>
              <a:t>Can Machine Really Think?</a:t>
            </a:r>
          </a:p>
        </p:txBody>
      </p:sp>
      <p:sp>
        <p:nvSpPr>
          <p:cNvPr id="3" name="Content Placeholder 2">
            <a:extLst>
              <a:ext uri="{FF2B5EF4-FFF2-40B4-BE49-F238E27FC236}">
                <a16:creationId xmlns:a16="http://schemas.microsoft.com/office/drawing/2014/main" id="{FD08D649-4FB9-35E0-3D3B-62DCF59A170B}"/>
              </a:ext>
            </a:extLst>
          </p:cNvPr>
          <p:cNvSpPr>
            <a:spLocks noGrp="1"/>
          </p:cNvSpPr>
          <p:nvPr>
            <p:ph idx="1"/>
          </p:nvPr>
        </p:nvSpPr>
        <p:spPr>
          <a:xfrm>
            <a:off x="838200" y="1361440"/>
            <a:ext cx="10515600" cy="5303520"/>
          </a:xfrm>
        </p:spPr>
        <p:txBody>
          <a:bodyPr>
            <a:normAutofit fontScale="85000" lnSpcReduction="20000"/>
          </a:bodyPr>
          <a:lstStyle/>
          <a:p>
            <a:pPr marL="0" marR="0" indent="0" algn="just">
              <a:lnSpc>
                <a:spcPct val="115000"/>
              </a:lnSpc>
              <a:spcAft>
                <a:spcPts val="1000"/>
              </a:spcAft>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1. </a:t>
            </a:r>
            <a:r>
              <a:rPr lang="en-US" sz="2800" kern="100" dirty="0">
                <a:effectLst/>
                <a:ea typeface="Calibri" panose="020F0502020204030204" pitchFamily="34" charset="0"/>
                <a:cs typeface="Times New Roman" panose="02020603050405020304" pitchFamily="18" charset="0"/>
              </a:rPr>
              <a:t>What Does It Mean to "Think"?</a:t>
            </a:r>
          </a:p>
          <a:p>
            <a:pPr marL="0" marR="0" algn="just">
              <a:lnSpc>
                <a:spcPct val="115000"/>
              </a:lnSpc>
              <a:spcAft>
                <a:spcPts val="1000"/>
              </a:spcAft>
            </a:pPr>
            <a:r>
              <a:rPr lang="en-US" sz="2800" kern="100" dirty="0">
                <a:effectLst/>
                <a:ea typeface="Calibri" panose="020F0502020204030204" pitchFamily="34" charset="0"/>
                <a:cs typeface="Times New Roman" panose="02020603050405020304" pitchFamily="18" charset="0"/>
              </a:rPr>
              <a:t>Thinking can involve various processes, such as: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ea typeface="Calibri" panose="020F0502020204030204" pitchFamily="34" charset="0"/>
                <a:cs typeface="Times New Roman" panose="02020603050405020304" pitchFamily="18" charset="0"/>
              </a:rPr>
              <a:t>Logical reasoning.</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ea typeface="Calibri" panose="020F0502020204030204" pitchFamily="34" charset="0"/>
                <a:cs typeface="Times New Roman" panose="02020603050405020304" pitchFamily="18" charset="0"/>
              </a:rPr>
              <a:t>Problem-solving.</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ea typeface="Calibri" panose="020F0502020204030204" pitchFamily="34" charset="0"/>
                <a:cs typeface="Times New Roman" panose="02020603050405020304" pitchFamily="18" charset="0"/>
              </a:rPr>
              <a:t>Decision-making.</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ea typeface="Calibri" panose="020F0502020204030204" pitchFamily="34" charset="0"/>
                <a:cs typeface="Times New Roman" panose="02020603050405020304" pitchFamily="18" charset="0"/>
              </a:rPr>
              <a:t>Creativity.</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ea typeface="Calibri" panose="020F0502020204030204" pitchFamily="34" charset="0"/>
                <a:cs typeface="Times New Roman" panose="02020603050405020304" pitchFamily="18" charset="0"/>
              </a:rPr>
              <a:t>Awareness and understanding.</a:t>
            </a:r>
          </a:p>
          <a:p>
            <a:pPr algn="just"/>
            <a:r>
              <a:rPr lang="en-US" sz="2800" dirty="0">
                <a:effectLst/>
                <a:ea typeface="Calibri" panose="020F0502020204030204" pitchFamily="34" charset="0"/>
                <a:cs typeface="Times New Roman" panose="02020603050405020304" pitchFamily="18" charset="0"/>
              </a:rPr>
              <a:t>AI systems excel at some of these tasks but struggle with others. The distinction between human thinking and what machines do lies in consciousness, intention, and understanding.</a:t>
            </a:r>
            <a:endParaRPr lang="en-US" dirty="0"/>
          </a:p>
          <a:p>
            <a:endParaRPr lang="en-US" dirty="0"/>
          </a:p>
        </p:txBody>
      </p:sp>
    </p:spTree>
    <p:extLst>
      <p:ext uri="{BB962C8B-B14F-4D97-AF65-F5344CB8AC3E}">
        <p14:creationId xmlns:p14="http://schemas.microsoft.com/office/powerpoint/2010/main" val="3643654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421AF-E1C4-FD97-66B0-9FE6D1A43DF6}"/>
              </a:ext>
            </a:extLst>
          </p:cNvPr>
          <p:cNvSpPr>
            <a:spLocks noGrp="1"/>
          </p:cNvSpPr>
          <p:nvPr>
            <p:ph type="title"/>
          </p:nvPr>
        </p:nvSpPr>
        <p:spPr>
          <a:xfrm>
            <a:off x="838200" y="365125"/>
            <a:ext cx="10515600" cy="467995"/>
          </a:xfrm>
        </p:spPr>
        <p:txBody>
          <a:bodyPr>
            <a:normAutofit fontScale="90000"/>
          </a:bodyPr>
          <a:lstStyle/>
          <a:p>
            <a:r>
              <a:rPr lang="en-US" dirty="0"/>
              <a:t>Can Machine Really Think?</a:t>
            </a:r>
          </a:p>
        </p:txBody>
      </p:sp>
      <p:sp>
        <p:nvSpPr>
          <p:cNvPr id="3" name="Content Placeholder 2">
            <a:extLst>
              <a:ext uri="{FF2B5EF4-FFF2-40B4-BE49-F238E27FC236}">
                <a16:creationId xmlns:a16="http://schemas.microsoft.com/office/drawing/2014/main" id="{462FDD8B-8AC2-3307-5F9E-D937AC1B2617}"/>
              </a:ext>
            </a:extLst>
          </p:cNvPr>
          <p:cNvSpPr>
            <a:spLocks noGrp="1"/>
          </p:cNvSpPr>
          <p:nvPr>
            <p:ph idx="1"/>
          </p:nvPr>
        </p:nvSpPr>
        <p:spPr>
          <a:xfrm>
            <a:off x="838200" y="1056640"/>
            <a:ext cx="10515600" cy="5638800"/>
          </a:xfrm>
        </p:spPr>
        <p:txBody>
          <a:bodyPr>
            <a:normAutofit fontScale="55000" lnSpcReduction="20000"/>
          </a:bodyPr>
          <a:lstStyle/>
          <a:p>
            <a:pPr marL="0" marR="0" indent="0" algn="just">
              <a:lnSpc>
                <a:spcPct val="115000"/>
              </a:lnSpc>
              <a:spcAft>
                <a:spcPts val="1000"/>
              </a:spcAft>
              <a:buNone/>
            </a:pPr>
            <a:r>
              <a:rPr lang="en-US" sz="4200" kern="100" dirty="0">
                <a:effectLst/>
                <a:latin typeface="Calibri" panose="020F0502020204030204" pitchFamily="34" charset="0"/>
                <a:ea typeface="Calibri" panose="020F0502020204030204" pitchFamily="34" charset="0"/>
                <a:cs typeface="Times New Roman" panose="02020603050405020304" pitchFamily="18" charset="0"/>
              </a:rPr>
              <a:t>2</a:t>
            </a:r>
            <a:r>
              <a:rPr lang="en-US" sz="4200" kern="100" dirty="0">
                <a:effectLst/>
                <a:ea typeface="Calibri" panose="020F0502020204030204" pitchFamily="34" charset="0"/>
                <a:cs typeface="Times New Roman" panose="02020603050405020304" pitchFamily="18" charset="0"/>
              </a:rPr>
              <a:t>. How Do Machines "Think"?</a:t>
            </a:r>
          </a:p>
          <a:p>
            <a:pPr marL="0" marR="0" algn="just">
              <a:lnSpc>
                <a:spcPct val="115000"/>
              </a:lnSpc>
              <a:spcAft>
                <a:spcPts val="1000"/>
              </a:spcAft>
            </a:pPr>
            <a:r>
              <a:rPr lang="en-US" sz="4200" kern="100" dirty="0">
                <a:effectLst/>
                <a:ea typeface="Calibri" panose="020F0502020204030204" pitchFamily="34" charset="0"/>
                <a:cs typeface="Times New Roman" panose="02020603050405020304" pitchFamily="18" charset="0"/>
              </a:rPr>
              <a:t>Machines don't think in the way humans do. Instead, they process information using algorithms and data:</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4200" kern="100" dirty="0">
                <a:effectLst/>
                <a:ea typeface="Calibri" panose="020F0502020204030204" pitchFamily="34" charset="0"/>
                <a:cs typeface="Times New Roman" panose="02020603050405020304" pitchFamily="18" charset="0"/>
              </a:rPr>
              <a:t>Pattern Recognition</a:t>
            </a:r>
            <a:r>
              <a:rPr lang="en-US" sz="4200" b="1" kern="100" dirty="0">
                <a:effectLst/>
                <a:ea typeface="Calibri" panose="020F0502020204030204" pitchFamily="34" charset="0"/>
                <a:cs typeface="Times New Roman" panose="02020603050405020304" pitchFamily="18" charset="0"/>
              </a:rPr>
              <a:t>:</a:t>
            </a:r>
            <a:r>
              <a:rPr lang="en-US" sz="4200" kern="100" dirty="0">
                <a:effectLst/>
                <a:ea typeface="Calibri" panose="020F0502020204030204" pitchFamily="34" charset="0"/>
                <a:cs typeface="Times New Roman" panose="02020603050405020304" pitchFamily="18" charset="0"/>
              </a:rPr>
              <a:t> AI systems analyze patterns in data to make predictions or decisions.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4200" kern="100" dirty="0">
                <a:effectLst/>
                <a:ea typeface="Calibri" panose="020F0502020204030204" pitchFamily="34" charset="0"/>
                <a:cs typeface="Times New Roman" panose="02020603050405020304" pitchFamily="18" charset="0"/>
              </a:rPr>
              <a:t>Rules-Based Processing</a:t>
            </a:r>
            <a:r>
              <a:rPr lang="en-US" sz="4200" b="1" kern="100" dirty="0">
                <a:effectLst/>
                <a:ea typeface="Calibri" panose="020F0502020204030204" pitchFamily="34" charset="0"/>
                <a:cs typeface="Times New Roman" panose="02020603050405020304" pitchFamily="18" charset="0"/>
              </a:rPr>
              <a:t>:</a:t>
            </a:r>
            <a:r>
              <a:rPr lang="en-US" sz="4200" kern="100" dirty="0">
                <a:effectLst/>
                <a:ea typeface="Calibri" panose="020F0502020204030204" pitchFamily="34" charset="0"/>
                <a:cs typeface="Times New Roman" panose="02020603050405020304" pitchFamily="18" charset="0"/>
              </a:rPr>
              <a:t> Machines follow predefined rules to solve problems (e.g., chess algorithms).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4200" kern="100" dirty="0">
                <a:effectLst/>
                <a:ea typeface="Calibri" panose="020F0502020204030204" pitchFamily="34" charset="0"/>
                <a:cs typeface="Times New Roman" panose="02020603050405020304" pitchFamily="18" charset="0"/>
              </a:rPr>
              <a:t>Learning from Data</a:t>
            </a:r>
            <a:r>
              <a:rPr lang="en-US" sz="4200" b="1" kern="100" dirty="0">
                <a:effectLst/>
                <a:ea typeface="Calibri" panose="020F0502020204030204" pitchFamily="34" charset="0"/>
                <a:cs typeface="Times New Roman" panose="02020603050405020304" pitchFamily="18" charset="0"/>
              </a:rPr>
              <a:t>:</a:t>
            </a:r>
            <a:r>
              <a:rPr lang="en-US" sz="4200" kern="100" dirty="0">
                <a:effectLst/>
                <a:ea typeface="Calibri" panose="020F0502020204030204" pitchFamily="34" charset="0"/>
                <a:cs typeface="Times New Roman" panose="02020603050405020304" pitchFamily="18" charset="0"/>
              </a:rPr>
              <a:t> Through machine learning, AI systems improve their performance over time, appearing to "learn."</a:t>
            </a:r>
          </a:p>
          <a:p>
            <a:pPr marL="0" marR="0" algn="just">
              <a:lnSpc>
                <a:spcPct val="115000"/>
              </a:lnSpc>
              <a:spcAft>
                <a:spcPts val="1000"/>
              </a:spcAft>
            </a:pPr>
            <a:r>
              <a:rPr lang="en-US" sz="4200" kern="100" dirty="0">
                <a:effectLst/>
                <a:ea typeface="Calibri" panose="020F0502020204030204" pitchFamily="34" charset="0"/>
                <a:cs typeface="Times New Roman" panose="02020603050405020304" pitchFamily="18" charset="0"/>
              </a:rPr>
              <a:t>For example: </a:t>
            </a:r>
            <a:r>
              <a:rPr lang="en-US" sz="4200" dirty="0">
                <a:effectLst/>
                <a:ea typeface="Calibri" panose="020F0502020204030204" pitchFamily="34" charset="0"/>
                <a:cs typeface="Times New Roman" panose="02020603050405020304" pitchFamily="18" charset="0"/>
              </a:rPr>
              <a:t>A machine learning model like ChatGPT generates responses based on patterns in text data it has been trained on. It doesn’t "understand" the text or have an internal thought process. It simply calculates probabilities of word sequences.</a:t>
            </a:r>
            <a:endParaRPr lang="en-US" sz="4200" dirty="0"/>
          </a:p>
          <a:p>
            <a:endParaRPr lang="en-US" dirty="0"/>
          </a:p>
        </p:txBody>
      </p:sp>
    </p:spTree>
    <p:extLst>
      <p:ext uri="{BB962C8B-B14F-4D97-AF65-F5344CB8AC3E}">
        <p14:creationId xmlns:p14="http://schemas.microsoft.com/office/powerpoint/2010/main" val="3254249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DEC6-8C6E-7D32-9EF4-1A080023AB29}"/>
              </a:ext>
            </a:extLst>
          </p:cNvPr>
          <p:cNvSpPr>
            <a:spLocks noGrp="1"/>
          </p:cNvSpPr>
          <p:nvPr>
            <p:ph type="title"/>
          </p:nvPr>
        </p:nvSpPr>
        <p:spPr>
          <a:xfrm>
            <a:off x="838200" y="365125"/>
            <a:ext cx="10515600" cy="640715"/>
          </a:xfrm>
        </p:spPr>
        <p:txBody>
          <a:bodyPr>
            <a:normAutofit fontScale="90000"/>
          </a:bodyPr>
          <a:lstStyle/>
          <a:p>
            <a:r>
              <a:rPr lang="en-US" sz="4400" dirty="0"/>
              <a:t>Can Machine Really Think?</a:t>
            </a:r>
            <a:endParaRPr lang="en-US" dirty="0"/>
          </a:p>
        </p:txBody>
      </p:sp>
      <p:sp>
        <p:nvSpPr>
          <p:cNvPr id="3" name="Content Placeholder 2">
            <a:extLst>
              <a:ext uri="{FF2B5EF4-FFF2-40B4-BE49-F238E27FC236}">
                <a16:creationId xmlns:a16="http://schemas.microsoft.com/office/drawing/2014/main" id="{11B93DBF-A8C0-50E7-AAAE-0D54DCD8354F}"/>
              </a:ext>
            </a:extLst>
          </p:cNvPr>
          <p:cNvSpPr>
            <a:spLocks noGrp="1"/>
          </p:cNvSpPr>
          <p:nvPr>
            <p:ph idx="1"/>
          </p:nvPr>
        </p:nvSpPr>
        <p:spPr>
          <a:xfrm>
            <a:off x="838200" y="1280160"/>
            <a:ext cx="10515600" cy="5415280"/>
          </a:xfrm>
        </p:spPr>
        <p:txBody>
          <a:bodyPr>
            <a:normAutofit fontScale="70000" lnSpcReduction="20000"/>
          </a:bodyPr>
          <a:lstStyle/>
          <a:p>
            <a:pPr marL="0" marR="0" indent="0" algn="just">
              <a:lnSpc>
                <a:spcPct val="115000"/>
              </a:lnSpc>
              <a:spcAft>
                <a:spcPts val="1000"/>
              </a:spcAft>
              <a:buNone/>
            </a:pPr>
            <a:r>
              <a:rPr lang="en-US" kern="100" dirty="0">
                <a:latin typeface="Calibri" panose="020F0502020204030204" pitchFamily="34" charset="0"/>
                <a:ea typeface="Calibri" panose="020F0502020204030204" pitchFamily="34" charset="0"/>
                <a:cs typeface="Times New Roman" panose="02020603050405020304" pitchFamily="18" charset="0"/>
              </a:rPr>
              <a:t>3</a:t>
            </a: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 Differences Between Machine and Human Thinking</a:t>
            </a:r>
          </a:p>
          <a:p>
            <a:pPr marL="0" marR="0" indent="0" algn="just">
              <a:lnSpc>
                <a:spcPct val="115000"/>
              </a:lnSpc>
              <a:spcAft>
                <a:spcPts val="1000"/>
              </a:spcAft>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 Absence of Consciousness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Machines lack self-awareness or subjective experiences.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Humans think with emotions, creativity, and intuition, which are deeply tied to consciousness.</a:t>
            </a:r>
          </a:p>
          <a:p>
            <a:pPr marL="0" marR="0" indent="0" algn="just">
              <a:lnSpc>
                <a:spcPct val="115000"/>
              </a:lnSpc>
              <a:spcAft>
                <a:spcPts val="1000"/>
              </a:spcAft>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b. Lack of Intentionality</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Human thinking is often goal-driven and intentional.</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Machines only perform tasks they are programmed or trained for.</a:t>
            </a:r>
          </a:p>
          <a:p>
            <a:pPr marL="0" marR="0" indent="0" algn="just">
              <a:lnSpc>
                <a:spcPct val="115000"/>
              </a:lnSpc>
              <a:spcAft>
                <a:spcPts val="1000"/>
              </a:spcAft>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 Understanding vs. Simulation</a:t>
            </a:r>
          </a:p>
          <a:p>
            <a:pPr algn="just">
              <a:lnSpc>
                <a:spcPct val="115000"/>
              </a:lnSpc>
              <a:spcAft>
                <a:spcPts val="1000"/>
              </a:spcAft>
              <a:buSzPts val="1000"/>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Humans understand concepts and can generalize knowledge.</a:t>
            </a:r>
          </a:p>
          <a:p>
            <a:pPr algn="just"/>
            <a:r>
              <a:rPr lang="en-US" sz="2800" dirty="0">
                <a:effectLst/>
                <a:latin typeface="Calibri" panose="020F0502020204030204" pitchFamily="34" charset="0"/>
                <a:ea typeface="Calibri" panose="020F0502020204030204" pitchFamily="34" charset="0"/>
                <a:cs typeface="Times New Roman" panose="02020603050405020304" pitchFamily="18" charset="0"/>
              </a:rPr>
              <a:t>Machines simulate understanding by correlating data but don't grasp meaning.</a:t>
            </a:r>
            <a:endParaRPr lang="en-US" dirty="0"/>
          </a:p>
        </p:txBody>
      </p:sp>
    </p:spTree>
    <p:extLst>
      <p:ext uri="{BB962C8B-B14F-4D97-AF65-F5344CB8AC3E}">
        <p14:creationId xmlns:p14="http://schemas.microsoft.com/office/powerpoint/2010/main" val="249140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80BB6-725A-774A-9031-AD6E31D97F38}"/>
              </a:ext>
            </a:extLst>
          </p:cNvPr>
          <p:cNvSpPr>
            <a:spLocks noGrp="1"/>
          </p:cNvSpPr>
          <p:nvPr>
            <p:ph type="title"/>
          </p:nvPr>
        </p:nvSpPr>
        <p:spPr/>
        <p:txBody>
          <a:bodyPr/>
          <a:lstStyle/>
          <a:p>
            <a:r>
              <a:rPr lang="en-US" dirty="0"/>
              <a:t>Can Machine Really Think?</a:t>
            </a:r>
            <a:br>
              <a:rPr lang="en-US" dirty="0"/>
            </a:br>
            <a:endParaRPr lang="en-US" dirty="0"/>
          </a:p>
        </p:txBody>
      </p:sp>
      <p:sp>
        <p:nvSpPr>
          <p:cNvPr id="3" name="Content Placeholder 2">
            <a:extLst>
              <a:ext uri="{FF2B5EF4-FFF2-40B4-BE49-F238E27FC236}">
                <a16:creationId xmlns:a16="http://schemas.microsoft.com/office/drawing/2014/main" id="{3AC4106F-E612-D78B-C78D-8FB4CF6613C3}"/>
              </a:ext>
            </a:extLst>
          </p:cNvPr>
          <p:cNvSpPr>
            <a:spLocks noGrp="1"/>
          </p:cNvSpPr>
          <p:nvPr>
            <p:ph idx="1"/>
          </p:nvPr>
        </p:nvSpPr>
        <p:spPr>
          <a:xfrm>
            <a:off x="838200" y="1198880"/>
            <a:ext cx="10515600" cy="5293995"/>
          </a:xfrm>
        </p:spPr>
        <p:txBody>
          <a:bodyPr>
            <a:normAutofit fontScale="77500" lnSpcReduction="20000"/>
          </a:bodyPr>
          <a:lstStyle/>
          <a:p>
            <a:pPr marL="0" marR="0" algn="just">
              <a:lnSpc>
                <a:spcPct val="115000"/>
              </a:lnSpc>
              <a:spcAft>
                <a:spcPts val="1000"/>
              </a:spcAf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Strong AI vs. Weak AI</a:t>
            </a:r>
          </a:p>
          <a:p>
            <a:pPr marL="0" marR="0" algn="just">
              <a:lnSpc>
                <a:spcPct val="115000"/>
              </a:lnSpc>
              <a:spcAft>
                <a:spcPts val="1000"/>
              </a:spcAf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Weak AI (Narrow AI)</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Machines perform specific tasks (e.g., voice recognition, medical diagnosis).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They simulate thinking but don't possess awareness or consciousness.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Example: Siri, Google Translate.</a:t>
            </a:r>
          </a:p>
          <a:p>
            <a:pPr marL="0" marR="0" algn="just">
              <a:lnSpc>
                <a:spcPct val="115000"/>
              </a:lnSpc>
              <a:spcAft>
                <a:spcPts val="1000"/>
              </a:spcAf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Strong AI (General AI)</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Hypothetical systems with human-like general intelligence.</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Can understand, reason, and apply knowledge across a broad range of tasks.</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As of now, strong AI does not exist, and machines cannot "truly think."</a:t>
            </a:r>
          </a:p>
          <a:p>
            <a:endParaRPr lang="en-US" dirty="0"/>
          </a:p>
        </p:txBody>
      </p:sp>
    </p:spTree>
    <p:extLst>
      <p:ext uri="{BB962C8B-B14F-4D97-AF65-F5344CB8AC3E}">
        <p14:creationId xmlns:p14="http://schemas.microsoft.com/office/powerpoint/2010/main" val="1564705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584A0-0949-5E6D-5C5D-FDFC008824BF}"/>
              </a:ext>
            </a:extLst>
          </p:cNvPr>
          <p:cNvSpPr>
            <a:spLocks noGrp="1"/>
          </p:cNvSpPr>
          <p:nvPr>
            <p:ph type="title"/>
          </p:nvPr>
        </p:nvSpPr>
        <p:spPr>
          <a:xfrm>
            <a:off x="838200" y="365125"/>
            <a:ext cx="10515600" cy="701675"/>
          </a:xfrm>
        </p:spPr>
        <p:txBody>
          <a:bodyPr/>
          <a:lstStyle/>
          <a:p>
            <a:r>
              <a:rPr lang="en-US" dirty="0"/>
              <a:t>Can Machine Really Think?</a:t>
            </a:r>
          </a:p>
        </p:txBody>
      </p:sp>
      <p:sp>
        <p:nvSpPr>
          <p:cNvPr id="3" name="Content Placeholder 2">
            <a:extLst>
              <a:ext uri="{FF2B5EF4-FFF2-40B4-BE49-F238E27FC236}">
                <a16:creationId xmlns:a16="http://schemas.microsoft.com/office/drawing/2014/main" id="{1CD05E37-3A6A-CC60-46B8-6C92C89B3BB0}"/>
              </a:ext>
            </a:extLst>
          </p:cNvPr>
          <p:cNvSpPr>
            <a:spLocks noGrp="1"/>
          </p:cNvSpPr>
          <p:nvPr>
            <p:ph idx="1"/>
          </p:nvPr>
        </p:nvSpPr>
        <p:spPr>
          <a:xfrm>
            <a:off x="838200" y="1219200"/>
            <a:ext cx="10515600" cy="4612640"/>
          </a:xfrm>
        </p:spPr>
        <p:txBody>
          <a:bodyPr>
            <a:normAutofit lnSpcReduction="10000"/>
          </a:bodyPr>
          <a:lstStyle/>
          <a:p>
            <a:pPr marL="0" marR="0" indent="0" algn="just">
              <a:lnSpc>
                <a:spcPct val="115000"/>
              </a:lnSpc>
              <a:spcAft>
                <a:spcPts val="1000"/>
              </a:spcAft>
              <a:buNone/>
            </a:pPr>
            <a:r>
              <a:rPr lang="en-US" sz="2000" kern="100" dirty="0">
                <a:latin typeface="Calibri" panose="020F0502020204030204" pitchFamily="34" charset="0"/>
                <a:ea typeface="Calibri" panose="020F0502020204030204" pitchFamily="34" charset="0"/>
                <a:cs typeface="Times New Roman" panose="02020603050405020304" pitchFamily="18" charset="0"/>
              </a:rPr>
              <a:t>4.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Can Machines Ever Truly Think?</a:t>
            </a:r>
          </a:p>
          <a:p>
            <a:pPr marL="0" marR="0" algn="just">
              <a:lnSpc>
                <a:spcPct val="115000"/>
              </a:lnSpc>
              <a:spcAft>
                <a:spcPts val="1000"/>
              </a:spcAf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While current AI does not "think" in a human sense, there are debates about the future:</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Yes, Machines Might Think</a:t>
            </a:r>
          </a:p>
          <a:p>
            <a:pPr marL="742950" marR="0" lvl="1" indent="-285750" algn="just">
              <a:lnSpc>
                <a:spcPct val="115000"/>
              </a:lnSpc>
              <a:spcAft>
                <a:spcPts val="1000"/>
              </a:spcAft>
              <a:buSzPts val="1000"/>
              <a:buFont typeface="Courier New" panose="02070309020205020404" pitchFamily="49" charset="0"/>
              <a:buChar char="o"/>
              <a:tabLst>
                <a:tab pos="914400" algn="l"/>
              </a:tabLs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If consciousness can emerge from complex computations, machines may someday think.</a:t>
            </a:r>
          </a:p>
          <a:p>
            <a:pPr marL="742950" marR="0" lvl="1" indent="-285750" algn="just">
              <a:lnSpc>
                <a:spcPct val="115000"/>
              </a:lnSpc>
              <a:spcAft>
                <a:spcPts val="1000"/>
              </a:spcAft>
              <a:buSzPts val="1000"/>
              <a:buFont typeface="Courier New" panose="02070309020205020404" pitchFamily="49" charset="0"/>
              <a:buChar char="o"/>
              <a:tabLst>
                <a:tab pos="914400" algn="l"/>
              </a:tabLs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Advances in neuromorphic computing (mimicking the human brain) could lead to more human-like AI.</a:t>
            </a:r>
          </a:p>
          <a:p>
            <a:pPr marL="342900" marR="0" lvl="0" indent="-342900" algn="just">
              <a:lnSpc>
                <a:spcPct val="115000"/>
              </a:lnSpc>
              <a:spcAft>
                <a:spcPts val="1000"/>
              </a:spcAft>
              <a:buSzPts val="1000"/>
              <a:buFont typeface="Symbol" panose="05050102010706020507" pitchFamily="18" charset="2"/>
              <a:buChar char=""/>
              <a:tabLst>
                <a:tab pos="457200" algn="l"/>
              </a:tabLs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No, Machines Will Never Think</a:t>
            </a:r>
          </a:p>
          <a:p>
            <a:pPr marL="742950" marR="0" lvl="1" indent="-285750" algn="just">
              <a:lnSpc>
                <a:spcPct val="115000"/>
              </a:lnSpc>
              <a:spcAft>
                <a:spcPts val="1000"/>
              </a:spcAft>
              <a:buSzPts val="1000"/>
              <a:buFont typeface="Courier New" panose="02070309020205020404" pitchFamily="49" charset="0"/>
              <a:buChar char="o"/>
              <a:tabLst>
                <a:tab pos="914400" algn="l"/>
              </a:tabLs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Critics argue that thinking requires consciousness, emotion, and understanding, which may not be programmable.</a:t>
            </a:r>
          </a:p>
          <a:p>
            <a:endParaRPr lang="en-US" dirty="0"/>
          </a:p>
          <a:p>
            <a:endParaRPr lang="en-US" dirty="0"/>
          </a:p>
        </p:txBody>
      </p:sp>
    </p:spTree>
    <p:extLst>
      <p:ext uri="{BB962C8B-B14F-4D97-AF65-F5344CB8AC3E}">
        <p14:creationId xmlns:p14="http://schemas.microsoft.com/office/powerpoint/2010/main" val="3383296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 History of AI</a:t>
            </a:r>
          </a:p>
        </p:txBody>
      </p:sp>
      <p:sp>
        <p:nvSpPr>
          <p:cNvPr id="3" name="Content Placeholder 2"/>
          <p:cNvSpPr>
            <a:spLocks noGrp="1"/>
          </p:cNvSpPr>
          <p:nvPr>
            <p:ph idx="1"/>
          </p:nvPr>
        </p:nvSpPr>
        <p:spPr/>
        <p:txBody>
          <a:bodyPr>
            <a:normAutofit/>
          </a:bodyPr>
          <a:lstStyle/>
          <a:p>
            <a:r>
              <a:rPr lang="en-US" dirty="0"/>
              <a:t>The term “Artificial Intelligence” was used for the first time in 1956 by an American scientist John McCarthy who is referred to as the Father of AI.</a:t>
            </a:r>
          </a:p>
          <a:p>
            <a:r>
              <a:rPr lang="en-US" dirty="0"/>
              <a:t>McCarthy also come up with a programming language called LISP (i.e. List-Processing), which is still used to program computer in AI that allow the computer to learn.</a:t>
            </a:r>
          </a:p>
          <a:p>
            <a:r>
              <a:rPr lang="en-US" dirty="0"/>
              <a:t>Further, the major achievements can be listed as below:</a:t>
            </a:r>
          </a:p>
        </p:txBody>
      </p:sp>
    </p:spTree>
    <p:extLst>
      <p:ext uri="{BB962C8B-B14F-4D97-AF65-F5344CB8AC3E}">
        <p14:creationId xmlns:p14="http://schemas.microsoft.com/office/powerpoint/2010/main" val="1935775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0395"/>
          </a:xfrm>
        </p:spPr>
        <p:txBody>
          <a:bodyPr>
            <a:normAutofit fontScale="90000"/>
          </a:bodyPr>
          <a:lstStyle/>
          <a:p>
            <a:r>
              <a:rPr lang="en-US" dirty="0"/>
              <a:t>Brief History of AI</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4530" y="1127760"/>
            <a:ext cx="10515600" cy="5433284"/>
          </a:xfrm>
        </p:spPr>
      </p:pic>
    </p:spTree>
    <p:extLst>
      <p:ext uri="{BB962C8B-B14F-4D97-AF65-F5344CB8AC3E}">
        <p14:creationId xmlns:p14="http://schemas.microsoft.com/office/powerpoint/2010/main" val="763311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0981"/>
          </a:xfrm>
        </p:spPr>
        <p:txBody>
          <a:bodyPr/>
          <a:lstStyle/>
          <a:p>
            <a:r>
              <a:rPr lang="en-US" dirty="0"/>
              <a:t>Brief History of AI</a:t>
            </a:r>
          </a:p>
        </p:txBody>
      </p:sp>
      <p:pic>
        <p:nvPicPr>
          <p:cNvPr id="4" name="Content Placeholder 3"/>
          <p:cNvPicPr>
            <a:picLocks noGrp="1" noChangeAspect="1"/>
          </p:cNvPicPr>
          <p:nvPr>
            <p:ph idx="1"/>
          </p:nvPr>
        </p:nvPicPr>
        <p:blipFill>
          <a:blip r:embed="rId2"/>
          <a:stretch>
            <a:fillRect/>
          </a:stretch>
        </p:blipFill>
        <p:spPr>
          <a:xfrm>
            <a:off x="939482" y="1397000"/>
            <a:ext cx="9708198" cy="4064000"/>
          </a:xfrm>
          <a:prstGeom prst="rect">
            <a:avLst/>
          </a:prstGeom>
        </p:spPr>
      </p:pic>
    </p:spTree>
    <p:extLst>
      <p:ext uri="{BB962C8B-B14F-4D97-AF65-F5344CB8AC3E}">
        <p14:creationId xmlns:p14="http://schemas.microsoft.com/office/powerpoint/2010/main" val="329459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Brief History of AI</a:t>
            </a:r>
          </a:p>
        </p:txBody>
      </p:sp>
      <p:pic>
        <p:nvPicPr>
          <p:cNvPr id="4" name="Content Placeholder 3"/>
          <p:cNvPicPr>
            <a:picLocks noGrp="1" noChangeAspect="1"/>
          </p:cNvPicPr>
          <p:nvPr>
            <p:ph idx="1"/>
          </p:nvPr>
        </p:nvPicPr>
        <p:blipFill>
          <a:blip r:embed="rId2"/>
          <a:stretch>
            <a:fillRect/>
          </a:stretch>
        </p:blipFill>
        <p:spPr>
          <a:xfrm>
            <a:off x="838200" y="1560719"/>
            <a:ext cx="9610165" cy="4766469"/>
          </a:xfrm>
          <a:prstGeom prst="rect">
            <a:avLst/>
          </a:prstGeom>
        </p:spPr>
      </p:pic>
    </p:spTree>
    <p:extLst>
      <p:ext uri="{BB962C8B-B14F-4D97-AF65-F5344CB8AC3E}">
        <p14:creationId xmlns:p14="http://schemas.microsoft.com/office/powerpoint/2010/main" val="3329330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FE62-D944-E3A6-86AF-0A2134981E03}"/>
              </a:ext>
            </a:extLst>
          </p:cNvPr>
          <p:cNvSpPr>
            <a:spLocks noGrp="1"/>
          </p:cNvSpPr>
          <p:nvPr>
            <p:ph type="title"/>
          </p:nvPr>
        </p:nvSpPr>
        <p:spPr/>
        <p:txBody>
          <a:bodyPr/>
          <a:lstStyle/>
          <a:p>
            <a:r>
              <a:rPr lang="en-US" dirty="0"/>
              <a:t>Brief History of AI</a:t>
            </a:r>
          </a:p>
        </p:txBody>
      </p:sp>
      <p:graphicFrame>
        <p:nvGraphicFramePr>
          <p:cNvPr id="4" name="Content Placeholder 3">
            <a:extLst>
              <a:ext uri="{FF2B5EF4-FFF2-40B4-BE49-F238E27FC236}">
                <a16:creationId xmlns:a16="http://schemas.microsoft.com/office/drawing/2014/main" id="{7C0E5D77-FBF5-A1A4-04A8-5096DE569ED3}"/>
              </a:ext>
            </a:extLst>
          </p:cNvPr>
          <p:cNvGraphicFramePr>
            <a:graphicFrameLocks noGrp="1"/>
          </p:cNvGraphicFramePr>
          <p:nvPr>
            <p:ph idx="1"/>
            <p:extLst>
              <p:ext uri="{D42A27DB-BD31-4B8C-83A1-F6EECF244321}">
                <p14:modId xmlns:p14="http://schemas.microsoft.com/office/powerpoint/2010/main" val="3896635125"/>
              </p:ext>
            </p:extLst>
          </p:nvPr>
        </p:nvGraphicFramePr>
        <p:xfrm>
          <a:off x="838200" y="1825625"/>
          <a:ext cx="10515600" cy="38455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97924453"/>
                    </a:ext>
                  </a:extLst>
                </a:gridCol>
                <a:gridCol w="5257800">
                  <a:extLst>
                    <a:ext uri="{9D8B030D-6E8A-4147-A177-3AD203B41FA5}">
                      <a16:colId xmlns:a16="http://schemas.microsoft.com/office/drawing/2014/main" val="708773628"/>
                    </a:ext>
                  </a:extLst>
                </a:gridCol>
              </a:tblGrid>
              <a:tr h="370840">
                <a:tc>
                  <a:txBody>
                    <a:bodyPr/>
                    <a:lstStyle/>
                    <a:p>
                      <a:r>
                        <a:rPr lang="en-US" dirty="0"/>
                        <a:t>2016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lt1"/>
                          </a:solidFill>
                          <a:effectLst/>
                          <a:latin typeface="+mn-lt"/>
                          <a:ea typeface="+mn-ea"/>
                          <a:cs typeface="+mn-cs"/>
                        </a:rPr>
                        <a:t>The AI audio generator </a:t>
                      </a:r>
                      <a:r>
                        <a:rPr lang="en-US" sz="1800" b="0" i="0" kern="1200" dirty="0" err="1">
                          <a:solidFill>
                            <a:schemeClr val="lt1"/>
                          </a:solidFill>
                          <a:effectLst/>
                          <a:latin typeface="+mn-lt"/>
                          <a:ea typeface="+mn-ea"/>
                          <a:cs typeface="+mn-cs"/>
                        </a:rPr>
                        <a:t>WaveNet</a:t>
                      </a:r>
                      <a:r>
                        <a:rPr lang="en-US" sz="1800" b="0" i="0" kern="1200" dirty="0">
                          <a:solidFill>
                            <a:schemeClr val="lt1"/>
                          </a:solidFill>
                          <a:effectLst/>
                          <a:latin typeface="+mn-lt"/>
                          <a:ea typeface="+mn-ea"/>
                          <a:cs typeface="+mn-cs"/>
                        </a:rPr>
                        <a:t> is launched </a:t>
                      </a:r>
                    </a:p>
                    <a:p>
                      <a:endParaRPr lang="en-US" dirty="0"/>
                    </a:p>
                  </a:txBody>
                  <a:tcPr/>
                </a:tc>
                <a:extLst>
                  <a:ext uri="{0D108BD9-81ED-4DB2-BD59-A6C34878D82A}">
                    <a16:rowId xmlns:a16="http://schemas.microsoft.com/office/drawing/2014/main" val="3104522177"/>
                  </a:ext>
                </a:extLst>
              </a:tr>
              <a:tr h="370840">
                <a:tc>
                  <a:txBody>
                    <a:bodyPr/>
                    <a:lstStyle/>
                    <a:p>
                      <a:r>
                        <a:rPr lang="en-US" dirty="0"/>
                        <a:t>2017</a:t>
                      </a:r>
                    </a:p>
                  </a:txBody>
                  <a:tcPr/>
                </a:tc>
                <a:tc>
                  <a:txBody>
                    <a:bodyPr/>
                    <a:lstStyle/>
                    <a:p>
                      <a:r>
                        <a:rPr lang="en-US" sz="1800" b="0" i="0" kern="1200" dirty="0">
                          <a:solidFill>
                            <a:schemeClr val="dk1"/>
                          </a:solidFill>
                          <a:effectLst/>
                          <a:latin typeface="+mn-lt"/>
                          <a:ea typeface="+mn-ea"/>
                          <a:cs typeface="+mn-cs"/>
                        </a:rPr>
                        <a:t>The birth of </a:t>
                      </a:r>
                      <a:r>
                        <a:rPr lang="en-US" sz="1800" b="0" i="0" kern="1200">
                          <a:solidFill>
                            <a:schemeClr val="dk1"/>
                          </a:solidFill>
                          <a:effectLst/>
                          <a:latin typeface="+mn-lt"/>
                          <a:ea typeface="+mn-ea"/>
                          <a:cs typeface="+mn-cs"/>
                        </a:rPr>
                        <a:t>deepfakes </a:t>
                      </a:r>
                      <a:endParaRPr lang="en-US"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4174358962"/>
                  </a:ext>
                </a:extLst>
              </a:tr>
              <a:tr h="370840">
                <a:tc>
                  <a:txBody>
                    <a:bodyPr/>
                    <a:lstStyle/>
                    <a:p>
                      <a:r>
                        <a:rPr lang="en-US" dirty="0"/>
                        <a:t>2017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first ‘Transformer’ lays the technological foundation for large language models (LLMs)</a:t>
                      </a:r>
                    </a:p>
                    <a:p>
                      <a:endParaRPr lang="en-US" dirty="0"/>
                    </a:p>
                  </a:txBody>
                  <a:tcPr/>
                </a:tc>
                <a:extLst>
                  <a:ext uri="{0D108BD9-81ED-4DB2-BD59-A6C34878D82A}">
                    <a16:rowId xmlns:a16="http://schemas.microsoft.com/office/drawing/2014/main" val="984912318"/>
                  </a:ext>
                </a:extLst>
              </a:tr>
              <a:tr h="370840">
                <a:tc>
                  <a:txBody>
                    <a:bodyPr/>
                    <a:lstStyle/>
                    <a:p>
                      <a:r>
                        <a:rPr lang="en-US" dirty="0"/>
                        <a:t>2018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OpenAI releases GPT-1</a:t>
                      </a:r>
                    </a:p>
                    <a:p>
                      <a:endParaRPr lang="en-US" dirty="0"/>
                    </a:p>
                  </a:txBody>
                  <a:tcPr/>
                </a:tc>
                <a:extLst>
                  <a:ext uri="{0D108BD9-81ED-4DB2-BD59-A6C34878D82A}">
                    <a16:rowId xmlns:a16="http://schemas.microsoft.com/office/drawing/2014/main" val="2186094327"/>
                  </a:ext>
                </a:extLst>
              </a:tr>
              <a:tr h="370840">
                <a:tc>
                  <a:txBody>
                    <a:bodyPr/>
                    <a:lstStyle/>
                    <a:p>
                      <a:r>
                        <a:rPr lang="en-US" dirty="0"/>
                        <a:t>2020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Generative AI goes mainstream (GPT-3.5)</a:t>
                      </a:r>
                    </a:p>
                    <a:p>
                      <a:endParaRPr lang="en-US" dirty="0"/>
                    </a:p>
                  </a:txBody>
                  <a:tcPr/>
                </a:tc>
                <a:extLst>
                  <a:ext uri="{0D108BD9-81ED-4DB2-BD59-A6C34878D82A}">
                    <a16:rowId xmlns:a16="http://schemas.microsoft.com/office/drawing/2014/main" val="2306747967"/>
                  </a:ext>
                </a:extLst>
              </a:tr>
              <a:tr h="370840">
                <a:tc>
                  <a:txBody>
                    <a:bodyPr/>
                    <a:lstStyle/>
                    <a:p>
                      <a:r>
                        <a:rPr lang="en-US" dirty="0"/>
                        <a:t>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release of Chat GPT-4</a:t>
                      </a:r>
                    </a:p>
                    <a:p>
                      <a:endParaRPr lang="en-US" dirty="0"/>
                    </a:p>
                  </a:txBody>
                  <a:tcPr/>
                </a:tc>
                <a:extLst>
                  <a:ext uri="{0D108BD9-81ED-4DB2-BD59-A6C34878D82A}">
                    <a16:rowId xmlns:a16="http://schemas.microsoft.com/office/drawing/2014/main" val="2833910349"/>
                  </a:ext>
                </a:extLst>
              </a:tr>
            </a:tbl>
          </a:graphicData>
        </a:graphic>
      </p:graphicFrame>
    </p:spTree>
    <p:extLst>
      <p:ext uri="{BB962C8B-B14F-4D97-AF65-F5344CB8AC3E}">
        <p14:creationId xmlns:p14="http://schemas.microsoft.com/office/powerpoint/2010/main" val="245738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8C1A-9DCD-F7AE-5B8A-57E7E78B2402}"/>
              </a:ext>
            </a:extLst>
          </p:cNvPr>
          <p:cNvSpPr>
            <a:spLocks noGrp="1"/>
          </p:cNvSpPr>
          <p:nvPr>
            <p:ph type="title"/>
          </p:nvPr>
        </p:nvSpPr>
        <p:spPr/>
        <p:txBody>
          <a:bodyPr/>
          <a:lstStyle/>
          <a:p>
            <a:r>
              <a:rPr lang="en-US" dirty="0"/>
              <a:t>Brief History of AI</a:t>
            </a:r>
          </a:p>
        </p:txBody>
      </p:sp>
      <p:sp>
        <p:nvSpPr>
          <p:cNvPr id="3" name="Content Placeholder 2">
            <a:extLst>
              <a:ext uri="{FF2B5EF4-FFF2-40B4-BE49-F238E27FC236}">
                <a16:creationId xmlns:a16="http://schemas.microsoft.com/office/drawing/2014/main" id="{FA3C796F-C52D-2AD8-B1F2-70A9830888A4}"/>
              </a:ext>
            </a:extLst>
          </p:cNvPr>
          <p:cNvSpPr>
            <a:spLocks noGrp="1"/>
          </p:cNvSpPr>
          <p:nvPr>
            <p:ph idx="1"/>
          </p:nvPr>
        </p:nvSpPr>
        <p:spPr>
          <a:xfrm>
            <a:off x="838200" y="1503680"/>
            <a:ext cx="10515600" cy="4673283"/>
          </a:xfrm>
        </p:spPr>
        <p:txBody>
          <a:bodyPr>
            <a:normAutofit/>
          </a:bodyPr>
          <a:lstStyle/>
          <a:p>
            <a:pPr algn="just"/>
            <a:r>
              <a:rPr lang="en-US" dirty="0"/>
              <a:t>Key Recent Developments in AI (2024–2025):</a:t>
            </a:r>
          </a:p>
          <a:p>
            <a:pPr algn="just"/>
            <a:r>
              <a:rPr lang="en-US" dirty="0"/>
              <a:t>Rise of “Agentic AI” and Autonomous AI Agents:</a:t>
            </a:r>
          </a:p>
          <a:p>
            <a:pPr algn="just">
              <a:buFont typeface="Wingdings" panose="05000000000000000000" pitchFamily="2" charset="2"/>
              <a:buChar char="Ø"/>
            </a:pPr>
            <a:r>
              <a:rPr lang="en-US" dirty="0"/>
              <a:t>Example: Manus AI, described as capable of reasoning, planning,  performing end-to-end tasks across domains like healthcare, manufacturing, robotics.</a:t>
            </a:r>
          </a:p>
          <a:p>
            <a:pPr algn="just"/>
            <a:r>
              <a:rPr lang="en-US" dirty="0"/>
              <a:t>AI + Biotechnology and Science Integration</a:t>
            </a:r>
          </a:p>
          <a:p>
            <a:pPr algn="just">
              <a:buFont typeface="Wingdings" panose="05000000000000000000" pitchFamily="2" charset="2"/>
              <a:buChar char="Ø"/>
            </a:pPr>
            <a:r>
              <a:rPr lang="en-US" dirty="0"/>
              <a:t>Example: After Fourth Industrial Revolution (4IR) and 5</a:t>
            </a:r>
            <a:r>
              <a:rPr lang="en-US" baseline="30000" dirty="0"/>
              <a:t>th</a:t>
            </a:r>
            <a:r>
              <a:rPr lang="en-US" dirty="0"/>
              <a:t> Biotech Revolution (Biotech 5.0), AI is now actively being used to accelerate breakthroughs in biotechnology and medicine speeding up drug design, genomics (gene editing), diagnostics, and other biotech areas.</a:t>
            </a:r>
          </a:p>
          <a:p>
            <a:endParaRPr lang="en-US" dirty="0"/>
          </a:p>
        </p:txBody>
      </p:sp>
    </p:spTree>
    <p:extLst>
      <p:ext uri="{BB962C8B-B14F-4D97-AF65-F5344CB8AC3E}">
        <p14:creationId xmlns:p14="http://schemas.microsoft.com/office/powerpoint/2010/main" val="2094399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1835"/>
          </a:xfrm>
        </p:spPr>
        <p:txBody>
          <a:bodyPr/>
          <a:lstStyle/>
          <a:p>
            <a:r>
              <a:rPr lang="en-US" dirty="0"/>
              <a:t>1.2 Definition and Importance of Knowledge</a:t>
            </a:r>
          </a:p>
        </p:txBody>
      </p:sp>
      <p:sp>
        <p:nvSpPr>
          <p:cNvPr id="3" name="Content Placeholder 2"/>
          <p:cNvSpPr>
            <a:spLocks noGrp="1"/>
          </p:cNvSpPr>
          <p:nvPr>
            <p:ph idx="1"/>
          </p:nvPr>
        </p:nvSpPr>
        <p:spPr>
          <a:xfrm>
            <a:off x="838200" y="1229360"/>
            <a:ext cx="10515600" cy="5263515"/>
          </a:xfrm>
        </p:spPr>
        <p:txBody>
          <a:bodyPr>
            <a:normAutofit fontScale="92500"/>
          </a:bodyPr>
          <a:lstStyle/>
          <a:p>
            <a:pPr marL="0" indent="0">
              <a:buNone/>
            </a:pPr>
            <a:r>
              <a:rPr lang="en-US" b="1" dirty="0"/>
              <a:t>Knowledge Definition</a:t>
            </a:r>
          </a:p>
          <a:p>
            <a:pPr algn="just">
              <a:buFont typeface="Wingdings" panose="05000000000000000000" pitchFamily="2" charset="2"/>
              <a:buChar char="Ø"/>
            </a:pPr>
            <a:r>
              <a:rPr lang="en-US" dirty="0"/>
              <a:t>“The fact or condition of </a:t>
            </a:r>
            <a:r>
              <a:rPr lang="en-US" i="1" dirty="0"/>
              <a:t>knowing something </a:t>
            </a:r>
            <a:r>
              <a:rPr lang="en-US" dirty="0"/>
              <a:t>with familiarity gained through experience or association.” (Webster’s Dictionary, 1988)(Knowing something via seeing, hearing, touching, feeling, and tasting)</a:t>
            </a:r>
          </a:p>
          <a:p>
            <a:pPr algn="just">
              <a:buFont typeface="Wingdings" panose="05000000000000000000" pitchFamily="2" charset="2"/>
              <a:buChar char="Ø"/>
            </a:pPr>
            <a:r>
              <a:rPr lang="en-US" dirty="0"/>
              <a:t>“The fact or condition of </a:t>
            </a:r>
            <a:r>
              <a:rPr lang="en-US" i="1" dirty="0"/>
              <a:t>being aware of </a:t>
            </a:r>
            <a:r>
              <a:rPr lang="en-US" dirty="0"/>
              <a:t>something” . (Ex. Sun is hot, balls are round, sky is blue,…).</a:t>
            </a:r>
          </a:p>
          <a:p>
            <a:pPr marL="0" indent="0">
              <a:buNone/>
            </a:pPr>
            <a:r>
              <a:rPr lang="en-US" b="1" dirty="0"/>
              <a:t>Knowledge Storing</a:t>
            </a:r>
          </a:p>
          <a:p>
            <a:pPr>
              <a:buFont typeface="Wingdings" panose="05000000000000000000" pitchFamily="2" charset="2"/>
              <a:buChar char="Ø"/>
            </a:pPr>
            <a:r>
              <a:rPr lang="en-US" dirty="0"/>
              <a:t>Natural language for people:</a:t>
            </a:r>
          </a:p>
          <a:p>
            <a:pPr algn="just"/>
            <a:r>
              <a:rPr lang="en-US" dirty="0"/>
              <a:t> Symbols for computer: a number or character string that represents an object or idea (Internal representation of the knowledge).</a:t>
            </a:r>
          </a:p>
          <a:p>
            <a:pPr marL="0" indent="0" algn="just">
              <a:buNone/>
            </a:pPr>
            <a:r>
              <a:rPr lang="en-US" dirty="0"/>
              <a:t>• The core concepts: mapping from facts to an internal computer    representation and also to a form that people can understand.</a:t>
            </a:r>
          </a:p>
          <a:p>
            <a:pPr algn="just">
              <a:buFont typeface="Wingdings" panose="05000000000000000000" pitchFamily="2" charset="2"/>
              <a:buChar char="Ø"/>
            </a:pPr>
            <a:endParaRPr lang="en-US" dirty="0"/>
          </a:p>
        </p:txBody>
      </p:sp>
    </p:spTree>
    <p:extLst>
      <p:ext uri="{BB962C8B-B14F-4D97-AF65-F5344CB8AC3E}">
        <p14:creationId xmlns:p14="http://schemas.microsoft.com/office/powerpoint/2010/main" val="22555036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and Importance of Knowledge</a:t>
            </a:r>
          </a:p>
        </p:txBody>
      </p:sp>
      <p:sp>
        <p:nvSpPr>
          <p:cNvPr id="3" name="Content Placeholder 2"/>
          <p:cNvSpPr>
            <a:spLocks noGrp="1"/>
          </p:cNvSpPr>
          <p:nvPr>
            <p:ph idx="1"/>
          </p:nvPr>
        </p:nvSpPr>
        <p:spPr/>
        <p:txBody>
          <a:bodyPr>
            <a:normAutofit/>
          </a:bodyPr>
          <a:lstStyle/>
          <a:p>
            <a:pPr marL="0" indent="0">
              <a:buNone/>
            </a:pPr>
            <a:r>
              <a:rPr lang="en-US" b="1" dirty="0"/>
              <a:t>Knowledge Representation</a:t>
            </a:r>
          </a:p>
          <a:p>
            <a:r>
              <a:rPr lang="en-US" dirty="0"/>
              <a:t>Simple facts or complex relationships</a:t>
            </a:r>
          </a:p>
          <a:p>
            <a:r>
              <a:rPr lang="en-US" dirty="0"/>
              <a:t>Mathematical formulas </a:t>
            </a:r>
          </a:p>
          <a:p>
            <a:r>
              <a:rPr lang="en-US" dirty="0"/>
              <a:t>Associations between related concepts </a:t>
            </a:r>
          </a:p>
          <a:p>
            <a:r>
              <a:rPr lang="en-US" dirty="0"/>
              <a:t>Inheritance hierarchies between classes of objects</a:t>
            </a:r>
          </a:p>
        </p:txBody>
      </p:sp>
    </p:spTree>
    <p:extLst>
      <p:ext uri="{BB962C8B-B14F-4D97-AF65-F5344CB8AC3E}">
        <p14:creationId xmlns:p14="http://schemas.microsoft.com/office/powerpoint/2010/main" val="3570421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8918" y="351677"/>
            <a:ext cx="10515600" cy="1325563"/>
          </a:xfrm>
        </p:spPr>
        <p:txBody>
          <a:bodyPr/>
          <a:lstStyle/>
          <a:p>
            <a:r>
              <a:rPr lang="en-US" dirty="0"/>
              <a:t>Definition and Importance of Knowledge</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Knowledge</a:t>
            </a:r>
            <a:endParaRPr lang="en-US" dirty="0"/>
          </a:p>
          <a:p>
            <a:r>
              <a:rPr lang="en-US" dirty="0"/>
              <a:t>Note: </a:t>
            </a:r>
            <a:r>
              <a:rPr lang="en-US" i="1" dirty="0"/>
              <a:t>knowledge != data.</a:t>
            </a:r>
          </a:p>
          <a:p>
            <a:pPr marL="0" indent="0">
              <a:buNone/>
            </a:pPr>
            <a:r>
              <a:rPr lang="en-US" dirty="0"/>
              <a:t>Example: determining voltage from current and resistance</a:t>
            </a:r>
          </a:p>
          <a:p>
            <a:pPr marL="0" indent="0">
              <a:buNone/>
            </a:pPr>
            <a:endParaRPr lang="en-US" dirty="0"/>
          </a:p>
          <a:p>
            <a:endParaRPr lang="en-US" dirty="0"/>
          </a:p>
          <a:p>
            <a:endParaRPr lang="en-US" dirty="0"/>
          </a:p>
          <a:p>
            <a:endParaRPr lang="en-US" dirty="0"/>
          </a:p>
          <a:p>
            <a:endParaRPr lang="en-US" dirty="0"/>
          </a:p>
          <a:p>
            <a:pPr algn="just"/>
            <a:r>
              <a:rPr lang="en-US" dirty="0"/>
              <a:t>Knowledge is </a:t>
            </a:r>
            <a:r>
              <a:rPr lang="en-US" i="1" dirty="0"/>
              <a:t>more compact </a:t>
            </a:r>
            <a:r>
              <a:rPr lang="en-US" dirty="0"/>
              <a:t>and </a:t>
            </a:r>
            <a:r>
              <a:rPr lang="en-US" i="1" dirty="0"/>
              <a:t>faster to manipulate.</a:t>
            </a:r>
          </a:p>
          <a:p>
            <a:pPr algn="just"/>
            <a:r>
              <a:rPr lang="en-US" dirty="0"/>
              <a:t>Knowledge is </a:t>
            </a:r>
            <a:r>
              <a:rPr lang="en-US" i="1" dirty="0"/>
              <a:t>more general </a:t>
            </a:r>
            <a:r>
              <a:rPr lang="en-US" dirty="0"/>
              <a:t>(that is, may be applied to situations we have </a:t>
            </a:r>
            <a:r>
              <a:rPr lang="en-US" i="1" dirty="0"/>
              <a:t>not </a:t>
            </a:r>
            <a:r>
              <a:rPr lang="en-US" dirty="0"/>
              <a:t>been programmed for).</a:t>
            </a:r>
          </a:p>
          <a:p>
            <a:pPr algn="just"/>
            <a:r>
              <a:rPr lang="en-US" dirty="0"/>
              <a:t> Important feature of intelligence: </a:t>
            </a:r>
            <a:r>
              <a:rPr lang="en-US" i="1" dirty="0"/>
              <a:t>creating knowledge </a:t>
            </a:r>
            <a:r>
              <a:rPr lang="en-US" dirty="0"/>
              <a:t>from data.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7261" y="2993544"/>
            <a:ext cx="2553056" cy="1543265"/>
          </a:xfrm>
          <a:prstGeom prst="rect">
            <a:avLst/>
          </a:prstGeom>
        </p:spPr>
      </p:pic>
    </p:spTree>
    <p:extLst>
      <p:ext uri="{BB962C8B-B14F-4D97-AF65-F5344CB8AC3E}">
        <p14:creationId xmlns:p14="http://schemas.microsoft.com/office/powerpoint/2010/main" val="2044938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E6E61-11D2-BAA0-47DF-5BC495553E38}"/>
              </a:ext>
            </a:extLst>
          </p:cNvPr>
          <p:cNvSpPr>
            <a:spLocks noGrp="1"/>
          </p:cNvSpPr>
          <p:nvPr>
            <p:ph type="title"/>
          </p:nvPr>
        </p:nvSpPr>
        <p:spPr/>
        <p:txBody>
          <a:bodyPr/>
          <a:lstStyle/>
          <a:p>
            <a:r>
              <a:rPr lang="en-US" dirty="0"/>
              <a:t>DIKW: Pyramid</a:t>
            </a:r>
          </a:p>
        </p:txBody>
      </p:sp>
      <p:pic>
        <p:nvPicPr>
          <p:cNvPr id="5" name="Content Placeholder 4">
            <a:extLst>
              <a:ext uri="{FF2B5EF4-FFF2-40B4-BE49-F238E27FC236}">
                <a16:creationId xmlns:a16="http://schemas.microsoft.com/office/drawing/2014/main" id="{F22EE4B4-EA0D-3251-0150-AAD15DB76303}"/>
              </a:ext>
            </a:extLst>
          </p:cNvPr>
          <p:cNvPicPr>
            <a:picLocks noGrp="1" noChangeAspect="1"/>
          </p:cNvPicPr>
          <p:nvPr>
            <p:ph idx="1"/>
          </p:nvPr>
        </p:nvPicPr>
        <p:blipFill>
          <a:blip r:embed="rId2"/>
          <a:stretch>
            <a:fillRect/>
          </a:stretch>
        </p:blipFill>
        <p:spPr>
          <a:xfrm>
            <a:off x="1981200" y="1644016"/>
            <a:ext cx="7233920" cy="3866832"/>
          </a:xfrm>
          <a:prstGeom prst="rect">
            <a:avLst/>
          </a:prstGeom>
        </p:spPr>
      </p:pic>
      <p:sp>
        <p:nvSpPr>
          <p:cNvPr id="7" name="TextBox 6">
            <a:extLst>
              <a:ext uri="{FF2B5EF4-FFF2-40B4-BE49-F238E27FC236}">
                <a16:creationId xmlns:a16="http://schemas.microsoft.com/office/drawing/2014/main" id="{93E9F97F-8C8F-C63C-FE27-6272A2D15693}"/>
              </a:ext>
            </a:extLst>
          </p:cNvPr>
          <p:cNvSpPr txBox="1"/>
          <p:nvPr/>
        </p:nvSpPr>
        <p:spPr>
          <a:xfrm>
            <a:off x="838200" y="5737275"/>
            <a:ext cx="10988040" cy="369332"/>
          </a:xfrm>
          <a:prstGeom prst="rect">
            <a:avLst/>
          </a:prstGeom>
          <a:noFill/>
        </p:spPr>
        <p:txBody>
          <a:bodyPr wrap="square">
            <a:spAutoFit/>
          </a:bodyPr>
          <a:lstStyle/>
          <a:p>
            <a:pPr marL="285750" indent="-285750" algn="just">
              <a:buFont typeface="Arial" panose="020B0604020202020204" pitchFamily="34" charset="0"/>
              <a:buChar char="•"/>
            </a:pPr>
            <a:r>
              <a:rPr lang="en-US" dirty="0"/>
              <a:t>The DIKW Pyramid explains how raw data becomes meaningful insight and ultimately intelligent decision-making.</a:t>
            </a:r>
          </a:p>
        </p:txBody>
      </p:sp>
    </p:spTree>
    <p:extLst>
      <p:ext uri="{BB962C8B-B14F-4D97-AF65-F5344CB8AC3E}">
        <p14:creationId xmlns:p14="http://schemas.microsoft.com/office/powerpoint/2010/main" val="2622406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7695-C4CA-E85A-8D89-E4D825D045C7}"/>
              </a:ext>
            </a:extLst>
          </p:cNvPr>
          <p:cNvSpPr>
            <a:spLocks noGrp="1"/>
          </p:cNvSpPr>
          <p:nvPr>
            <p:ph type="title"/>
          </p:nvPr>
        </p:nvSpPr>
        <p:spPr/>
        <p:txBody>
          <a:bodyPr/>
          <a:lstStyle/>
          <a:p>
            <a:r>
              <a:rPr lang="en-US" dirty="0"/>
              <a:t>DIKW: Pyramid</a:t>
            </a:r>
          </a:p>
        </p:txBody>
      </p:sp>
      <p:sp>
        <p:nvSpPr>
          <p:cNvPr id="3" name="Content Placeholder 2">
            <a:extLst>
              <a:ext uri="{FF2B5EF4-FFF2-40B4-BE49-F238E27FC236}">
                <a16:creationId xmlns:a16="http://schemas.microsoft.com/office/drawing/2014/main" id="{7B5AA82A-2A82-E458-9419-C8F6ABCBFCD4}"/>
              </a:ext>
            </a:extLst>
          </p:cNvPr>
          <p:cNvSpPr>
            <a:spLocks noGrp="1"/>
          </p:cNvSpPr>
          <p:nvPr>
            <p:ph idx="1"/>
          </p:nvPr>
        </p:nvSpPr>
        <p:spPr>
          <a:xfrm>
            <a:off x="838200" y="1503680"/>
            <a:ext cx="10515600" cy="4765040"/>
          </a:xfrm>
        </p:spPr>
        <p:txBody>
          <a:bodyPr>
            <a:normAutofit lnSpcReduction="10000"/>
          </a:bodyPr>
          <a:lstStyle/>
          <a:p>
            <a:pPr marL="0" indent="0" algn="just">
              <a:buNone/>
            </a:pPr>
            <a:r>
              <a:rPr lang="en-US" dirty="0"/>
              <a:t>1. Data (Raw Facts)</a:t>
            </a:r>
          </a:p>
          <a:p>
            <a:pPr algn="just">
              <a:buFont typeface="Wingdings" panose="05000000000000000000" pitchFamily="2" charset="2"/>
              <a:buChar char="Ø"/>
            </a:pPr>
            <a:r>
              <a:rPr lang="en-US" dirty="0"/>
              <a:t>Unprocessed, unstructured raw inputs collected from various sources such as sensors, user inputs, etc.</a:t>
            </a:r>
          </a:p>
          <a:p>
            <a:pPr algn="just">
              <a:buFont typeface="Wingdings" panose="05000000000000000000" pitchFamily="2" charset="2"/>
              <a:buChar char="Ø"/>
            </a:pPr>
            <a:r>
              <a:rPr lang="en-US" dirty="0"/>
              <a:t>Does not have meaning on its own</a:t>
            </a:r>
          </a:p>
          <a:p>
            <a:pPr algn="just">
              <a:buFont typeface="Wingdings" panose="05000000000000000000" pitchFamily="2" charset="2"/>
              <a:buChar char="Ø"/>
            </a:pPr>
            <a:r>
              <a:rPr lang="en-US" dirty="0"/>
              <a:t>Example</a:t>
            </a:r>
            <a:r>
              <a:rPr lang="en-US" b="1" dirty="0"/>
              <a:t>: </a:t>
            </a:r>
            <a:r>
              <a:rPr lang="en-US" dirty="0"/>
              <a:t>Temperature readings: 32, 35, 33</a:t>
            </a:r>
          </a:p>
          <a:p>
            <a:pPr marL="0" indent="0" algn="just">
              <a:buNone/>
            </a:pPr>
            <a:r>
              <a:rPr lang="en-US" dirty="0"/>
              <a:t>2. Information (Processed Data)</a:t>
            </a:r>
          </a:p>
          <a:p>
            <a:pPr algn="just">
              <a:buFont typeface="Wingdings" panose="05000000000000000000" pitchFamily="2" charset="2"/>
              <a:buChar char="Ø"/>
            </a:pPr>
            <a:r>
              <a:rPr lang="en-US" dirty="0"/>
              <a:t>Data organized to provide meaning i.e. data that is cleaned, structured, and labeled</a:t>
            </a:r>
          </a:p>
          <a:p>
            <a:pPr algn="just">
              <a:buFont typeface="Wingdings" panose="05000000000000000000" pitchFamily="2" charset="2"/>
              <a:buChar char="Ø"/>
            </a:pPr>
            <a:r>
              <a:rPr lang="en-US" dirty="0"/>
              <a:t>It helps in pattern recognition.</a:t>
            </a:r>
          </a:p>
          <a:p>
            <a:pPr algn="just">
              <a:buFont typeface="Wingdings" panose="05000000000000000000" pitchFamily="2" charset="2"/>
              <a:buChar char="Ø"/>
            </a:pPr>
            <a:r>
              <a:rPr lang="en-US" dirty="0"/>
              <a:t>Example: Average temperature today is 33°C.</a:t>
            </a:r>
          </a:p>
          <a:p>
            <a:pPr marL="0" indent="0">
              <a:buNone/>
            </a:pPr>
            <a:endParaRPr lang="en-US" dirty="0"/>
          </a:p>
        </p:txBody>
      </p:sp>
    </p:spTree>
    <p:extLst>
      <p:ext uri="{BB962C8B-B14F-4D97-AF65-F5344CB8AC3E}">
        <p14:creationId xmlns:p14="http://schemas.microsoft.com/office/powerpoint/2010/main" val="4158748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F624-8189-6E36-0D25-5D87A1E0EEA0}"/>
              </a:ext>
            </a:extLst>
          </p:cNvPr>
          <p:cNvSpPr>
            <a:spLocks noGrp="1"/>
          </p:cNvSpPr>
          <p:nvPr>
            <p:ph type="title"/>
          </p:nvPr>
        </p:nvSpPr>
        <p:spPr/>
        <p:txBody>
          <a:bodyPr/>
          <a:lstStyle/>
          <a:p>
            <a:r>
              <a:rPr lang="en-US" dirty="0"/>
              <a:t>DIKW: Pyramid</a:t>
            </a:r>
          </a:p>
        </p:txBody>
      </p:sp>
      <p:sp>
        <p:nvSpPr>
          <p:cNvPr id="3" name="Content Placeholder 2">
            <a:extLst>
              <a:ext uri="{FF2B5EF4-FFF2-40B4-BE49-F238E27FC236}">
                <a16:creationId xmlns:a16="http://schemas.microsoft.com/office/drawing/2014/main" id="{75192049-51A4-C549-38F3-7F656D4C0B07}"/>
              </a:ext>
            </a:extLst>
          </p:cNvPr>
          <p:cNvSpPr>
            <a:spLocks noGrp="1"/>
          </p:cNvSpPr>
          <p:nvPr>
            <p:ph idx="1"/>
          </p:nvPr>
        </p:nvSpPr>
        <p:spPr>
          <a:xfrm>
            <a:off x="838200" y="1690688"/>
            <a:ext cx="10515600" cy="4222432"/>
          </a:xfrm>
        </p:spPr>
        <p:txBody>
          <a:bodyPr>
            <a:normAutofit/>
          </a:bodyPr>
          <a:lstStyle/>
          <a:p>
            <a:pPr marL="0" indent="0">
              <a:buNone/>
            </a:pPr>
            <a:r>
              <a:rPr lang="en-US" dirty="0"/>
              <a:t>3. Knowledge (Understanding Patterns)</a:t>
            </a:r>
          </a:p>
          <a:p>
            <a:pPr algn="just">
              <a:buFont typeface="Wingdings" panose="05000000000000000000" pitchFamily="2" charset="2"/>
              <a:buChar char="Ø"/>
            </a:pPr>
            <a:r>
              <a:rPr lang="en-US" dirty="0"/>
              <a:t>Information combined with experience/rules that are used by machines to learn relationships from data and predict results.</a:t>
            </a:r>
          </a:p>
          <a:p>
            <a:pPr algn="just">
              <a:buFont typeface="Wingdings" panose="05000000000000000000" pitchFamily="2" charset="2"/>
              <a:buChar char="Ø"/>
            </a:pPr>
            <a:r>
              <a:rPr lang="en-US" dirty="0"/>
              <a:t>Example: If temperature &gt; 30°C, then it is hot.</a:t>
            </a:r>
          </a:p>
          <a:p>
            <a:pPr marL="0" indent="0">
              <a:buNone/>
            </a:pPr>
            <a:r>
              <a:rPr lang="en-US" dirty="0"/>
              <a:t>4. Wisdom (Decision-Making)</a:t>
            </a:r>
          </a:p>
          <a:p>
            <a:pPr algn="just">
              <a:buFont typeface="Wingdings" panose="05000000000000000000" pitchFamily="2" charset="2"/>
              <a:buChar char="Ø"/>
            </a:pPr>
            <a:r>
              <a:rPr lang="en-US" dirty="0"/>
              <a:t>Applying knowledge to make intelligent decisions such as decision making and providing recommendations.</a:t>
            </a:r>
          </a:p>
          <a:p>
            <a:pPr algn="just">
              <a:buFont typeface="Wingdings" panose="05000000000000000000" pitchFamily="2" charset="2"/>
              <a:buChar char="Ø"/>
            </a:pPr>
            <a:r>
              <a:rPr lang="en-US" dirty="0"/>
              <a:t>Example: Smart thermostat lowers temperature automatically.</a:t>
            </a:r>
          </a:p>
          <a:p>
            <a:endParaRPr lang="en-US" dirty="0"/>
          </a:p>
        </p:txBody>
      </p:sp>
    </p:spTree>
    <p:extLst>
      <p:ext uri="{BB962C8B-B14F-4D97-AF65-F5344CB8AC3E}">
        <p14:creationId xmlns:p14="http://schemas.microsoft.com/office/powerpoint/2010/main" val="3864940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49884-F870-8AAE-0A4F-8BF16CAA73C7}"/>
              </a:ext>
            </a:extLst>
          </p:cNvPr>
          <p:cNvSpPr>
            <a:spLocks noGrp="1"/>
          </p:cNvSpPr>
          <p:nvPr>
            <p:ph type="title"/>
          </p:nvPr>
        </p:nvSpPr>
        <p:spPr>
          <a:xfrm>
            <a:off x="838200" y="365125"/>
            <a:ext cx="10515600" cy="752475"/>
          </a:xfrm>
        </p:spPr>
        <p:txBody>
          <a:bodyPr/>
          <a:lstStyle/>
          <a:p>
            <a:r>
              <a:rPr lang="en-US" dirty="0"/>
              <a:t>DKIW: Pyramid</a:t>
            </a:r>
          </a:p>
        </p:txBody>
      </p:sp>
      <p:sp>
        <p:nvSpPr>
          <p:cNvPr id="3" name="Content Placeholder 2">
            <a:extLst>
              <a:ext uri="{FF2B5EF4-FFF2-40B4-BE49-F238E27FC236}">
                <a16:creationId xmlns:a16="http://schemas.microsoft.com/office/drawing/2014/main" id="{3E750F34-CFD4-6E6C-A2BC-1CB40AF87E11}"/>
              </a:ext>
            </a:extLst>
          </p:cNvPr>
          <p:cNvSpPr>
            <a:spLocks noGrp="1"/>
          </p:cNvSpPr>
          <p:nvPr>
            <p:ph idx="1"/>
          </p:nvPr>
        </p:nvSpPr>
        <p:spPr>
          <a:xfrm>
            <a:off x="838200" y="1361440"/>
            <a:ext cx="10515600" cy="5242560"/>
          </a:xfrm>
        </p:spPr>
        <p:txBody>
          <a:bodyPr>
            <a:normAutofit lnSpcReduction="10000"/>
          </a:bodyPr>
          <a:lstStyle/>
          <a:p>
            <a:pPr marL="0" indent="0" algn="just">
              <a:buNone/>
            </a:pPr>
            <a:r>
              <a:rPr lang="en-US" dirty="0"/>
              <a:t>Example 1: Smart Health Monitoring System</a:t>
            </a:r>
          </a:p>
          <a:p>
            <a:pPr algn="just">
              <a:buFont typeface="Wingdings" panose="05000000000000000000" pitchFamily="2" charset="2"/>
              <a:buChar char="Ø"/>
            </a:pPr>
            <a:r>
              <a:rPr lang="en-US" dirty="0"/>
              <a:t>Data</a:t>
            </a:r>
            <a:r>
              <a:rPr lang="en-US" b="1" dirty="0"/>
              <a:t>:</a:t>
            </a:r>
            <a:r>
              <a:rPr lang="en-US" dirty="0"/>
              <a:t> Heart rate readings (e.g., 120 bpm) </a:t>
            </a:r>
          </a:p>
          <a:p>
            <a:pPr algn="just">
              <a:buFont typeface="Wingdings" panose="05000000000000000000" pitchFamily="2" charset="2"/>
              <a:buChar char="Ø"/>
            </a:pPr>
            <a:r>
              <a:rPr lang="en-US" dirty="0"/>
              <a:t>Information</a:t>
            </a:r>
            <a:r>
              <a:rPr lang="en-US" b="1" dirty="0"/>
              <a:t>:</a:t>
            </a:r>
            <a:r>
              <a:rPr lang="en-US" dirty="0"/>
              <a:t> Heart rate is higher than normal </a:t>
            </a:r>
          </a:p>
          <a:p>
            <a:pPr algn="just">
              <a:buFont typeface="Wingdings" panose="05000000000000000000" pitchFamily="2" charset="2"/>
              <a:buChar char="Ø"/>
            </a:pPr>
            <a:r>
              <a:rPr lang="en-US" dirty="0"/>
              <a:t>Knowledge</a:t>
            </a:r>
            <a:r>
              <a:rPr lang="en-US" b="1" dirty="0"/>
              <a:t>:</a:t>
            </a:r>
            <a:r>
              <a:rPr lang="en-US" dirty="0"/>
              <a:t> High heart rate may indicate stress or illness</a:t>
            </a:r>
          </a:p>
          <a:p>
            <a:pPr algn="just">
              <a:buFont typeface="Wingdings" panose="05000000000000000000" pitchFamily="2" charset="2"/>
              <a:buChar char="Ø"/>
            </a:pPr>
            <a:r>
              <a:rPr lang="en-US" dirty="0"/>
              <a:t>Wisdom</a:t>
            </a:r>
            <a:r>
              <a:rPr lang="en-US" b="1" dirty="0"/>
              <a:t>: </a:t>
            </a:r>
            <a:r>
              <a:rPr lang="en-US" dirty="0"/>
              <a:t>Suggest to visit doctor or suggest rest</a:t>
            </a:r>
          </a:p>
          <a:p>
            <a:pPr marL="0" indent="0" algn="just">
              <a:buNone/>
            </a:pPr>
            <a:r>
              <a:rPr lang="en-US" dirty="0"/>
              <a:t>Example 2: Chatbot Based Recommendation System</a:t>
            </a:r>
          </a:p>
          <a:p>
            <a:pPr algn="just">
              <a:buFont typeface="Wingdings" panose="05000000000000000000" pitchFamily="2" charset="2"/>
              <a:buChar char="Ø"/>
            </a:pPr>
            <a:r>
              <a:rPr lang="en-US" dirty="0"/>
              <a:t>Data: Words typed into a chatbot</a:t>
            </a:r>
          </a:p>
          <a:p>
            <a:pPr algn="just">
              <a:buFont typeface="Wingdings" panose="05000000000000000000" pitchFamily="2" charset="2"/>
              <a:buChar char="Ø"/>
            </a:pPr>
            <a:r>
              <a:rPr lang="en-US" dirty="0"/>
              <a:t>Information: Text classified as “positive sentiment”</a:t>
            </a:r>
          </a:p>
          <a:p>
            <a:pPr algn="just">
              <a:buFont typeface="Wingdings" panose="05000000000000000000" pitchFamily="2" charset="2"/>
              <a:buChar char="Ø"/>
            </a:pPr>
            <a:r>
              <a:rPr lang="en-US" dirty="0"/>
              <a:t>Knowledge: Positive sentiment means customer is satisfied</a:t>
            </a:r>
          </a:p>
          <a:p>
            <a:pPr algn="just">
              <a:buFont typeface="Wingdings" panose="05000000000000000000" pitchFamily="2" charset="2"/>
              <a:buChar char="Ø"/>
            </a:pPr>
            <a:r>
              <a:rPr lang="en-US" dirty="0"/>
              <a:t>Wisdom: Recommender system suggests products to other customers as well</a:t>
            </a:r>
          </a:p>
        </p:txBody>
      </p:sp>
    </p:spTree>
    <p:extLst>
      <p:ext uri="{BB962C8B-B14F-4D97-AF65-F5344CB8AC3E}">
        <p14:creationId xmlns:p14="http://schemas.microsoft.com/office/powerpoint/2010/main" val="564178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3AD4-BAED-DF1E-0660-5AFBF3BAA153}"/>
              </a:ext>
            </a:extLst>
          </p:cNvPr>
          <p:cNvSpPr>
            <a:spLocks noGrp="1"/>
          </p:cNvSpPr>
          <p:nvPr>
            <p:ph type="title"/>
          </p:nvPr>
        </p:nvSpPr>
        <p:spPr>
          <a:xfrm>
            <a:off x="838200" y="294005"/>
            <a:ext cx="10515600" cy="518795"/>
          </a:xfrm>
        </p:spPr>
        <p:txBody>
          <a:bodyPr>
            <a:normAutofit fontScale="90000"/>
          </a:bodyPr>
          <a:lstStyle/>
          <a:p>
            <a:r>
              <a:rPr lang="en-US" dirty="0"/>
              <a:t>1.3 Cognition and Learning</a:t>
            </a:r>
          </a:p>
        </p:txBody>
      </p:sp>
      <p:sp>
        <p:nvSpPr>
          <p:cNvPr id="3" name="Content Placeholder 2">
            <a:extLst>
              <a:ext uri="{FF2B5EF4-FFF2-40B4-BE49-F238E27FC236}">
                <a16:creationId xmlns:a16="http://schemas.microsoft.com/office/drawing/2014/main" id="{1F46745B-08C7-8947-715C-0847208DC539}"/>
              </a:ext>
            </a:extLst>
          </p:cNvPr>
          <p:cNvSpPr>
            <a:spLocks noGrp="1"/>
          </p:cNvSpPr>
          <p:nvPr>
            <p:ph idx="1"/>
          </p:nvPr>
        </p:nvSpPr>
        <p:spPr>
          <a:xfrm>
            <a:off x="838200" y="1036320"/>
            <a:ext cx="10515600" cy="5699760"/>
          </a:xfrm>
        </p:spPr>
        <p:txBody>
          <a:bodyPr>
            <a:normAutofit fontScale="92500" lnSpcReduction="10000"/>
          </a:bodyPr>
          <a:lstStyle/>
          <a:p>
            <a:pPr marL="0" indent="0">
              <a:buNone/>
            </a:pPr>
            <a:r>
              <a:rPr lang="en-US" b="1" dirty="0"/>
              <a:t>Cognition</a:t>
            </a:r>
          </a:p>
          <a:p>
            <a:pPr algn="just"/>
            <a:r>
              <a:rPr lang="en-US" dirty="0"/>
              <a:t>Cognition is the process by which humans acquire, process, store, and use information.</a:t>
            </a:r>
          </a:p>
          <a:p>
            <a:pPr algn="just"/>
            <a:r>
              <a:rPr lang="en-US" dirty="0"/>
              <a:t>Key Cognitive Processes are:</a:t>
            </a:r>
          </a:p>
          <a:p>
            <a:pPr algn="just">
              <a:buFont typeface="Wingdings" panose="05000000000000000000" pitchFamily="2" charset="2"/>
              <a:buChar char="Ø"/>
            </a:pPr>
            <a:r>
              <a:rPr lang="en-US" dirty="0"/>
              <a:t>Perception → interpreting information from senses (such as seeing, hearing) </a:t>
            </a:r>
          </a:p>
          <a:p>
            <a:pPr algn="just">
              <a:buFont typeface="Wingdings" panose="05000000000000000000" pitchFamily="2" charset="2"/>
              <a:buChar char="Ø"/>
            </a:pPr>
            <a:r>
              <a:rPr lang="en-US" dirty="0"/>
              <a:t>Attention → focusing on specific information </a:t>
            </a:r>
          </a:p>
          <a:p>
            <a:pPr algn="just">
              <a:buFont typeface="Wingdings" panose="05000000000000000000" pitchFamily="2" charset="2"/>
              <a:buChar char="Ø"/>
            </a:pPr>
            <a:r>
              <a:rPr lang="en-US" dirty="0"/>
              <a:t>Memory → storing and recalling information </a:t>
            </a:r>
          </a:p>
          <a:p>
            <a:pPr algn="just">
              <a:buFont typeface="Wingdings" panose="05000000000000000000" pitchFamily="2" charset="2"/>
              <a:buChar char="Ø"/>
            </a:pPr>
            <a:r>
              <a:rPr lang="en-US" dirty="0"/>
              <a:t>Language → understanding and producing speech </a:t>
            </a:r>
          </a:p>
          <a:p>
            <a:pPr algn="just">
              <a:buFont typeface="Wingdings" panose="05000000000000000000" pitchFamily="2" charset="2"/>
              <a:buChar char="Ø"/>
            </a:pPr>
            <a:r>
              <a:rPr lang="en-US" dirty="0"/>
              <a:t>Reasoning → thinking logically </a:t>
            </a:r>
          </a:p>
          <a:p>
            <a:pPr algn="just">
              <a:buFont typeface="Wingdings" panose="05000000000000000000" pitchFamily="2" charset="2"/>
              <a:buChar char="Ø"/>
            </a:pPr>
            <a:r>
              <a:rPr lang="en-US" dirty="0"/>
              <a:t>Problem-Solving → finding solutions</a:t>
            </a:r>
          </a:p>
          <a:p>
            <a:pPr algn="just"/>
            <a:r>
              <a:rPr lang="en-US" dirty="0"/>
              <a:t>Example</a:t>
            </a:r>
            <a:r>
              <a:rPr lang="en-US" b="1" dirty="0"/>
              <a:t>: </a:t>
            </a:r>
            <a:r>
              <a:rPr lang="en-US" dirty="0"/>
              <a:t>On seeing a red traffic light: Perception means seeing the light, memory &amp; learning symbolize recognizing it means stop and reasoning &amp; decision making includes deciding to stop.</a:t>
            </a:r>
          </a:p>
          <a:p>
            <a:endParaRPr lang="en-US" dirty="0"/>
          </a:p>
        </p:txBody>
      </p:sp>
    </p:spTree>
    <p:extLst>
      <p:ext uri="{BB962C8B-B14F-4D97-AF65-F5344CB8AC3E}">
        <p14:creationId xmlns:p14="http://schemas.microsoft.com/office/powerpoint/2010/main" val="3879380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C0E33-A10C-3F46-478C-B2FC970896E4}"/>
              </a:ext>
            </a:extLst>
          </p:cNvPr>
          <p:cNvSpPr>
            <a:spLocks noGrp="1"/>
          </p:cNvSpPr>
          <p:nvPr>
            <p:ph type="title"/>
          </p:nvPr>
        </p:nvSpPr>
        <p:spPr>
          <a:xfrm>
            <a:off x="713072" y="690663"/>
            <a:ext cx="10515600" cy="356135"/>
          </a:xfrm>
        </p:spPr>
        <p:txBody>
          <a:bodyPr>
            <a:normAutofit fontScale="90000"/>
          </a:bodyPr>
          <a:lstStyle/>
          <a:p>
            <a:r>
              <a:rPr lang="en-US" dirty="0"/>
              <a:t>Cognition in AI</a:t>
            </a:r>
            <a:br>
              <a:rPr lang="en-US" b="1" dirty="0"/>
            </a:br>
            <a:endParaRPr lang="en-US" dirty="0"/>
          </a:p>
        </p:txBody>
      </p:sp>
      <p:sp>
        <p:nvSpPr>
          <p:cNvPr id="3" name="Content Placeholder 2">
            <a:extLst>
              <a:ext uri="{FF2B5EF4-FFF2-40B4-BE49-F238E27FC236}">
                <a16:creationId xmlns:a16="http://schemas.microsoft.com/office/drawing/2014/main" id="{D95590D4-D7BB-079D-6AB5-67A48BFB7F4F}"/>
              </a:ext>
            </a:extLst>
          </p:cNvPr>
          <p:cNvSpPr>
            <a:spLocks noGrp="1"/>
          </p:cNvSpPr>
          <p:nvPr>
            <p:ph idx="1"/>
          </p:nvPr>
        </p:nvSpPr>
        <p:spPr>
          <a:xfrm>
            <a:off x="838200" y="1046798"/>
            <a:ext cx="10515600" cy="4998402"/>
          </a:xfrm>
        </p:spPr>
        <p:txBody>
          <a:bodyPr>
            <a:normAutofit/>
          </a:bodyPr>
          <a:lstStyle/>
          <a:p>
            <a:pPr algn="just"/>
            <a:r>
              <a:rPr lang="en-US" dirty="0"/>
              <a:t>In Artificial Intelligence, cognition refers to simulating human thinking processes that enables machines to understand language , learn from data and make decisions </a:t>
            </a:r>
          </a:p>
          <a:p>
            <a:pPr algn="just"/>
            <a:r>
              <a:rPr lang="en-US" dirty="0"/>
              <a:t>Example in AI: </a:t>
            </a:r>
          </a:p>
          <a:p>
            <a:pPr algn="just">
              <a:buFont typeface="Wingdings" panose="05000000000000000000" pitchFamily="2" charset="2"/>
              <a:buChar char="Ø"/>
            </a:pPr>
            <a:r>
              <a:rPr lang="en-US" dirty="0"/>
              <a:t>A chatbot understanding our question known as language cognition. </a:t>
            </a:r>
          </a:p>
          <a:p>
            <a:pPr algn="just">
              <a:buFont typeface="Wingdings" panose="05000000000000000000" pitchFamily="2" charset="2"/>
              <a:buChar char="Ø"/>
            </a:pPr>
            <a:r>
              <a:rPr lang="en-US" dirty="0"/>
              <a:t>A recommendation system suggesting products known as decision-making cognition.</a:t>
            </a:r>
          </a:p>
          <a:p>
            <a:pPr algn="just"/>
            <a:r>
              <a:rPr lang="en-US" dirty="0"/>
              <a:t>To enable cognition in AI, neuroscience, human cognition, and cognitive computing are tightly linked which forms a pipeline from understanding the brain to understanding thinking to finally building AI systems that mimic it.</a:t>
            </a:r>
          </a:p>
          <a:p>
            <a:endParaRPr lang="en-US" dirty="0"/>
          </a:p>
        </p:txBody>
      </p:sp>
    </p:spTree>
    <p:extLst>
      <p:ext uri="{BB962C8B-B14F-4D97-AF65-F5344CB8AC3E}">
        <p14:creationId xmlns:p14="http://schemas.microsoft.com/office/powerpoint/2010/main" val="19656652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897E-CCC4-F3EF-8DE8-7E2B590A8C81}"/>
              </a:ext>
            </a:extLst>
          </p:cNvPr>
          <p:cNvSpPr>
            <a:spLocks noGrp="1"/>
          </p:cNvSpPr>
          <p:nvPr>
            <p:ph type="title"/>
          </p:nvPr>
        </p:nvSpPr>
        <p:spPr>
          <a:xfrm>
            <a:off x="1009048" y="451753"/>
            <a:ext cx="10515600" cy="607027"/>
          </a:xfrm>
        </p:spPr>
        <p:txBody>
          <a:bodyPr>
            <a:normAutofit fontScale="90000"/>
          </a:bodyPr>
          <a:lstStyle/>
          <a:p>
            <a:r>
              <a:rPr lang="en-US" dirty="0"/>
              <a:t>Cognition in AI</a:t>
            </a:r>
          </a:p>
        </p:txBody>
      </p:sp>
      <p:pic>
        <p:nvPicPr>
          <p:cNvPr id="8" name="Content Placeholder 7">
            <a:extLst>
              <a:ext uri="{FF2B5EF4-FFF2-40B4-BE49-F238E27FC236}">
                <a16:creationId xmlns:a16="http://schemas.microsoft.com/office/drawing/2014/main" id="{DC802A14-2CBD-0433-3278-A37DA5CB4B22}"/>
              </a:ext>
            </a:extLst>
          </p:cNvPr>
          <p:cNvPicPr>
            <a:picLocks noGrp="1" noChangeAspect="1"/>
          </p:cNvPicPr>
          <p:nvPr>
            <p:ph idx="1"/>
          </p:nvPr>
        </p:nvPicPr>
        <p:blipFill>
          <a:blip r:embed="rId2"/>
          <a:stretch>
            <a:fillRect/>
          </a:stretch>
        </p:blipFill>
        <p:spPr>
          <a:xfrm>
            <a:off x="1127760" y="1280160"/>
            <a:ext cx="9966960" cy="4632960"/>
          </a:xfrm>
          <a:prstGeom prst="rect">
            <a:avLst/>
          </a:prstGeom>
        </p:spPr>
      </p:pic>
    </p:spTree>
    <p:extLst>
      <p:ext uri="{BB962C8B-B14F-4D97-AF65-F5344CB8AC3E}">
        <p14:creationId xmlns:p14="http://schemas.microsoft.com/office/powerpoint/2010/main" val="2452655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37C3F-C79D-D1FE-70D3-D15D023C7AC6}"/>
              </a:ext>
            </a:extLst>
          </p:cNvPr>
          <p:cNvSpPr>
            <a:spLocks noGrp="1"/>
          </p:cNvSpPr>
          <p:nvPr>
            <p:ph type="title"/>
          </p:nvPr>
        </p:nvSpPr>
        <p:spPr>
          <a:xfrm>
            <a:off x="838200" y="365125"/>
            <a:ext cx="10515600" cy="655153"/>
          </a:xfrm>
        </p:spPr>
        <p:txBody>
          <a:bodyPr>
            <a:normAutofit fontScale="90000"/>
          </a:bodyPr>
          <a:lstStyle/>
          <a:p>
            <a:r>
              <a:rPr lang="en-US" dirty="0"/>
              <a:t>Cognition in AI</a:t>
            </a:r>
          </a:p>
        </p:txBody>
      </p:sp>
      <p:sp>
        <p:nvSpPr>
          <p:cNvPr id="3" name="Content Placeholder 2">
            <a:extLst>
              <a:ext uri="{FF2B5EF4-FFF2-40B4-BE49-F238E27FC236}">
                <a16:creationId xmlns:a16="http://schemas.microsoft.com/office/drawing/2014/main" id="{3ACF0482-239F-DAD8-B6BB-D1AFB0AA9CFD}"/>
              </a:ext>
            </a:extLst>
          </p:cNvPr>
          <p:cNvSpPr>
            <a:spLocks noGrp="1"/>
          </p:cNvSpPr>
          <p:nvPr>
            <p:ph idx="1"/>
          </p:nvPr>
        </p:nvSpPr>
        <p:spPr>
          <a:xfrm>
            <a:off x="838200" y="1251284"/>
            <a:ext cx="10515600" cy="4925679"/>
          </a:xfrm>
        </p:spPr>
        <p:txBody>
          <a:bodyPr>
            <a:normAutofit/>
          </a:bodyPr>
          <a:lstStyle/>
          <a:p>
            <a:pPr marL="0" indent="0">
              <a:buNone/>
            </a:pPr>
            <a:r>
              <a:rPr lang="en-US" dirty="0"/>
              <a:t>1. Neuroscience (Biological Foundation)</a:t>
            </a:r>
          </a:p>
          <a:p>
            <a:pPr algn="just"/>
            <a:r>
              <a:rPr lang="en-US" dirty="0"/>
              <a:t>It is the study of how the human brain works i.e. understanding of neurons, synapses, signals.</a:t>
            </a:r>
          </a:p>
          <a:p>
            <a:pPr algn="just"/>
            <a:r>
              <a:rPr lang="en-US" dirty="0"/>
              <a:t>  Tries to find out “How does the brain physically process information?” .</a:t>
            </a:r>
          </a:p>
          <a:p>
            <a:pPr algn="just"/>
            <a:r>
              <a:rPr lang="en-US" dirty="0"/>
              <a:t>Understands the structure of brain and its functioning.</a:t>
            </a:r>
          </a:p>
          <a:p>
            <a:pPr marL="0" indent="0">
              <a:buNone/>
            </a:pPr>
            <a:r>
              <a:rPr lang="en-US" dirty="0"/>
              <a:t>2. Human Cognition (Mental Processes)</a:t>
            </a:r>
          </a:p>
          <a:p>
            <a:pPr algn="just"/>
            <a:r>
              <a:rPr lang="en-US" dirty="0"/>
              <a:t>Explains how humans think and process information that includes perception , memory , reasoning  and decision-making  </a:t>
            </a:r>
          </a:p>
          <a:p>
            <a:pPr algn="just"/>
            <a:r>
              <a:rPr lang="en-US" dirty="0"/>
              <a:t>It helps to create a model of how intelligent human behaves.</a:t>
            </a:r>
          </a:p>
          <a:p>
            <a:endParaRPr lang="en-US" dirty="0"/>
          </a:p>
        </p:txBody>
      </p:sp>
    </p:spTree>
    <p:extLst>
      <p:ext uri="{BB962C8B-B14F-4D97-AF65-F5344CB8AC3E}">
        <p14:creationId xmlns:p14="http://schemas.microsoft.com/office/powerpoint/2010/main" val="444328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B8FF-78E0-79B5-3034-69AC9F720975}"/>
              </a:ext>
            </a:extLst>
          </p:cNvPr>
          <p:cNvSpPr>
            <a:spLocks noGrp="1"/>
          </p:cNvSpPr>
          <p:nvPr>
            <p:ph type="title"/>
          </p:nvPr>
        </p:nvSpPr>
        <p:spPr/>
        <p:txBody>
          <a:bodyPr/>
          <a:lstStyle/>
          <a:p>
            <a:r>
              <a:rPr lang="en-US" dirty="0"/>
              <a:t>Cognition in AI</a:t>
            </a:r>
          </a:p>
        </p:txBody>
      </p:sp>
      <p:sp>
        <p:nvSpPr>
          <p:cNvPr id="3" name="Content Placeholder 2">
            <a:extLst>
              <a:ext uri="{FF2B5EF4-FFF2-40B4-BE49-F238E27FC236}">
                <a16:creationId xmlns:a16="http://schemas.microsoft.com/office/drawing/2014/main" id="{795F269B-28B8-E9EF-AE11-912DF629A4E2}"/>
              </a:ext>
            </a:extLst>
          </p:cNvPr>
          <p:cNvSpPr>
            <a:spLocks noGrp="1"/>
          </p:cNvSpPr>
          <p:nvPr>
            <p:ph idx="1"/>
          </p:nvPr>
        </p:nvSpPr>
        <p:spPr>
          <a:xfrm>
            <a:off x="838200" y="1511166"/>
            <a:ext cx="10515600" cy="5072514"/>
          </a:xfrm>
        </p:spPr>
        <p:txBody>
          <a:bodyPr>
            <a:normAutofit/>
          </a:bodyPr>
          <a:lstStyle/>
          <a:p>
            <a:pPr marL="0" indent="0">
              <a:buNone/>
            </a:pPr>
            <a:r>
              <a:rPr lang="en-US" dirty="0"/>
              <a:t>3. Learning (Acquiring Knowledge)</a:t>
            </a:r>
          </a:p>
          <a:p>
            <a:pPr algn="just"/>
            <a:r>
              <a:rPr lang="en-US" dirty="0"/>
              <a:t>Describes how humans gain knowledge from experience . </a:t>
            </a:r>
          </a:p>
          <a:p>
            <a:pPr algn="just"/>
            <a:r>
              <a:rPr lang="en-US" dirty="0"/>
              <a:t>Types are Learning from examples , Learning from patterns , Learning from feedback.</a:t>
            </a:r>
          </a:p>
          <a:p>
            <a:pPr algn="just"/>
            <a:r>
              <a:rPr lang="en-US" dirty="0"/>
              <a:t>Helps to develop a mechanisms for improving performance over time.</a:t>
            </a:r>
          </a:p>
          <a:p>
            <a:pPr marL="0" indent="0" algn="just">
              <a:buNone/>
            </a:pPr>
            <a:r>
              <a:rPr lang="en-US" dirty="0"/>
              <a:t>4. Cognitive Computing (AI Implementation)</a:t>
            </a:r>
          </a:p>
          <a:p>
            <a:pPr algn="just"/>
            <a:r>
              <a:rPr lang="en-US" dirty="0"/>
              <a:t>Helps to build systems that can mimic human thinking , learn from data and make decisions i.e. build an Intelligent AI systems.</a:t>
            </a:r>
          </a:p>
          <a:p>
            <a:endParaRPr lang="en-US" dirty="0"/>
          </a:p>
        </p:txBody>
      </p:sp>
    </p:spTree>
    <p:extLst>
      <p:ext uri="{BB962C8B-B14F-4D97-AF65-F5344CB8AC3E}">
        <p14:creationId xmlns:p14="http://schemas.microsoft.com/office/powerpoint/2010/main" val="5554968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2FDC-AA96-1A19-AE28-7FCB70992E6D}"/>
              </a:ext>
            </a:extLst>
          </p:cNvPr>
          <p:cNvSpPr>
            <a:spLocks noGrp="1"/>
          </p:cNvSpPr>
          <p:nvPr>
            <p:ph type="title"/>
          </p:nvPr>
        </p:nvSpPr>
        <p:spPr>
          <a:xfrm>
            <a:off x="838200" y="365125"/>
            <a:ext cx="10515600" cy="491523"/>
          </a:xfrm>
        </p:spPr>
        <p:txBody>
          <a:bodyPr>
            <a:normAutofit fontScale="90000"/>
          </a:bodyPr>
          <a:lstStyle/>
          <a:p>
            <a:r>
              <a:rPr lang="en-US" dirty="0"/>
              <a:t>Cognition in AI</a:t>
            </a:r>
          </a:p>
        </p:txBody>
      </p:sp>
      <p:sp>
        <p:nvSpPr>
          <p:cNvPr id="3" name="Content Placeholder 2">
            <a:extLst>
              <a:ext uri="{FF2B5EF4-FFF2-40B4-BE49-F238E27FC236}">
                <a16:creationId xmlns:a16="http://schemas.microsoft.com/office/drawing/2014/main" id="{DC67F59B-C899-C1ED-0D12-473676982C0F}"/>
              </a:ext>
            </a:extLst>
          </p:cNvPr>
          <p:cNvSpPr>
            <a:spLocks noGrp="1"/>
          </p:cNvSpPr>
          <p:nvPr>
            <p:ph idx="1"/>
          </p:nvPr>
        </p:nvSpPr>
        <p:spPr>
          <a:xfrm>
            <a:off x="838200" y="991402"/>
            <a:ext cx="10515600" cy="5501473"/>
          </a:xfrm>
        </p:spPr>
        <p:txBody>
          <a:bodyPr>
            <a:normAutofit lnSpcReduction="10000"/>
          </a:bodyPr>
          <a:lstStyle/>
          <a:p>
            <a:pPr algn="just"/>
            <a:r>
              <a:rPr lang="en-US" dirty="0"/>
              <a:t>Practical Example: Self-Driving Car</a:t>
            </a:r>
          </a:p>
          <a:p>
            <a:pPr marL="0" indent="0" algn="just">
              <a:buNone/>
            </a:pPr>
            <a:r>
              <a:rPr lang="en-US" dirty="0"/>
              <a:t>1.  Neuroscience Inspiration</a:t>
            </a:r>
          </a:p>
          <a:p>
            <a:pPr algn="just"/>
            <a:r>
              <a:rPr lang="en-US" dirty="0"/>
              <a:t>Human brain processes visual signals  that inspires vision systems in AI.</a:t>
            </a:r>
          </a:p>
          <a:p>
            <a:pPr marL="0" indent="0" algn="just">
              <a:buNone/>
            </a:pPr>
            <a:r>
              <a:rPr lang="en-US" dirty="0"/>
              <a:t>2. </a:t>
            </a:r>
            <a:r>
              <a:rPr lang="en-US" b="1" dirty="0"/>
              <a:t> </a:t>
            </a:r>
            <a:r>
              <a:rPr lang="en-US" dirty="0"/>
              <a:t>Human Cognition</a:t>
            </a:r>
          </a:p>
          <a:p>
            <a:pPr algn="just"/>
            <a:r>
              <a:rPr lang="en-US" dirty="0"/>
              <a:t>Driver sees road, recognizes objects, makes decisions.</a:t>
            </a:r>
          </a:p>
          <a:p>
            <a:pPr marL="0" indent="0" algn="just">
              <a:buNone/>
            </a:pPr>
            <a:r>
              <a:rPr lang="en-US" dirty="0"/>
              <a:t>3. Learning</a:t>
            </a:r>
          </a:p>
          <a:p>
            <a:pPr algn="just"/>
            <a:r>
              <a:rPr lang="en-US" dirty="0"/>
              <a:t>AI system is trained on thousands of driving images &amp;  it learns patterns (lanes, pedestrians, signals). </a:t>
            </a:r>
          </a:p>
          <a:p>
            <a:pPr marL="0" indent="0" algn="just">
              <a:buNone/>
            </a:pPr>
            <a:r>
              <a:rPr lang="en-US" dirty="0"/>
              <a:t>4. Cognitive Computing</a:t>
            </a:r>
          </a:p>
          <a:p>
            <a:pPr algn="just"/>
            <a:r>
              <a:rPr lang="en-US" dirty="0"/>
              <a:t>Car system understanding environment, predicting risks and deciding to brake, accelerate, or turn.</a:t>
            </a:r>
          </a:p>
          <a:p>
            <a:endParaRPr lang="en-US" dirty="0"/>
          </a:p>
        </p:txBody>
      </p:sp>
    </p:spTree>
    <p:extLst>
      <p:ext uri="{BB962C8B-B14F-4D97-AF65-F5344CB8AC3E}">
        <p14:creationId xmlns:p14="http://schemas.microsoft.com/office/powerpoint/2010/main" val="4007563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259" y="365125"/>
            <a:ext cx="10515600" cy="1325563"/>
          </a:xfrm>
        </p:spPr>
        <p:txBody>
          <a:bodyPr/>
          <a:lstStyle/>
          <a:p>
            <a:r>
              <a:rPr lang="en-US" dirty="0"/>
              <a:t>1.3 Cognition and Learning</a:t>
            </a:r>
          </a:p>
        </p:txBody>
      </p:sp>
      <p:sp>
        <p:nvSpPr>
          <p:cNvPr id="3" name="Content Placeholder 2"/>
          <p:cNvSpPr>
            <a:spLocks noGrp="1"/>
          </p:cNvSpPr>
          <p:nvPr>
            <p:ph idx="1"/>
          </p:nvPr>
        </p:nvSpPr>
        <p:spPr>
          <a:xfrm>
            <a:off x="663388" y="1785284"/>
            <a:ext cx="10515600" cy="4351338"/>
          </a:xfrm>
        </p:spPr>
        <p:txBody>
          <a:bodyPr>
            <a:normAutofit fontScale="92500" lnSpcReduction="20000"/>
          </a:bodyPr>
          <a:lstStyle/>
          <a:p>
            <a:pPr marL="0" indent="0">
              <a:buNone/>
            </a:pPr>
            <a:r>
              <a:rPr lang="en-US" b="1" dirty="0"/>
              <a:t>What is Learning?</a:t>
            </a:r>
          </a:p>
          <a:p>
            <a:pPr marL="0" indent="0" algn="just">
              <a:buNone/>
            </a:pPr>
            <a:r>
              <a:rPr lang="en-US" dirty="0"/>
              <a:t>Learning is one of those everyday terms which is broadly and vaguely used in the English language</a:t>
            </a:r>
          </a:p>
          <a:p>
            <a:pPr algn="just"/>
            <a:r>
              <a:rPr lang="en-US" dirty="0"/>
              <a:t>Learning is making useful changes in our minds.</a:t>
            </a:r>
          </a:p>
          <a:p>
            <a:pPr algn="just"/>
            <a:r>
              <a:rPr lang="en-US" dirty="0"/>
              <a:t>Learning is constructing or modifying representations of what is being experienced.</a:t>
            </a:r>
          </a:p>
          <a:p>
            <a:pPr algn="just"/>
            <a:r>
              <a:rPr lang="en-US" dirty="0"/>
              <a:t>Learning is the phenomenon of knowledge acquisition in the absence of explicit programming.</a:t>
            </a:r>
          </a:p>
          <a:p>
            <a:pPr marL="0" indent="0" algn="just">
              <a:buNone/>
            </a:pPr>
            <a:r>
              <a:rPr lang="en-US" i="1" dirty="0"/>
              <a:t>Herbert Simon, 1983- Learning denotes changes in the system that are adaptive in the sense that they enable the system to do the same task or tasks drawn from the same population more efficiently and more effectively next time. </a:t>
            </a:r>
            <a:endParaRPr lang="en-US" dirty="0"/>
          </a:p>
        </p:txBody>
      </p:sp>
    </p:spTree>
    <p:extLst>
      <p:ext uri="{BB962C8B-B14F-4D97-AF65-F5344CB8AC3E}">
        <p14:creationId xmlns:p14="http://schemas.microsoft.com/office/powerpoint/2010/main" val="4144450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495" y="284443"/>
            <a:ext cx="10515600" cy="1325563"/>
          </a:xfrm>
        </p:spPr>
        <p:txBody>
          <a:bodyPr/>
          <a:lstStyle/>
          <a:p>
            <a:r>
              <a:rPr lang="en-US" dirty="0"/>
              <a:t>1.3 Cognition and Learning</a:t>
            </a:r>
          </a:p>
        </p:txBody>
      </p:sp>
      <p:sp>
        <p:nvSpPr>
          <p:cNvPr id="3" name="Content Placeholder 2"/>
          <p:cNvSpPr>
            <a:spLocks noGrp="1"/>
          </p:cNvSpPr>
          <p:nvPr>
            <p:ph idx="1"/>
          </p:nvPr>
        </p:nvSpPr>
        <p:spPr>
          <a:xfrm>
            <a:off x="739588" y="1734671"/>
            <a:ext cx="10614212" cy="4442292"/>
          </a:xfrm>
        </p:spPr>
        <p:txBody>
          <a:bodyPr>
            <a:normAutofit/>
          </a:bodyPr>
          <a:lstStyle/>
          <a:p>
            <a:pPr marL="0" indent="0">
              <a:buNone/>
            </a:pPr>
            <a:r>
              <a:rPr lang="en-US" dirty="0"/>
              <a:t>Learning involves 3 factors:</a:t>
            </a:r>
          </a:p>
          <a:p>
            <a:pPr marL="0" indent="0" algn="just">
              <a:buNone/>
            </a:pPr>
            <a:r>
              <a:rPr lang="en-US" dirty="0"/>
              <a:t>Changes</a:t>
            </a:r>
          </a:p>
          <a:p>
            <a:pPr algn="just"/>
            <a:r>
              <a:rPr lang="en-US" dirty="0"/>
              <a:t>Learning involves changes in the individual who is learning, such as changes in their knowledge, beliefs, attitudes, or behaviors.</a:t>
            </a:r>
          </a:p>
          <a:p>
            <a:pPr marL="0" indent="0" algn="just">
              <a:buNone/>
            </a:pPr>
            <a:r>
              <a:rPr lang="en-US" dirty="0"/>
              <a:t>Generalization</a:t>
            </a:r>
          </a:p>
          <a:p>
            <a:pPr algn="just"/>
            <a:r>
              <a:rPr lang="en-US" dirty="0"/>
              <a:t>Learning involves the ability to apply what has been learned in one situation to new and different situations.</a:t>
            </a:r>
          </a:p>
          <a:p>
            <a:pPr marL="0" indent="0" algn="just">
              <a:buNone/>
            </a:pPr>
            <a:r>
              <a:rPr lang="en-US" dirty="0"/>
              <a:t>Improvement</a:t>
            </a:r>
          </a:p>
          <a:p>
            <a:pPr algn="just"/>
            <a:r>
              <a:rPr lang="en-US" dirty="0"/>
              <a:t>Learning involves continuous improvement over time.</a:t>
            </a:r>
          </a:p>
        </p:txBody>
      </p:sp>
    </p:spTree>
    <p:extLst>
      <p:ext uri="{BB962C8B-B14F-4D97-AF65-F5344CB8AC3E}">
        <p14:creationId xmlns:p14="http://schemas.microsoft.com/office/powerpoint/2010/main" val="12747713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363F-1934-D205-E472-CDDEDB9E9140}"/>
              </a:ext>
            </a:extLst>
          </p:cNvPr>
          <p:cNvSpPr>
            <a:spLocks noGrp="1"/>
          </p:cNvSpPr>
          <p:nvPr>
            <p:ph type="title"/>
          </p:nvPr>
        </p:nvSpPr>
        <p:spPr>
          <a:xfrm>
            <a:off x="838200" y="193040"/>
            <a:ext cx="10515600" cy="559435"/>
          </a:xfrm>
        </p:spPr>
        <p:txBody>
          <a:bodyPr>
            <a:normAutofit fontScale="90000"/>
          </a:bodyPr>
          <a:lstStyle/>
          <a:p>
            <a:r>
              <a:rPr lang="en-US" dirty="0"/>
              <a:t>1.4 Human Intelligence and Machine Intelligence</a:t>
            </a:r>
          </a:p>
        </p:txBody>
      </p:sp>
      <p:graphicFrame>
        <p:nvGraphicFramePr>
          <p:cNvPr id="4" name="Content Placeholder 3">
            <a:extLst>
              <a:ext uri="{FF2B5EF4-FFF2-40B4-BE49-F238E27FC236}">
                <a16:creationId xmlns:a16="http://schemas.microsoft.com/office/drawing/2014/main" id="{F4139188-D75B-4908-7541-F03DD595E28D}"/>
              </a:ext>
            </a:extLst>
          </p:cNvPr>
          <p:cNvGraphicFramePr>
            <a:graphicFrameLocks noGrp="1"/>
          </p:cNvGraphicFramePr>
          <p:nvPr>
            <p:ph idx="1"/>
            <p:extLst>
              <p:ext uri="{D42A27DB-BD31-4B8C-83A1-F6EECF244321}">
                <p14:modId xmlns:p14="http://schemas.microsoft.com/office/powerpoint/2010/main" val="659577098"/>
              </p:ext>
            </p:extLst>
          </p:nvPr>
        </p:nvGraphicFramePr>
        <p:xfrm>
          <a:off x="579120" y="849631"/>
          <a:ext cx="11389360" cy="5763259"/>
        </p:xfrm>
        <a:graphic>
          <a:graphicData uri="http://schemas.openxmlformats.org/drawingml/2006/table">
            <a:tbl>
              <a:tblPr firstRow="1" bandRow="1">
                <a:tableStyleId>{5C22544A-7EE6-4342-B048-85BDC9FD1C3A}</a:tableStyleId>
              </a:tblPr>
              <a:tblGrid>
                <a:gridCol w="5694680">
                  <a:extLst>
                    <a:ext uri="{9D8B030D-6E8A-4147-A177-3AD203B41FA5}">
                      <a16:colId xmlns:a16="http://schemas.microsoft.com/office/drawing/2014/main" val="1751209411"/>
                    </a:ext>
                  </a:extLst>
                </a:gridCol>
                <a:gridCol w="5694680">
                  <a:extLst>
                    <a:ext uri="{9D8B030D-6E8A-4147-A177-3AD203B41FA5}">
                      <a16:colId xmlns:a16="http://schemas.microsoft.com/office/drawing/2014/main" val="1778886783"/>
                    </a:ext>
                  </a:extLst>
                </a:gridCol>
              </a:tblGrid>
              <a:tr h="462283">
                <a:tc>
                  <a:txBody>
                    <a:bodyPr/>
                    <a:lstStyle/>
                    <a:p>
                      <a:pPr algn="ctr" fontAlgn="base">
                        <a:buNone/>
                      </a:pPr>
                      <a:r>
                        <a:rPr lang="en-US" sz="1800" b="1" dirty="0">
                          <a:effectLst/>
                          <a:latin typeface="+mn-lt"/>
                        </a:rPr>
                        <a:t>Artificial Intelligence (AI)</a:t>
                      </a:r>
                    </a:p>
                  </a:txBody>
                  <a:tcPr marL="63500" marR="63500" marT="63500" marB="63500" anchor="ctr"/>
                </a:tc>
                <a:tc>
                  <a:txBody>
                    <a:bodyPr/>
                    <a:lstStyle/>
                    <a:p>
                      <a:pPr algn="ctr" fontAlgn="base">
                        <a:buNone/>
                      </a:pPr>
                      <a:r>
                        <a:rPr lang="en-US" sz="1800" b="1" dirty="0">
                          <a:effectLst/>
                          <a:latin typeface="+mn-lt"/>
                        </a:rPr>
                        <a:t>Human Intelligence (HI)</a:t>
                      </a:r>
                    </a:p>
                  </a:txBody>
                  <a:tcPr marL="63500" marR="63500" marT="63500" marB="63500" anchor="ctr"/>
                </a:tc>
                <a:extLst>
                  <a:ext uri="{0D108BD9-81ED-4DB2-BD59-A6C34878D82A}">
                    <a16:rowId xmlns:a16="http://schemas.microsoft.com/office/drawing/2014/main" val="3229129960"/>
                  </a:ext>
                </a:extLst>
              </a:tr>
              <a:tr h="696591">
                <a:tc>
                  <a:txBody>
                    <a:bodyPr/>
                    <a:lstStyle/>
                    <a:p>
                      <a:pPr algn="just" fontAlgn="ctr">
                        <a:buNone/>
                      </a:pPr>
                      <a:r>
                        <a:rPr lang="en-US" sz="1600" b="0" dirty="0">
                          <a:effectLst/>
                          <a:latin typeface="+mn-lt"/>
                        </a:rPr>
                        <a:t>Intelligence demonstrated by machines through data processing and algorithmic learning.</a:t>
                      </a:r>
                    </a:p>
                  </a:txBody>
                  <a:tcPr marL="63500" marR="63500" marT="88900" marB="88900" anchor="ctr"/>
                </a:tc>
                <a:tc>
                  <a:txBody>
                    <a:bodyPr/>
                    <a:lstStyle/>
                    <a:p>
                      <a:pPr algn="just" fontAlgn="ctr">
                        <a:buNone/>
                      </a:pPr>
                      <a:r>
                        <a:rPr lang="en-US" sz="1600" b="0" dirty="0">
                          <a:effectLst/>
                          <a:latin typeface="+mn-lt"/>
                        </a:rPr>
                        <a:t>The innate cognitive ability of humans to think, reason and adapt based on experience and emotions.</a:t>
                      </a:r>
                    </a:p>
                  </a:txBody>
                  <a:tcPr marL="63500" marR="63500" marT="88900" marB="88900" anchor="ctr"/>
                </a:tc>
                <a:extLst>
                  <a:ext uri="{0D108BD9-81ED-4DB2-BD59-A6C34878D82A}">
                    <a16:rowId xmlns:a16="http://schemas.microsoft.com/office/drawing/2014/main" val="2748786448"/>
                  </a:ext>
                </a:extLst>
              </a:tr>
              <a:tr h="636269">
                <a:tc>
                  <a:txBody>
                    <a:bodyPr/>
                    <a:lstStyle/>
                    <a:p>
                      <a:pPr algn="just" fontAlgn="ctr">
                        <a:buNone/>
                      </a:pPr>
                      <a:r>
                        <a:rPr lang="en-US" sz="1600" b="0" dirty="0">
                          <a:effectLst/>
                          <a:latin typeface="+mn-lt"/>
                        </a:rPr>
                        <a:t>AI is simulative </a:t>
                      </a:r>
                      <a:r>
                        <a:rPr lang="en-US" sz="1600" b="0" dirty="0" err="1">
                          <a:effectLst/>
                          <a:latin typeface="+mn-lt"/>
                        </a:rPr>
                        <a:t>i</a:t>
                      </a:r>
                      <a:r>
                        <a:rPr lang="en-US" sz="1600" b="0" dirty="0">
                          <a:effectLst/>
                          <a:latin typeface="+mn-lt"/>
                        </a:rPr>
                        <a:t>. e. mimics human actions using computational logic.</a:t>
                      </a:r>
                    </a:p>
                  </a:txBody>
                  <a:tcPr marL="63500" marR="63500" marT="88900" marB="88900" anchor="ctr"/>
                </a:tc>
                <a:tc>
                  <a:txBody>
                    <a:bodyPr/>
                    <a:lstStyle/>
                    <a:p>
                      <a:pPr algn="just" fontAlgn="ctr">
                        <a:buNone/>
                      </a:pPr>
                      <a:r>
                        <a:rPr lang="en-US" sz="1600" b="0" dirty="0">
                          <a:effectLst/>
                          <a:latin typeface="+mn-lt"/>
                        </a:rPr>
                        <a:t>HI is adaptive integrates emotion, experience and reasoning.</a:t>
                      </a:r>
                    </a:p>
                  </a:txBody>
                  <a:tcPr marL="63500" marR="63500" marT="88900" marB="88900" anchor="ctr"/>
                </a:tc>
                <a:extLst>
                  <a:ext uri="{0D108BD9-81ED-4DB2-BD59-A6C34878D82A}">
                    <a16:rowId xmlns:a16="http://schemas.microsoft.com/office/drawing/2014/main" val="3335274549"/>
                  </a:ext>
                </a:extLst>
              </a:tr>
              <a:tr h="462283">
                <a:tc>
                  <a:txBody>
                    <a:bodyPr/>
                    <a:lstStyle/>
                    <a:p>
                      <a:pPr algn="just" fontAlgn="ctr">
                        <a:buNone/>
                      </a:pPr>
                      <a:r>
                        <a:rPr lang="en-US" sz="1600" b="0" dirty="0">
                          <a:effectLst/>
                          <a:latin typeface="+mn-lt"/>
                        </a:rPr>
                        <a:t>Operates through neural networks, algorithms and digital systems.</a:t>
                      </a:r>
                    </a:p>
                  </a:txBody>
                  <a:tcPr marL="63500" marR="63500" marT="88900" marB="88900" anchor="ctr"/>
                </a:tc>
                <a:tc>
                  <a:txBody>
                    <a:bodyPr/>
                    <a:lstStyle/>
                    <a:p>
                      <a:pPr algn="just" fontAlgn="ctr">
                        <a:buNone/>
                      </a:pPr>
                      <a:r>
                        <a:rPr lang="en-US" sz="1600" b="0" dirty="0">
                          <a:effectLst/>
                          <a:latin typeface="+mn-lt"/>
                        </a:rPr>
                        <a:t>Operates through biological neurons and cognitive processes.</a:t>
                      </a:r>
                    </a:p>
                  </a:txBody>
                  <a:tcPr marL="63500" marR="63500" marT="88900" marB="88900" anchor="ctr"/>
                </a:tc>
                <a:extLst>
                  <a:ext uri="{0D108BD9-81ED-4DB2-BD59-A6C34878D82A}">
                    <a16:rowId xmlns:a16="http://schemas.microsoft.com/office/drawing/2014/main" val="4014646335"/>
                  </a:ext>
                </a:extLst>
              </a:tr>
              <a:tr h="462283">
                <a:tc>
                  <a:txBody>
                    <a:bodyPr/>
                    <a:lstStyle/>
                    <a:p>
                      <a:pPr algn="just" fontAlgn="ctr">
                        <a:buNone/>
                      </a:pPr>
                      <a:r>
                        <a:rPr lang="en-US" sz="1600" b="0" dirty="0">
                          <a:effectLst/>
                          <a:latin typeface="+mn-lt"/>
                        </a:rPr>
                        <a:t>Learns through data, feedback loops and training datasets.</a:t>
                      </a:r>
                    </a:p>
                  </a:txBody>
                  <a:tcPr marL="63500" marR="63500" marT="88900" marB="88900" anchor="ctr"/>
                </a:tc>
                <a:tc>
                  <a:txBody>
                    <a:bodyPr/>
                    <a:lstStyle/>
                    <a:p>
                      <a:pPr algn="just" fontAlgn="ctr">
                        <a:buNone/>
                      </a:pPr>
                      <a:r>
                        <a:rPr lang="en-US" sz="1600" b="0" dirty="0">
                          <a:effectLst/>
                          <a:latin typeface="+mn-lt"/>
                        </a:rPr>
                        <a:t>Learns through experiences, environment and social interaction.</a:t>
                      </a:r>
                    </a:p>
                  </a:txBody>
                  <a:tcPr marL="63500" marR="63500" marT="88900" marB="88900" anchor="ctr"/>
                </a:tc>
                <a:extLst>
                  <a:ext uri="{0D108BD9-81ED-4DB2-BD59-A6C34878D82A}">
                    <a16:rowId xmlns:a16="http://schemas.microsoft.com/office/drawing/2014/main" val="4183622340"/>
                  </a:ext>
                </a:extLst>
              </a:tr>
              <a:tr h="696591">
                <a:tc>
                  <a:txBody>
                    <a:bodyPr/>
                    <a:lstStyle/>
                    <a:p>
                      <a:pPr algn="just" fontAlgn="ctr">
                        <a:buNone/>
                      </a:pPr>
                      <a:r>
                        <a:rPr lang="en-US" sz="1600" b="0" dirty="0">
                          <a:effectLst/>
                          <a:latin typeface="+mn-lt"/>
                        </a:rPr>
                        <a:t>Decision making by AI is objective and data-driven; lacks ethical or emotional context.</a:t>
                      </a:r>
                    </a:p>
                  </a:txBody>
                  <a:tcPr marL="63500" marR="63500" marT="88900" marB="88900" anchor="ctr"/>
                </a:tc>
                <a:tc>
                  <a:txBody>
                    <a:bodyPr/>
                    <a:lstStyle/>
                    <a:p>
                      <a:pPr algn="just" fontAlgn="ctr">
                        <a:buNone/>
                      </a:pPr>
                      <a:r>
                        <a:rPr lang="en-US" sz="1600" b="0" dirty="0">
                          <a:effectLst/>
                          <a:latin typeface="+mn-lt"/>
                        </a:rPr>
                        <a:t>Decision making is subjective; influenced by logic, emotions and moral considerations.</a:t>
                      </a:r>
                    </a:p>
                  </a:txBody>
                  <a:tcPr marL="63500" marR="63500" marT="88900" marB="88900" anchor="ctr"/>
                </a:tc>
                <a:extLst>
                  <a:ext uri="{0D108BD9-81ED-4DB2-BD59-A6C34878D82A}">
                    <a16:rowId xmlns:a16="http://schemas.microsoft.com/office/drawing/2014/main" val="2568030602"/>
                  </a:ext>
                </a:extLst>
              </a:tr>
              <a:tr h="696591">
                <a:tc>
                  <a:txBody>
                    <a:bodyPr/>
                    <a:lstStyle/>
                    <a:p>
                      <a:pPr algn="just" fontAlgn="ctr">
                        <a:buNone/>
                      </a:pPr>
                      <a:r>
                        <a:rPr lang="en-US" sz="1600" b="0" dirty="0">
                          <a:effectLst/>
                          <a:latin typeface="+mn-lt"/>
                        </a:rPr>
                        <a:t>Creativity is very limited to programmed boundaries &amp; lacks imagination.</a:t>
                      </a:r>
                    </a:p>
                  </a:txBody>
                  <a:tcPr marL="63500" marR="63500" marT="88900" marB="88900" anchor="ctr"/>
                </a:tc>
                <a:tc>
                  <a:txBody>
                    <a:bodyPr/>
                    <a:lstStyle/>
                    <a:p>
                      <a:pPr algn="just" fontAlgn="ctr">
                        <a:buNone/>
                      </a:pPr>
                      <a:r>
                        <a:rPr lang="en-US" sz="1600" b="0" dirty="0">
                          <a:effectLst/>
                          <a:latin typeface="+mn-lt"/>
                        </a:rPr>
                        <a:t>Capable of innovation, abstract thinking and creative expression.</a:t>
                      </a:r>
                    </a:p>
                  </a:txBody>
                  <a:tcPr marL="63500" marR="63500" marT="88900" marB="88900" anchor="ctr"/>
                </a:tc>
                <a:extLst>
                  <a:ext uri="{0D108BD9-81ED-4DB2-BD59-A6C34878D82A}">
                    <a16:rowId xmlns:a16="http://schemas.microsoft.com/office/drawing/2014/main" val="4169011996"/>
                  </a:ext>
                </a:extLst>
              </a:tr>
              <a:tr h="462283">
                <a:tc>
                  <a:txBody>
                    <a:bodyPr/>
                    <a:lstStyle/>
                    <a:p>
                      <a:pPr algn="just" fontAlgn="ctr">
                        <a:buNone/>
                      </a:pPr>
                      <a:r>
                        <a:rPr lang="en-US" sz="1600" b="0" dirty="0">
                          <a:effectLst/>
                          <a:latin typeface="+mn-lt"/>
                        </a:rPr>
                        <a:t>Adapts only when re-trained with new data.</a:t>
                      </a:r>
                    </a:p>
                  </a:txBody>
                  <a:tcPr marL="63500" marR="63500" marT="88900" marB="88900" anchor="ctr"/>
                </a:tc>
                <a:tc>
                  <a:txBody>
                    <a:bodyPr/>
                    <a:lstStyle/>
                    <a:p>
                      <a:pPr algn="just" fontAlgn="ctr">
                        <a:buNone/>
                      </a:pPr>
                      <a:r>
                        <a:rPr lang="en-US" sz="1600" b="0" dirty="0">
                          <a:effectLst/>
                          <a:latin typeface="+mn-lt"/>
                        </a:rPr>
                        <a:t>Adapts naturally to changing environments and situations.</a:t>
                      </a:r>
                    </a:p>
                  </a:txBody>
                  <a:tcPr marL="63500" marR="63500" marT="88900" marB="88900" anchor="ctr"/>
                </a:tc>
                <a:extLst>
                  <a:ext uri="{0D108BD9-81ED-4DB2-BD59-A6C34878D82A}">
                    <a16:rowId xmlns:a16="http://schemas.microsoft.com/office/drawing/2014/main" val="2455426573"/>
                  </a:ext>
                </a:extLst>
              </a:tr>
              <a:tr h="462283">
                <a:tc>
                  <a:txBody>
                    <a:bodyPr/>
                    <a:lstStyle/>
                    <a:p>
                      <a:pPr algn="just" fontAlgn="ctr">
                        <a:buNone/>
                      </a:pPr>
                      <a:r>
                        <a:rPr lang="en-US" sz="1600" b="0" dirty="0">
                          <a:effectLst/>
                          <a:latin typeface="+mn-lt"/>
                        </a:rPr>
                        <a:t>Processes data at high speed with minimal error.</a:t>
                      </a:r>
                    </a:p>
                  </a:txBody>
                  <a:tcPr marL="63500" marR="63500" marT="88900" marB="88900" anchor="ctr"/>
                </a:tc>
                <a:tc>
                  <a:txBody>
                    <a:bodyPr/>
                    <a:lstStyle/>
                    <a:p>
                      <a:pPr algn="just" fontAlgn="ctr">
                        <a:buNone/>
                      </a:pPr>
                      <a:r>
                        <a:rPr lang="en-US" sz="1600" b="0" dirty="0">
                          <a:effectLst/>
                          <a:latin typeface="+mn-lt"/>
                        </a:rPr>
                        <a:t>Slower in computation but excels in contextual reasoning.</a:t>
                      </a:r>
                    </a:p>
                  </a:txBody>
                  <a:tcPr marL="63500" marR="63500" marT="88900" marB="88900" anchor="ctr"/>
                </a:tc>
                <a:extLst>
                  <a:ext uri="{0D108BD9-81ED-4DB2-BD59-A6C34878D82A}">
                    <a16:rowId xmlns:a16="http://schemas.microsoft.com/office/drawing/2014/main" val="2831274119"/>
                  </a:ext>
                </a:extLst>
              </a:tr>
              <a:tr h="696591">
                <a:tc>
                  <a:txBody>
                    <a:bodyPr/>
                    <a:lstStyle/>
                    <a:p>
                      <a:pPr algn="just" fontAlgn="ctr">
                        <a:buNone/>
                      </a:pPr>
                      <a:r>
                        <a:rPr lang="en-US" sz="1600" b="0" dirty="0">
                          <a:effectLst/>
                          <a:latin typeface="+mn-lt"/>
                        </a:rPr>
                        <a:t>Error rate is low as it depends on data quality and algorithm accuracy.</a:t>
                      </a:r>
                    </a:p>
                  </a:txBody>
                  <a:tcPr marL="63500" marR="63500" marT="88900" marB="88900" anchor="ctr"/>
                </a:tc>
                <a:tc>
                  <a:txBody>
                    <a:bodyPr/>
                    <a:lstStyle/>
                    <a:p>
                      <a:pPr algn="just" fontAlgn="ctr">
                        <a:buNone/>
                      </a:pPr>
                      <a:r>
                        <a:rPr lang="en-US" sz="1600" b="0" dirty="0">
                          <a:effectLst/>
                          <a:latin typeface="+mn-lt"/>
                        </a:rPr>
                        <a:t>Error rate is higher as influenced by human bias, fatigue or emotional state.</a:t>
                      </a:r>
                    </a:p>
                  </a:txBody>
                  <a:tcPr marL="63500" marR="63500" marT="88900" marB="88900" anchor="ctr"/>
                </a:tc>
                <a:extLst>
                  <a:ext uri="{0D108BD9-81ED-4DB2-BD59-A6C34878D82A}">
                    <a16:rowId xmlns:a16="http://schemas.microsoft.com/office/drawing/2014/main" val="2124801068"/>
                  </a:ext>
                </a:extLst>
              </a:tr>
            </a:tbl>
          </a:graphicData>
        </a:graphic>
      </p:graphicFrame>
    </p:spTree>
    <p:extLst>
      <p:ext uri="{BB962C8B-B14F-4D97-AF65-F5344CB8AC3E}">
        <p14:creationId xmlns:p14="http://schemas.microsoft.com/office/powerpoint/2010/main" val="35760706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D2A78-6C05-2120-EC81-A7C9F541A7DB}"/>
              </a:ext>
            </a:extLst>
          </p:cNvPr>
          <p:cNvSpPr>
            <a:spLocks noGrp="1"/>
          </p:cNvSpPr>
          <p:nvPr>
            <p:ph type="title"/>
          </p:nvPr>
        </p:nvSpPr>
        <p:spPr>
          <a:xfrm>
            <a:off x="838200" y="365125"/>
            <a:ext cx="10515600" cy="904875"/>
          </a:xfrm>
        </p:spPr>
        <p:txBody>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1.5 AI Tree: Branches and Interdisciplinary Nature</a:t>
            </a:r>
            <a:endParaRPr lang="en-US" dirty="0"/>
          </a:p>
        </p:txBody>
      </p:sp>
      <p:sp>
        <p:nvSpPr>
          <p:cNvPr id="3" name="Content Placeholder 2">
            <a:extLst>
              <a:ext uri="{FF2B5EF4-FFF2-40B4-BE49-F238E27FC236}">
                <a16:creationId xmlns:a16="http://schemas.microsoft.com/office/drawing/2014/main" id="{065F790D-4154-F051-B8AC-F5652D9125FC}"/>
              </a:ext>
            </a:extLst>
          </p:cNvPr>
          <p:cNvSpPr>
            <a:spLocks noGrp="1"/>
          </p:cNvSpPr>
          <p:nvPr>
            <p:ph idx="1"/>
          </p:nvPr>
        </p:nvSpPr>
        <p:spPr>
          <a:xfrm>
            <a:off x="838200" y="1270000"/>
            <a:ext cx="10515600" cy="4764723"/>
          </a:xfrm>
        </p:spPr>
        <p:txBody>
          <a:bodyPr/>
          <a:lstStyle/>
          <a:p>
            <a:r>
              <a:rPr lang="en-US" dirty="0"/>
              <a:t>AI as a Tree</a:t>
            </a:r>
          </a:p>
          <a:p>
            <a:pPr marL="0" indent="0">
              <a:buNone/>
            </a:pPr>
            <a:endParaRPr lang="en-US" dirty="0"/>
          </a:p>
        </p:txBody>
      </p:sp>
      <p:pic>
        <p:nvPicPr>
          <p:cNvPr id="5" name="Picture 4">
            <a:extLst>
              <a:ext uri="{FF2B5EF4-FFF2-40B4-BE49-F238E27FC236}">
                <a16:creationId xmlns:a16="http://schemas.microsoft.com/office/drawing/2014/main" id="{F8C65E19-CCE9-DBB1-8653-4AAA2B59A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3610" y="1740651"/>
            <a:ext cx="10243820" cy="4550092"/>
          </a:xfrm>
          <a:prstGeom prst="rect">
            <a:avLst/>
          </a:prstGeom>
        </p:spPr>
      </p:pic>
    </p:spTree>
    <p:extLst>
      <p:ext uri="{BB962C8B-B14F-4D97-AF65-F5344CB8AC3E}">
        <p14:creationId xmlns:p14="http://schemas.microsoft.com/office/powerpoint/2010/main" val="1210981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8DB7C-9994-7B14-4ED2-DA1FB00A236D}"/>
              </a:ext>
            </a:extLst>
          </p:cNvPr>
          <p:cNvSpPr>
            <a:spLocks noGrp="1"/>
          </p:cNvSpPr>
          <p:nvPr>
            <p:ph type="title"/>
          </p:nvPr>
        </p:nvSpPr>
        <p:spPr>
          <a:xfrm>
            <a:off x="703446" y="198438"/>
            <a:ext cx="10515600" cy="1014346"/>
          </a:xfrm>
        </p:spPr>
        <p:txBody>
          <a:bodyPr/>
          <a:lstStyle/>
          <a:p>
            <a:r>
              <a:rPr lang="en-US" dirty="0">
                <a:solidFill>
                  <a:prstClr val="black"/>
                </a:solidFill>
              </a:rPr>
              <a:t>Interdisciplinary Nature/ Foundation of AI</a:t>
            </a:r>
            <a:endParaRPr lang="en-US" dirty="0"/>
          </a:p>
        </p:txBody>
      </p:sp>
      <p:sp>
        <p:nvSpPr>
          <p:cNvPr id="3" name="Content Placeholder 2">
            <a:extLst>
              <a:ext uri="{FF2B5EF4-FFF2-40B4-BE49-F238E27FC236}">
                <a16:creationId xmlns:a16="http://schemas.microsoft.com/office/drawing/2014/main" id="{EC317C0D-CAEA-1005-C1A7-B596C86F8018}"/>
              </a:ext>
            </a:extLst>
          </p:cNvPr>
          <p:cNvSpPr>
            <a:spLocks noGrp="1"/>
          </p:cNvSpPr>
          <p:nvPr>
            <p:ph idx="1"/>
          </p:nvPr>
        </p:nvSpPr>
        <p:spPr>
          <a:xfrm>
            <a:off x="838200" y="1328285"/>
            <a:ext cx="10515600" cy="5111015"/>
          </a:xfrm>
        </p:spPr>
        <p:txBody>
          <a:bodyPr/>
          <a:lstStyle/>
          <a:p>
            <a:pPr marL="0" indent="0" algn="just">
              <a:buNone/>
            </a:pPr>
            <a:r>
              <a:rPr lang="en-US" dirty="0"/>
              <a:t>Philosophy: Logic, methods of reasoning, mind as physical system, foundations of learning, language, rationality.</a:t>
            </a:r>
          </a:p>
          <a:p>
            <a:pPr marL="0" indent="0" algn="just">
              <a:buNone/>
            </a:pPr>
            <a:r>
              <a:rPr lang="en-US" dirty="0"/>
              <a:t>Mathematics: Formal representation and proof algorithms, computation, (un)decidability, (in)tractability, probability.</a:t>
            </a:r>
          </a:p>
          <a:p>
            <a:pPr marL="0" indent="0" algn="just">
              <a:buNone/>
            </a:pPr>
            <a:r>
              <a:rPr lang="en-US" dirty="0"/>
              <a:t>Economics: utility, decision theory, rational economic agents</a:t>
            </a:r>
          </a:p>
          <a:p>
            <a:pPr marL="0" indent="0" algn="just">
              <a:buNone/>
            </a:pPr>
            <a:r>
              <a:rPr lang="fr-FR" dirty="0"/>
              <a:t>Neuroscience: </a:t>
            </a:r>
            <a:r>
              <a:rPr lang="fr-FR" dirty="0" err="1"/>
              <a:t>neurons</a:t>
            </a:r>
            <a:r>
              <a:rPr lang="fr-FR" dirty="0"/>
              <a:t> as information </a:t>
            </a:r>
            <a:r>
              <a:rPr lang="fr-FR" dirty="0" err="1"/>
              <a:t>processing</a:t>
            </a:r>
            <a:r>
              <a:rPr lang="fr-FR" dirty="0"/>
              <a:t> </a:t>
            </a:r>
            <a:r>
              <a:rPr lang="fr-FR" dirty="0" err="1"/>
              <a:t>units</a:t>
            </a:r>
            <a:endParaRPr lang="fr-FR" dirty="0"/>
          </a:p>
          <a:p>
            <a:pPr marL="0" indent="0" algn="just">
              <a:buNone/>
            </a:pPr>
            <a:r>
              <a:rPr lang="en-US" dirty="0"/>
              <a:t>Psychology: how do people behave, perceive, process Cognitive Science information, represent knowledge</a:t>
            </a:r>
          </a:p>
          <a:p>
            <a:pPr marL="0" indent="0" algn="just">
              <a:buNone/>
            </a:pPr>
            <a:r>
              <a:rPr lang="en-US" dirty="0"/>
              <a:t>Linguistics: knowledge representation, grammar</a:t>
            </a:r>
          </a:p>
          <a:p>
            <a:endParaRPr lang="en-US" dirty="0"/>
          </a:p>
        </p:txBody>
      </p:sp>
    </p:spTree>
    <p:extLst>
      <p:ext uri="{BB962C8B-B14F-4D97-AF65-F5344CB8AC3E}">
        <p14:creationId xmlns:p14="http://schemas.microsoft.com/office/powerpoint/2010/main" val="18941726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AI</a:t>
            </a:r>
          </a:p>
        </p:txBody>
      </p:sp>
      <p:sp>
        <p:nvSpPr>
          <p:cNvPr id="3" name="Content Placeholder 2"/>
          <p:cNvSpPr>
            <a:spLocks noGrp="1"/>
          </p:cNvSpPr>
          <p:nvPr>
            <p:ph idx="1"/>
          </p:nvPr>
        </p:nvSpPr>
        <p:spPr>
          <a:xfrm>
            <a:off x="838200" y="1690688"/>
            <a:ext cx="10515600" cy="4351338"/>
          </a:xfrm>
        </p:spPr>
        <p:txBody>
          <a:bodyPr>
            <a:normAutofit/>
          </a:bodyPr>
          <a:lstStyle/>
          <a:p>
            <a:pPr algn="just">
              <a:buFont typeface="Wingdings" panose="05000000000000000000" pitchFamily="2" charset="2"/>
              <a:buChar char="Ø"/>
            </a:pPr>
            <a:r>
              <a:rPr lang="en-US" dirty="0"/>
              <a:t>Artificial intelligence has been used in a wide range of fields including medical diagnosis, stock trading, robot control, law, remote sensing, scientific discovery and toys.</a:t>
            </a:r>
          </a:p>
          <a:p>
            <a:pPr algn="just">
              <a:buFont typeface="Wingdings" panose="05000000000000000000" pitchFamily="2" charset="2"/>
              <a:buChar char="Ø"/>
            </a:pPr>
            <a:r>
              <a:rPr lang="en-US" dirty="0"/>
              <a:t>Many thousands of AI applications are deeply embedded in the infrastructure of every industry.</a:t>
            </a:r>
          </a:p>
          <a:p>
            <a:pPr algn="just">
              <a:buFont typeface="Wingdings" panose="05000000000000000000" pitchFamily="2" charset="2"/>
              <a:buChar char="Ø"/>
            </a:pPr>
            <a:r>
              <a:rPr lang="en-US" dirty="0"/>
              <a:t>In the late 90s and early 21st century, AI technology became widely used as elements of larger systems, but the field is rarely credited for these successes.</a:t>
            </a:r>
          </a:p>
        </p:txBody>
      </p:sp>
    </p:spTree>
    <p:extLst>
      <p:ext uri="{BB962C8B-B14F-4D97-AF65-F5344CB8AC3E}">
        <p14:creationId xmlns:p14="http://schemas.microsoft.com/office/powerpoint/2010/main" val="1611820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AI</a:t>
            </a:r>
          </a:p>
        </p:txBody>
      </p:sp>
      <p:sp>
        <p:nvSpPr>
          <p:cNvPr id="3" name="Content Placeholder 2"/>
          <p:cNvSpPr>
            <a:spLocks noGrp="1"/>
          </p:cNvSpPr>
          <p:nvPr>
            <p:ph idx="1"/>
          </p:nvPr>
        </p:nvSpPr>
        <p:spPr>
          <a:xfrm>
            <a:off x="838200" y="1442720"/>
            <a:ext cx="10515600" cy="4958715"/>
          </a:xfrm>
        </p:spPr>
        <p:txBody>
          <a:bodyPr>
            <a:normAutofit fontScale="85000" lnSpcReduction="20000"/>
          </a:bodyPr>
          <a:lstStyle/>
          <a:p>
            <a:pPr marL="0" indent="0">
              <a:buNone/>
            </a:pPr>
            <a:r>
              <a:rPr lang="en-US" dirty="0"/>
              <a:t>1. Game Playing</a:t>
            </a:r>
          </a:p>
          <a:p>
            <a:pPr algn="just"/>
            <a:r>
              <a:rPr lang="en-US" dirty="0"/>
              <a:t>Machines can play master level chess. There is some AI in them, but they play well against people mainly through brute force method, looking at hundreds of thousands of positions.</a:t>
            </a:r>
          </a:p>
          <a:p>
            <a:pPr algn="just"/>
            <a:r>
              <a:rPr lang="en-US" dirty="0"/>
              <a:t>Few of the major achievements in game playing are:</a:t>
            </a:r>
          </a:p>
          <a:p>
            <a:pPr>
              <a:buFont typeface="Wingdings" panose="05000000000000000000" pitchFamily="2" charset="2"/>
              <a:buChar char="Ø"/>
            </a:pPr>
            <a:r>
              <a:rPr lang="en-US" dirty="0"/>
              <a:t>In 2016, Google’s </a:t>
            </a:r>
            <a:r>
              <a:rPr lang="en-US" dirty="0" err="1"/>
              <a:t>Deepmind</a:t>
            </a:r>
            <a:r>
              <a:rPr lang="en-US" dirty="0"/>
              <a:t> AI named “</a:t>
            </a:r>
            <a:r>
              <a:rPr lang="en-US" dirty="0" err="1"/>
              <a:t>ALphaGo</a:t>
            </a:r>
            <a:r>
              <a:rPr lang="en-US" dirty="0"/>
              <a:t> Zero” defeated Lee Sedol by beating him in 4 games out of 5.</a:t>
            </a:r>
          </a:p>
          <a:p>
            <a:pPr>
              <a:buFont typeface="Wingdings" panose="05000000000000000000" pitchFamily="2" charset="2"/>
              <a:buChar char="Ø"/>
            </a:pPr>
            <a:r>
              <a:rPr lang="en-US" dirty="0"/>
              <a:t>Lee Sedol was South </a:t>
            </a:r>
            <a:r>
              <a:rPr lang="en-US" dirty="0" err="1"/>
              <a:t>Koera’s</a:t>
            </a:r>
            <a:r>
              <a:rPr lang="en-US" dirty="0"/>
              <a:t> champion in Go.</a:t>
            </a:r>
          </a:p>
          <a:p>
            <a:pPr>
              <a:buFont typeface="Wingdings" panose="05000000000000000000" pitchFamily="2" charset="2"/>
              <a:buChar char="Ø"/>
            </a:pPr>
            <a:r>
              <a:rPr lang="en-US" dirty="0"/>
              <a:t>Lee Sedol eventually retired from the game when in 2017 this AI next version was released.</a:t>
            </a:r>
          </a:p>
          <a:p>
            <a:pPr>
              <a:buFont typeface="Wingdings" panose="05000000000000000000" pitchFamily="2" charset="2"/>
              <a:buChar char="Ø"/>
            </a:pPr>
            <a:r>
              <a:rPr lang="en-US" dirty="0"/>
              <a:t>In 2017, the next version of AI named “Alpha Go” beat World Champion </a:t>
            </a:r>
            <a:r>
              <a:rPr lang="en-US" dirty="0" err="1"/>
              <a:t>Ke</a:t>
            </a:r>
            <a:r>
              <a:rPr lang="en-US" dirty="0"/>
              <a:t> Jie in 3 matches out of 3.</a:t>
            </a:r>
          </a:p>
          <a:p>
            <a:pPr>
              <a:buFont typeface="Wingdings" panose="05000000000000000000" pitchFamily="2" charset="2"/>
              <a:buChar char="Ø"/>
            </a:pPr>
            <a:r>
              <a:rPr lang="en-US" dirty="0"/>
              <a:t>In latest version, this AI beats the human opponents at the ratio of 100 out of 0.</a:t>
            </a:r>
          </a:p>
          <a:p>
            <a:pPr>
              <a:buFont typeface="Wingdings" panose="05000000000000000000" pitchFamily="2" charset="2"/>
              <a:buChar char="Ø"/>
            </a:pPr>
            <a:r>
              <a:rPr lang="en-US" dirty="0"/>
              <a:t>Similarly,  in 2017 AI Poker Bot beats World’s Best Player.</a:t>
            </a:r>
          </a:p>
          <a:p>
            <a:pPr algn="just"/>
            <a:endParaRPr lang="en-US" dirty="0"/>
          </a:p>
        </p:txBody>
      </p:sp>
    </p:spTree>
    <p:extLst>
      <p:ext uri="{BB962C8B-B14F-4D97-AF65-F5344CB8AC3E}">
        <p14:creationId xmlns:p14="http://schemas.microsoft.com/office/powerpoint/2010/main" val="29869663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28D14-1BE1-3BB2-6D2F-53AAB22D9BFF}"/>
              </a:ext>
            </a:extLst>
          </p:cNvPr>
          <p:cNvSpPr>
            <a:spLocks noGrp="1"/>
          </p:cNvSpPr>
          <p:nvPr>
            <p:ph type="title"/>
          </p:nvPr>
        </p:nvSpPr>
        <p:spPr/>
        <p:txBody>
          <a:bodyPr/>
          <a:lstStyle/>
          <a:p>
            <a:r>
              <a:rPr lang="en-US" dirty="0"/>
              <a:t>Application of AI</a:t>
            </a:r>
          </a:p>
        </p:txBody>
      </p:sp>
      <p:sp>
        <p:nvSpPr>
          <p:cNvPr id="3" name="Content Placeholder 2">
            <a:extLst>
              <a:ext uri="{FF2B5EF4-FFF2-40B4-BE49-F238E27FC236}">
                <a16:creationId xmlns:a16="http://schemas.microsoft.com/office/drawing/2014/main" id="{CC667106-44FA-8E73-F6C8-172310145CF7}"/>
              </a:ext>
            </a:extLst>
          </p:cNvPr>
          <p:cNvSpPr>
            <a:spLocks noGrp="1"/>
          </p:cNvSpPr>
          <p:nvPr>
            <p:ph idx="1"/>
          </p:nvPr>
        </p:nvSpPr>
        <p:spPr>
          <a:xfrm>
            <a:off x="963329" y="1488740"/>
            <a:ext cx="10515600" cy="4729179"/>
          </a:xfrm>
        </p:spPr>
        <p:txBody>
          <a:bodyPr>
            <a:normAutofit/>
          </a:bodyPr>
          <a:lstStyle/>
          <a:p>
            <a:pPr marL="0" indent="0">
              <a:buNone/>
            </a:pPr>
            <a:r>
              <a:rPr lang="en-US" dirty="0"/>
              <a:t>2. Speech Recognition</a:t>
            </a:r>
          </a:p>
          <a:p>
            <a:pPr algn="just"/>
            <a:r>
              <a:rPr lang="en-US" dirty="0"/>
              <a:t>It is possible to instruct some computers using speech using Voice recognition system such as SIRI and CORTANA.</a:t>
            </a:r>
          </a:p>
          <a:p>
            <a:pPr algn="just"/>
            <a:r>
              <a:rPr lang="en-US" dirty="0"/>
              <a:t>Some Applications are:</a:t>
            </a:r>
          </a:p>
          <a:p>
            <a:pPr algn="just">
              <a:buFont typeface="Wingdings" panose="05000000000000000000" pitchFamily="2" charset="2"/>
              <a:buChar char="Ø"/>
            </a:pPr>
            <a:r>
              <a:rPr lang="en-US" dirty="0"/>
              <a:t>Voice Assistants (phones, smart homes)</a:t>
            </a:r>
          </a:p>
          <a:p>
            <a:pPr algn="just">
              <a:buFont typeface="Wingdings" panose="05000000000000000000" pitchFamily="2" charset="2"/>
              <a:buChar char="Ø"/>
            </a:pPr>
            <a:r>
              <a:rPr lang="en-US" dirty="0"/>
              <a:t>Automated customer service (call centers)</a:t>
            </a:r>
          </a:p>
          <a:p>
            <a:pPr algn="just">
              <a:buFont typeface="Wingdings" panose="05000000000000000000" pitchFamily="2" charset="2"/>
              <a:buChar char="Ø"/>
            </a:pPr>
            <a:r>
              <a:rPr lang="en-US" dirty="0"/>
              <a:t>Dictation &amp; transcription systems</a:t>
            </a:r>
          </a:p>
          <a:p>
            <a:pPr algn="just">
              <a:buFont typeface="Wingdings" panose="05000000000000000000" pitchFamily="2" charset="2"/>
              <a:buChar char="Ø"/>
            </a:pPr>
            <a:r>
              <a:rPr lang="en-US" dirty="0"/>
              <a:t>Accessibility tools (for visually impaired users)</a:t>
            </a:r>
          </a:p>
          <a:p>
            <a:pPr algn="just">
              <a:buFont typeface="Wingdings" panose="05000000000000000000" pitchFamily="2" charset="2"/>
              <a:buChar char="Ø"/>
            </a:pPr>
            <a:r>
              <a:rPr lang="en-US" dirty="0"/>
              <a:t>Voice-controlled vehicles</a:t>
            </a:r>
          </a:p>
          <a:p>
            <a:endParaRPr lang="en-US" dirty="0"/>
          </a:p>
        </p:txBody>
      </p:sp>
    </p:spTree>
    <p:extLst>
      <p:ext uri="{BB962C8B-B14F-4D97-AF65-F5344CB8AC3E}">
        <p14:creationId xmlns:p14="http://schemas.microsoft.com/office/powerpoint/2010/main" val="2711538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6F5CA-8D53-1805-545D-B63797405CC9}"/>
              </a:ext>
            </a:extLst>
          </p:cNvPr>
          <p:cNvSpPr>
            <a:spLocks noGrp="1"/>
          </p:cNvSpPr>
          <p:nvPr>
            <p:ph type="title"/>
          </p:nvPr>
        </p:nvSpPr>
        <p:spPr>
          <a:xfrm>
            <a:off x="838200" y="365126"/>
            <a:ext cx="10515600" cy="818782"/>
          </a:xfrm>
        </p:spPr>
        <p:txBody>
          <a:bodyPr/>
          <a:lstStyle/>
          <a:p>
            <a:r>
              <a:rPr lang="en-US" dirty="0"/>
              <a:t>Application of AI</a:t>
            </a:r>
          </a:p>
        </p:txBody>
      </p:sp>
      <p:sp>
        <p:nvSpPr>
          <p:cNvPr id="3" name="Content Placeholder 2">
            <a:extLst>
              <a:ext uri="{FF2B5EF4-FFF2-40B4-BE49-F238E27FC236}">
                <a16:creationId xmlns:a16="http://schemas.microsoft.com/office/drawing/2014/main" id="{2FA9E913-2F5B-1026-D492-46D4DC984645}"/>
              </a:ext>
            </a:extLst>
          </p:cNvPr>
          <p:cNvSpPr>
            <a:spLocks noGrp="1"/>
          </p:cNvSpPr>
          <p:nvPr>
            <p:ph idx="1"/>
          </p:nvPr>
        </p:nvSpPr>
        <p:spPr>
          <a:xfrm>
            <a:off x="838200" y="1450057"/>
            <a:ext cx="10515600" cy="4892991"/>
          </a:xfrm>
        </p:spPr>
        <p:txBody>
          <a:bodyPr>
            <a:normAutofit fontScale="92500" lnSpcReduction="20000"/>
          </a:bodyPr>
          <a:lstStyle/>
          <a:p>
            <a:pPr marL="0" indent="0">
              <a:buNone/>
            </a:pPr>
            <a:r>
              <a:rPr lang="en-US" dirty="0"/>
              <a:t>3. Understanding Natural Language</a:t>
            </a:r>
          </a:p>
          <a:p>
            <a:pPr algn="just"/>
            <a:r>
              <a:rPr lang="en-US" dirty="0"/>
              <a:t>To perform many natural language processing tasks such as machine translation, summarization, information extraction, need the AI in machine.</a:t>
            </a:r>
          </a:p>
          <a:p>
            <a:pPr algn="just"/>
            <a:r>
              <a:rPr lang="en-US" dirty="0"/>
              <a:t>Some Applications are:</a:t>
            </a:r>
          </a:p>
          <a:p>
            <a:pPr algn="just">
              <a:buFont typeface="Wingdings" panose="05000000000000000000" pitchFamily="2" charset="2"/>
              <a:buChar char="Ø"/>
            </a:pPr>
            <a:r>
              <a:rPr lang="en-US" dirty="0"/>
              <a:t>Conversational AI i.e. Chatbots &amp; Virtual Assistants such as</a:t>
            </a:r>
            <a:r>
              <a:rPr lang="en-US" b="1" dirty="0"/>
              <a:t> </a:t>
            </a:r>
            <a:r>
              <a:rPr lang="en-US" dirty="0"/>
              <a:t>: Siri, Alexa, Google Assistant.</a:t>
            </a:r>
          </a:p>
          <a:p>
            <a:pPr algn="just">
              <a:buFont typeface="Wingdings" panose="05000000000000000000" pitchFamily="2" charset="2"/>
              <a:buChar char="Ø"/>
            </a:pPr>
            <a:r>
              <a:rPr lang="en-US" dirty="0"/>
              <a:t>Machine Translation i.e. Converting text/speech from one language to another while preserving meaning. Examples: Google Translate </a:t>
            </a:r>
          </a:p>
          <a:p>
            <a:pPr algn="just">
              <a:buFont typeface="Wingdings" panose="05000000000000000000" pitchFamily="2" charset="2"/>
              <a:buChar char="Ø"/>
            </a:pPr>
            <a:r>
              <a:rPr lang="en-US" dirty="0"/>
              <a:t>Email Filtering &amp; Spam Detection</a:t>
            </a:r>
            <a:r>
              <a:rPr lang="en-US" b="1" dirty="0"/>
              <a:t>. </a:t>
            </a:r>
            <a:r>
              <a:rPr lang="en-US" dirty="0"/>
              <a:t>Example: Gmail automatically classifies emails into spam, promotions, or primary inbox</a:t>
            </a:r>
          </a:p>
          <a:p>
            <a:pPr algn="just">
              <a:buFont typeface="Wingdings" panose="05000000000000000000" pitchFamily="2" charset="2"/>
              <a:buChar char="Ø"/>
            </a:pPr>
            <a:r>
              <a:rPr lang="en-US" dirty="0"/>
              <a:t>Grammar Checking &amp; Writing Assistants</a:t>
            </a:r>
            <a:r>
              <a:rPr lang="en-US" b="1" dirty="0"/>
              <a:t>. </a:t>
            </a:r>
            <a:r>
              <a:rPr lang="en-US" dirty="0"/>
              <a:t>Examples: Grammarly</a:t>
            </a:r>
          </a:p>
          <a:p>
            <a:pPr algn="just">
              <a:buFont typeface="Wingdings" panose="05000000000000000000" pitchFamily="2" charset="2"/>
              <a:buChar char="Ø"/>
            </a:pPr>
            <a:r>
              <a:rPr lang="en-US" dirty="0"/>
              <a:t>Autocomplete &amp; Predictive Text used in Smartphones , Search engines, Messaging apps.</a:t>
            </a:r>
          </a:p>
          <a:p>
            <a:endParaRPr lang="en-US" dirty="0"/>
          </a:p>
        </p:txBody>
      </p:sp>
    </p:spTree>
    <p:extLst>
      <p:ext uri="{BB962C8B-B14F-4D97-AF65-F5344CB8AC3E}">
        <p14:creationId xmlns:p14="http://schemas.microsoft.com/office/powerpoint/2010/main" val="16263645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2539-1052-9C42-7608-74AB521DA926}"/>
              </a:ext>
            </a:extLst>
          </p:cNvPr>
          <p:cNvSpPr>
            <a:spLocks noGrp="1"/>
          </p:cNvSpPr>
          <p:nvPr>
            <p:ph type="title"/>
          </p:nvPr>
        </p:nvSpPr>
        <p:spPr>
          <a:xfrm>
            <a:off x="838200" y="365125"/>
            <a:ext cx="10515600" cy="789907"/>
          </a:xfrm>
        </p:spPr>
        <p:txBody>
          <a:bodyPr/>
          <a:lstStyle/>
          <a:p>
            <a:r>
              <a:rPr lang="en-US" dirty="0"/>
              <a:t>Application of AI</a:t>
            </a:r>
          </a:p>
        </p:txBody>
      </p:sp>
      <p:sp>
        <p:nvSpPr>
          <p:cNvPr id="3" name="Content Placeholder 2">
            <a:extLst>
              <a:ext uri="{FF2B5EF4-FFF2-40B4-BE49-F238E27FC236}">
                <a16:creationId xmlns:a16="http://schemas.microsoft.com/office/drawing/2014/main" id="{881B55B7-2A94-BDFE-E49B-AC27DFC4B642}"/>
              </a:ext>
            </a:extLst>
          </p:cNvPr>
          <p:cNvSpPr>
            <a:spLocks noGrp="1"/>
          </p:cNvSpPr>
          <p:nvPr>
            <p:ph idx="1"/>
          </p:nvPr>
        </p:nvSpPr>
        <p:spPr>
          <a:xfrm>
            <a:off x="1001829" y="1382861"/>
            <a:ext cx="10515600" cy="4931311"/>
          </a:xfrm>
        </p:spPr>
        <p:txBody>
          <a:bodyPr>
            <a:normAutofit fontScale="85000" lnSpcReduction="20000"/>
          </a:bodyPr>
          <a:lstStyle/>
          <a:p>
            <a:pPr marL="0" indent="0">
              <a:buNone/>
            </a:pPr>
            <a:r>
              <a:rPr lang="en-US" dirty="0"/>
              <a:t>4. Computer Vision</a:t>
            </a:r>
          </a:p>
          <a:p>
            <a:pPr algn="just"/>
            <a:r>
              <a:rPr lang="en-US" dirty="0"/>
              <a:t>Computer vision is concerned with the theory behind artificial system that extract information from images. The image data can take many forms such as videos sequences views from multiple cameras and data from a medical scanner.</a:t>
            </a:r>
          </a:p>
          <a:p>
            <a:pPr algn="just"/>
            <a:r>
              <a:rPr lang="en-US" dirty="0"/>
              <a:t>Some Applications are:</a:t>
            </a:r>
          </a:p>
          <a:p>
            <a:pPr algn="just">
              <a:buFont typeface="Wingdings" panose="05000000000000000000" pitchFamily="2" charset="2"/>
              <a:buChar char="Ø"/>
            </a:pPr>
            <a:r>
              <a:rPr lang="en-US" dirty="0"/>
              <a:t>Facial Recognition Systems used for phone unlocking, security &amp; surveillance, auto tagging application in </a:t>
            </a:r>
            <a:r>
              <a:rPr lang="en-US" dirty="0" err="1"/>
              <a:t>facebook</a:t>
            </a:r>
            <a:r>
              <a:rPr lang="en-US" dirty="0"/>
              <a:t>.</a:t>
            </a:r>
          </a:p>
          <a:p>
            <a:pPr algn="just">
              <a:buFont typeface="Wingdings" panose="05000000000000000000" pitchFamily="2" charset="2"/>
              <a:buChar char="Ø"/>
            </a:pPr>
            <a:r>
              <a:rPr lang="en-US" dirty="0"/>
              <a:t>Self-Driving Cars that uses cameras and AI to detect lanes, pedestrians, traffic signs. Example: Tesla Autopilot </a:t>
            </a:r>
          </a:p>
          <a:p>
            <a:pPr algn="just">
              <a:buFont typeface="Wingdings" panose="05000000000000000000" pitchFamily="2" charset="2"/>
              <a:buChar char="Ø"/>
            </a:pPr>
            <a:r>
              <a:rPr lang="en-US" dirty="0"/>
              <a:t>Medical Image Analysis used in X-rays, MRI, CT scans to detect diseases like cancer, tumors, etc.</a:t>
            </a:r>
          </a:p>
          <a:p>
            <a:pPr algn="just">
              <a:buFont typeface="Wingdings" panose="05000000000000000000" pitchFamily="2" charset="2"/>
              <a:buChar char="Ø"/>
            </a:pPr>
            <a:r>
              <a:rPr lang="en-US" dirty="0"/>
              <a:t>Image Search &amp; Recognition used to identify objects, text, landmarks. Example: Google Lens </a:t>
            </a:r>
          </a:p>
          <a:p>
            <a:pPr>
              <a:buFont typeface="Wingdings" panose="05000000000000000000" pitchFamily="2" charset="2"/>
              <a:buChar char="Ø"/>
            </a:pPr>
            <a:r>
              <a:rPr lang="en-US" dirty="0"/>
              <a:t>Industrial Quality Inspection used in manufacturing to detect defects in products and ensure quality control.</a:t>
            </a:r>
          </a:p>
          <a:p>
            <a:endParaRPr lang="en-US" dirty="0"/>
          </a:p>
        </p:txBody>
      </p:sp>
    </p:spTree>
    <p:extLst>
      <p:ext uri="{BB962C8B-B14F-4D97-AF65-F5344CB8AC3E}">
        <p14:creationId xmlns:p14="http://schemas.microsoft.com/office/powerpoint/2010/main" val="1446202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DD868-D79A-1A89-0C85-7C5E01E5ABAE}"/>
              </a:ext>
            </a:extLst>
          </p:cNvPr>
          <p:cNvSpPr>
            <a:spLocks noGrp="1"/>
          </p:cNvSpPr>
          <p:nvPr>
            <p:ph type="title"/>
          </p:nvPr>
        </p:nvSpPr>
        <p:spPr>
          <a:xfrm>
            <a:off x="838200" y="365125"/>
            <a:ext cx="10515600" cy="809157"/>
          </a:xfrm>
        </p:spPr>
        <p:txBody>
          <a:bodyPr/>
          <a:lstStyle/>
          <a:p>
            <a:r>
              <a:rPr lang="en-US" dirty="0"/>
              <a:t>Application of AI</a:t>
            </a:r>
          </a:p>
        </p:txBody>
      </p:sp>
      <p:sp>
        <p:nvSpPr>
          <p:cNvPr id="3" name="Content Placeholder 2">
            <a:extLst>
              <a:ext uri="{FF2B5EF4-FFF2-40B4-BE49-F238E27FC236}">
                <a16:creationId xmlns:a16="http://schemas.microsoft.com/office/drawing/2014/main" id="{B84D8209-B9A4-F62F-76C2-8D033DCE5769}"/>
              </a:ext>
            </a:extLst>
          </p:cNvPr>
          <p:cNvSpPr>
            <a:spLocks noGrp="1"/>
          </p:cNvSpPr>
          <p:nvPr>
            <p:ph idx="1"/>
          </p:nvPr>
        </p:nvSpPr>
        <p:spPr>
          <a:xfrm>
            <a:off x="838200" y="1299410"/>
            <a:ext cx="10515600" cy="5072513"/>
          </a:xfrm>
        </p:spPr>
        <p:txBody>
          <a:bodyPr>
            <a:normAutofit lnSpcReduction="10000"/>
          </a:bodyPr>
          <a:lstStyle/>
          <a:p>
            <a:pPr marL="0" indent="0">
              <a:buNone/>
            </a:pPr>
            <a:r>
              <a:rPr lang="en-US" dirty="0"/>
              <a:t>5. Expert System</a:t>
            </a:r>
          </a:p>
          <a:p>
            <a:pPr algn="just"/>
            <a:r>
              <a:rPr lang="en-US" dirty="0"/>
              <a:t>Expert system needs the AI to perform its task. </a:t>
            </a:r>
          </a:p>
          <a:p>
            <a:pPr algn="just"/>
            <a:r>
              <a:rPr lang="en-US" dirty="0"/>
              <a:t>Some Applications are:</a:t>
            </a:r>
          </a:p>
          <a:p>
            <a:pPr algn="just">
              <a:buFont typeface="Wingdings" panose="05000000000000000000" pitchFamily="2" charset="2"/>
              <a:buChar char="Ø"/>
            </a:pPr>
            <a:r>
              <a:rPr lang="en-US" dirty="0"/>
              <a:t>One of the first expert system was MYCIN in 1974 which diagnosis bacterial infections of the blood and suggests treatments.</a:t>
            </a:r>
          </a:p>
          <a:p>
            <a:pPr algn="just">
              <a:buFont typeface="Wingdings" panose="05000000000000000000" pitchFamily="2" charset="2"/>
              <a:buChar char="Ø"/>
            </a:pPr>
            <a:r>
              <a:rPr lang="en-US" dirty="0"/>
              <a:t>IBM’s “Watson” which is a question answer system used in healthcare and  business analytics.</a:t>
            </a:r>
          </a:p>
          <a:p>
            <a:pPr algn="just">
              <a:buFont typeface="Wingdings" panose="05000000000000000000" pitchFamily="2" charset="2"/>
              <a:buChar char="Ø"/>
            </a:pPr>
            <a:r>
              <a:rPr lang="en-US" dirty="0"/>
              <a:t>DENDRAL used in chemistry to identify molecular structures.</a:t>
            </a:r>
          </a:p>
          <a:p>
            <a:pPr algn="just">
              <a:buFont typeface="Wingdings" panose="05000000000000000000" pitchFamily="2" charset="2"/>
              <a:buChar char="Ø"/>
            </a:pPr>
            <a:r>
              <a:rPr lang="en-US" dirty="0"/>
              <a:t>SOPHIE used to teach and troubleshoot electronic circuits.</a:t>
            </a:r>
          </a:p>
          <a:p>
            <a:pPr algn="just">
              <a:buFont typeface="Wingdings" panose="05000000000000000000" pitchFamily="2" charset="2"/>
              <a:buChar char="Ø"/>
            </a:pPr>
            <a:r>
              <a:rPr lang="en-US" dirty="0"/>
              <a:t>PROSPECTOR used in geology to identify locations of mineral deposits.</a:t>
            </a:r>
          </a:p>
          <a:p>
            <a:endParaRPr lang="en-US" dirty="0"/>
          </a:p>
        </p:txBody>
      </p:sp>
    </p:spTree>
    <p:extLst>
      <p:ext uri="{BB962C8B-B14F-4D97-AF65-F5344CB8AC3E}">
        <p14:creationId xmlns:p14="http://schemas.microsoft.com/office/powerpoint/2010/main" val="20708814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0E016-B410-198F-64A1-CE6342526C7B}"/>
              </a:ext>
            </a:extLst>
          </p:cNvPr>
          <p:cNvSpPr>
            <a:spLocks noGrp="1"/>
          </p:cNvSpPr>
          <p:nvPr>
            <p:ph type="title"/>
          </p:nvPr>
        </p:nvSpPr>
        <p:spPr>
          <a:xfrm>
            <a:off x="838200" y="365126"/>
            <a:ext cx="10515600" cy="712904"/>
          </a:xfrm>
        </p:spPr>
        <p:txBody>
          <a:bodyPr/>
          <a:lstStyle/>
          <a:p>
            <a:r>
              <a:rPr lang="en-US" dirty="0"/>
              <a:t>Application of AI</a:t>
            </a:r>
          </a:p>
        </p:txBody>
      </p:sp>
      <p:sp>
        <p:nvSpPr>
          <p:cNvPr id="3" name="Content Placeholder 2">
            <a:extLst>
              <a:ext uri="{FF2B5EF4-FFF2-40B4-BE49-F238E27FC236}">
                <a16:creationId xmlns:a16="http://schemas.microsoft.com/office/drawing/2014/main" id="{FB6836D7-9825-E917-A9EB-3E389193F308}"/>
              </a:ext>
            </a:extLst>
          </p:cNvPr>
          <p:cNvSpPr>
            <a:spLocks noGrp="1"/>
          </p:cNvSpPr>
          <p:nvPr>
            <p:ph idx="1"/>
          </p:nvPr>
        </p:nvSpPr>
        <p:spPr>
          <a:xfrm>
            <a:off x="838200" y="1299411"/>
            <a:ext cx="10515600" cy="4475748"/>
          </a:xfrm>
        </p:spPr>
        <p:txBody>
          <a:bodyPr/>
          <a:lstStyle/>
          <a:p>
            <a:pPr marL="0" indent="0">
              <a:buNone/>
            </a:pPr>
            <a:r>
              <a:rPr lang="en-US" dirty="0"/>
              <a:t>6. Finance &amp; Banking</a:t>
            </a:r>
          </a:p>
          <a:p>
            <a:r>
              <a:rPr lang="en-US" dirty="0"/>
              <a:t>AI is extensively used in finance and banking.</a:t>
            </a:r>
          </a:p>
          <a:p>
            <a:r>
              <a:rPr lang="en-US" dirty="0"/>
              <a:t>Some Applications are:</a:t>
            </a:r>
          </a:p>
          <a:p>
            <a:pPr algn="just">
              <a:buFont typeface="Wingdings" panose="05000000000000000000" pitchFamily="2" charset="2"/>
              <a:buChar char="Ø"/>
            </a:pPr>
            <a:r>
              <a:rPr lang="en-US" dirty="0"/>
              <a:t>AI helps manage risk, detect fraud, and automate decisions.</a:t>
            </a:r>
          </a:p>
          <a:p>
            <a:pPr algn="just">
              <a:buFont typeface="Wingdings" panose="05000000000000000000" pitchFamily="2" charset="2"/>
              <a:buChar char="Ø"/>
            </a:pPr>
            <a:r>
              <a:rPr lang="en-US" dirty="0"/>
              <a:t>Helps in Fraud detection by identifying suspicious transactions. </a:t>
            </a:r>
          </a:p>
          <a:p>
            <a:pPr algn="just">
              <a:buFont typeface="Wingdings" panose="05000000000000000000" pitchFamily="2" charset="2"/>
              <a:buChar char="Ø"/>
            </a:pPr>
            <a:r>
              <a:rPr lang="en-US" dirty="0"/>
              <a:t>Assists with Algorithmic trading such as AI-driven stock market decisions.</a:t>
            </a:r>
          </a:p>
          <a:p>
            <a:pPr algn="just">
              <a:buFont typeface="Wingdings" panose="05000000000000000000" pitchFamily="2" charset="2"/>
              <a:buChar char="Ø"/>
            </a:pPr>
            <a:r>
              <a:rPr lang="en-US" dirty="0"/>
              <a:t>Helps in assessing loan eligibility.</a:t>
            </a:r>
          </a:p>
          <a:p>
            <a:endParaRPr lang="en-US" dirty="0"/>
          </a:p>
        </p:txBody>
      </p:sp>
    </p:spTree>
    <p:extLst>
      <p:ext uri="{BB962C8B-B14F-4D97-AF65-F5344CB8AC3E}">
        <p14:creationId xmlns:p14="http://schemas.microsoft.com/office/powerpoint/2010/main" val="25567452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6A04-0CD2-F84C-8F4B-410F5964EFE4}"/>
              </a:ext>
            </a:extLst>
          </p:cNvPr>
          <p:cNvSpPr>
            <a:spLocks noGrp="1"/>
          </p:cNvSpPr>
          <p:nvPr>
            <p:ph type="title"/>
          </p:nvPr>
        </p:nvSpPr>
        <p:spPr>
          <a:xfrm>
            <a:off x="838200" y="365126"/>
            <a:ext cx="10515600" cy="876534"/>
          </a:xfrm>
        </p:spPr>
        <p:txBody>
          <a:bodyPr/>
          <a:lstStyle/>
          <a:p>
            <a:r>
              <a:rPr lang="en-US" dirty="0"/>
              <a:t>Application of AI</a:t>
            </a:r>
          </a:p>
        </p:txBody>
      </p:sp>
      <p:sp>
        <p:nvSpPr>
          <p:cNvPr id="3" name="Content Placeholder 2">
            <a:extLst>
              <a:ext uri="{FF2B5EF4-FFF2-40B4-BE49-F238E27FC236}">
                <a16:creationId xmlns:a16="http://schemas.microsoft.com/office/drawing/2014/main" id="{FC13AADA-F951-630A-5FBF-C66CD23562F8}"/>
              </a:ext>
            </a:extLst>
          </p:cNvPr>
          <p:cNvSpPr>
            <a:spLocks noGrp="1"/>
          </p:cNvSpPr>
          <p:nvPr>
            <p:ph idx="1"/>
          </p:nvPr>
        </p:nvSpPr>
        <p:spPr>
          <a:xfrm>
            <a:off x="838200" y="1473200"/>
            <a:ext cx="10515600" cy="4947920"/>
          </a:xfrm>
        </p:spPr>
        <p:txBody>
          <a:bodyPr>
            <a:normAutofit fontScale="92500" lnSpcReduction="20000"/>
          </a:bodyPr>
          <a:lstStyle/>
          <a:p>
            <a:pPr marL="0" indent="0">
              <a:buNone/>
            </a:pPr>
            <a:r>
              <a:rPr lang="en-US" dirty="0"/>
              <a:t>7. Hospitals and Medicine</a:t>
            </a:r>
          </a:p>
          <a:p>
            <a:pPr algn="just"/>
            <a:r>
              <a:rPr lang="en-US" dirty="0"/>
              <a:t>Artificial neural networks are used as clinical decision support systems for medical diagnosis.</a:t>
            </a:r>
          </a:p>
          <a:p>
            <a:pPr algn="just"/>
            <a:r>
              <a:rPr lang="en-US" dirty="0"/>
              <a:t>Some Applications are:</a:t>
            </a:r>
          </a:p>
          <a:p>
            <a:pPr algn="just">
              <a:buFont typeface="Wingdings" panose="05000000000000000000" pitchFamily="2" charset="2"/>
              <a:buChar char="Ø"/>
            </a:pPr>
            <a:r>
              <a:rPr lang="en-US" dirty="0"/>
              <a:t>Heart sound analysis</a:t>
            </a:r>
          </a:p>
          <a:p>
            <a:pPr algn="just">
              <a:buFont typeface="Wingdings" panose="05000000000000000000" pitchFamily="2" charset="2"/>
              <a:buChar char="Ø"/>
            </a:pPr>
            <a:r>
              <a:rPr lang="en-US" dirty="0"/>
              <a:t>Companion robots for the care of the elderly.</a:t>
            </a:r>
          </a:p>
          <a:p>
            <a:pPr algn="just">
              <a:buFont typeface="Wingdings" panose="05000000000000000000" pitchFamily="2" charset="2"/>
              <a:buChar char="Ø"/>
            </a:pPr>
            <a:r>
              <a:rPr lang="en-US" dirty="0"/>
              <a:t>Helps in Drug discovery.</a:t>
            </a:r>
          </a:p>
          <a:p>
            <a:pPr algn="just">
              <a:buFont typeface="Wingdings" panose="05000000000000000000" pitchFamily="2" charset="2"/>
              <a:buChar char="Ø"/>
            </a:pPr>
            <a:r>
              <a:rPr lang="en-US" dirty="0"/>
              <a:t>Chatbots for patient support.</a:t>
            </a:r>
          </a:p>
          <a:p>
            <a:pPr marL="0" indent="0" algn="just">
              <a:buNone/>
            </a:pPr>
            <a:r>
              <a:rPr lang="en-US" dirty="0"/>
              <a:t>Few achievements in this fields are:</a:t>
            </a:r>
          </a:p>
          <a:p>
            <a:pPr algn="just">
              <a:buFont typeface="Wingdings" panose="05000000000000000000" pitchFamily="2" charset="2"/>
              <a:buChar char="Ø"/>
            </a:pPr>
            <a:r>
              <a:rPr lang="en-US" dirty="0"/>
              <a:t>Path AI and Philips helps in diagnosis of breast cancer with accuracy of 99%.</a:t>
            </a:r>
          </a:p>
          <a:p>
            <a:pPr algn="just">
              <a:buFont typeface="Wingdings" panose="05000000000000000000" pitchFamily="2" charset="2"/>
              <a:buChar char="Ø"/>
            </a:pPr>
            <a:r>
              <a:rPr lang="en-US" dirty="0"/>
              <a:t>Google AI predicts inpatient death risks with 95% accuracy.</a:t>
            </a:r>
          </a:p>
          <a:p>
            <a:endParaRPr lang="en-US" dirty="0"/>
          </a:p>
        </p:txBody>
      </p:sp>
    </p:spTree>
    <p:extLst>
      <p:ext uri="{BB962C8B-B14F-4D97-AF65-F5344CB8AC3E}">
        <p14:creationId xmlns:p14="http://schemas.microsoft.com/office/powerpoint/2010/main" val="29560617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D9405-A679-C240-26E7-4DF6DB0F0B45}"/>
              </a:ext>
            </a:extLst>
          </p:cNvPr>
          <p:cNvSpPr>
            <a:spLocks noGrp="1"/>
          </p:cNvSpPr>
          <p:nvPr>
            <p:ph type="title"/>
          </p:nvPr>
        </p:nvSpPr>
        <p:spPr>
          <a:xfrm>
            <a:off x="838200" y="365126"/>
            <a:ext cx="10515600" cy="847658"/>
          </a:xfrm>
        </p:spPr>
        <p:txBody>
          <a:bodyPr/>
          <a:lstStyle/>
          <a:p>
            <a:r>
              <a:rPr lang="en-US" dirty="0"/>
              <a:t>Application of AI</a:t>
            </a:r>
          </a:p>
        </p:txBody>
      </p:sp>
      <p:sp>
        <p:nvSpPr>
          <p:cNvPr id="3" name="Content Placeholder 2">
            <a:extLst>
              <a:ext uri="{FF2B5EF4-FFF2-40B4-BE49-F238E27FC236}">
                <a16:creationId xmlns:a16="http://schemas.microsoft.com/office/drawing/2014/main" id="{F345C676-E26E-F297-B7AC-E68D47D5960D}"/>
              </a:ext>
            </a:extLst>
          </p:cNvPr>
          <p:cNvSpPr>
            <a:spLocks noGrp="1"/>
          </p:cNvSpPr>
          <p:nvPr>
            <p:ph idx="1"/>
          </p:nvPr>
        </p:nvSpPr>
        <p:spPr>
          <a:xfrm>
            <a:off x="838200" y="1424540"/>
            <a:ext cx="10515600" cy="5068334"/>
          </a:xfrm>
        </p:spPr>
        <p:txBody>
          <a:bodyPr>
            <a:normAutofit lnSpcReduction="10000"/>
          </a:bodyPr>
          <a:lstStyle/>
          <a:p>
            <a:pPr marL="0" indent="0">
              <a:buNone/>
            </a:pPr>
            <a:r>
              <a:rPr lang="en-US" dirty="0"/>
              <a:t>8. Identification Technologies</a:t>
            </a:r>
          </a:p>
          <a:p>
            <a:pPr marL="0" indent="0">
              <a:buNone/>
            </a:pPr>
            <a:r>
              <a:rPr lang="en-US" dirty="0"/>
              <a:t>•Some Applications are:</a:t>
            </a:r>
          </a:p>
          <a:p>
            <a:pPr algn="just">
              <a:buFont typeface="Wingdings" panose="05000000000000000000" pitchFamily="2" charset="2"/>
              <a:buChar char="Ø"/>
            </a:pPr>
            <a:r>
              <a:rPr lang="en-US" dirty="0"/>
              <a:t>Facial Recognition Systems such as  Face ID &amp; Clearview AI that are used for phone unlocking  that identifies individuals based on facial features.</a:t>
            </a:r>
          </a:p>
          <a:p>
            <a:pPr algn="just">
              <a:buFont typeface="Wingdings" panose="05000000000000000000" pitchFamily="2" charset="2"/>
              <a:buChar char="Ø"/>
            </a:pPr>
            <a:r>
              <a:rPr lang="en-US" dirty="0"/>
              <a:t>Fingerprint Recognition used in smartphones, biometric attendance systems that matches fingerprint patterns for identity verification. </a:t>
            </a:r>
          </a:p>
          <a:p>
            <a:pPr algn="just">
              <a:buFont typeface="Wingdings" panose="05000000000000000000" pitchFamily="2" charset="2"/>
              <a:buChar char="Ø"/>
            </a:pPr>
            <a:r>
              <a:rPr lang="en-US" b="1" dirty="0"/>
              <a:t> </a:t>
            </a:r>
            <a:r>
              <a:rPr lang="en-US" dirty="0"/>
              <a:t>Iris Recognition  used in airports &amp;  National ID systems. </a:t>
            </a:r>
          </a:p>
          <a:p>
            <a:pPr algn="just">
              <a:buFont typeface="Wingdings" panose="05000000000000000000" pitchFamily="2" charset="2"/>
              <a:buChar char="Ø"/>
            </a:pPr>
            <a:r>
              <a:rPr lang="en-US" dirty="0"/>
              <a:t>Voice Recognition such as  Amazon Alexa &amp; Google Assistant  that can identify who is speaking used in secure authentication systems.  </a:t>
            </a:r>
          </a:p>
          <a:p>
            <a:pPr algn="just">
              <a:buFont typeface="Wingdings" panose="05000000000000000000" pitchFamily="2" charset="2"/>
              <a:buChar char="Ø"/>
            </a:pPr>
            <a:r>
              <a:rPr lang="en-US" dirty="0"/>
              <a:t>Signature Recognition used in banking  document verification to analyze  shape, stroke &amp; speed of signature.</a:t>
            </a:r>
          </a:p>
          <a:p>
            <a:endParaRPr lang="en-US" dirty="0"/>
          </a:p>
        </p:txBody>
      </p:sp>
    </p:spTree>
    <p:extLst>
      <p:ext uri="{BB962C8B-B14F-4D97-AF65-F5344CB8AC3E}">
        <p14:creationId xmlns:p14="http://schemas.microsoft.com/office/powerpoint/2010/main" val="33554353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6DB1-C524-FDA7-FAA9-F59F65E75520}"/>
              </a:ext>
            </a:extLst>
          </p:cNvPr>
          <p:cNvSpPr>
            <a:spLocks noGrp="1"/>
          </p:cNvSpPr>
          <p:nvPr>
            <p:ph type="title"/>
          </p:nvPr>
        </p:nvSpPr>
        <p:spPr>
          <a:xfrm>
            <a:off x="838200" y="365125"/>
            <a:ext cx="10515600" cy="559435"/>
          </a:xfrm>
        </p:spPr>
        <p:txBody>
          <a:bodyPr>
            <a:normAutofit fontScale="90000"/>
          </a:bodyPr>
          <a:lstStyle/>
          <a:p>
            <a:r>
              <a:rPr lang="en-US" dirty="0"/>
              <a:t>Application of AI</a:t>
            </a:r>
          </a:p>
        </p:txBody>
      </p:sp>
      <p:sp>
        <p:nvSpPr>
          <p:cNvPr id="3" name="Content Placeholder 2">
            <a:extLst>
              <a:ext uri="{FF2B5EF4-FFF2-40B4-BE49-F238E27FC236}">
                <a16:creationId xmlns:a16="http://schemas.microsoft.com/office/drawing/2014/main" id="{844272BC-6DEB-000A-A716-9D6126808CA2}"/>
              </a:ext>
            </a:extLst>
          </p:cNvPr>
          <p:cNvSpPr>
            <a:spLocks noGrp="1"/>
          </p:cNvSpPr>
          <p:nvPr>
            <p:ph idx="1"/>
          </p:nvPr>
        </p:nvSpPr>
        <p:spPr>
          <a:xfrm>
            <a:off x="838200" y="1076961"/>
            <a:ext cx="10515600" cy="5659119"/>
          </a:xfrm>
        </p:spPr>
        <p:txBody>
          <a:bodyPr>
            <a:normAutofit fontScale="92500" lnSpcReduction="10000"/>
          </a:bodyPr>
          <a:lstStyle/>
          <a:p>
            <a:pPr marL="0" indent="0">
              <a:buNone/>
            </a:pPr>
            <a:r>
              <a:rPr lang="en-US" dirty="0"/>
              <a:t>9. Manufacturing (Industry 4.0)</a:t>
            </a:r>
          </a:p>
          <a:p>
            <a:pPr algn="just"/>
            <a:r>
              <a:rPr lang="en-US" dirty="0"/>
              <a:t>AI improves efficiency, quality, and automation of Industry.</a:t>
            </a:r>
          </a:p>
          <a:p>
            <a:pPr algn="just"/>
            <a:r>
              <a:rPr lang="en-US" dirty="0"/>
              <a:t>Some Applications are:</a:t>
            </a:r>
          </a:p>
          <a:p>
            <a:pPr algn="just">
              <a:buFont typeface="Wingdings" panose="05000000000000000000" pitchFamily="2" charset="2"/>
              <a:buChar char="Ø"/>
            </a:pPr>
            <a:r>
              <a:rPr lang="en-US" dirty="0"/>
              <a:t>Used in Predictive maintenance i.e. AI is used to detect machine failures before they occur.</a:t>
            </a:r>
          </a:p>
          <a:p>
            <a:pPr algn="just">
              <a:buFont typeface="Wingdings" panose="05000000000000000000" pitchFamily="2" charset="2"/>
              <a:buChar char="Ø"/>
            </a:pPr>
            <a:r>
              <a:rPr lang="en-US" dirty="0"/>
              <a:t>Used in Quality control i.e. Computer vision for defect detection. </a:t>
            </a:r>
          </a:p>
          <a:p>
            <a:pPr algn="just">
              <a:buFont typeface="Wingdings" panose="05000000000000000000" pitchFamily="2" charset="2"/>
              <a:buChar char="Ø"/>
            </a:pPr>
            <a:r>
              <a:rPr lang="en-US" dirty="0"/>
              <a:t>Smart robots in assembly lines.</a:t>
            </a:r>
          </a:p>
          <a:p>
            <a:pPr marL="0" indent="0">
              <a:buNone/>
            </a:pPr>
            <a:r>
              <a:rPr lang="en-US" dirty="0"/>
              <a:t>10. Transportation &amp; Logistics</a:t>
            </a:r>
          </a:p>
          <a:p>
            <a:r>
              <a:rPr lang="en-US" dirty="0"/>
              <a:t>Some Applications are:</a:t>
            </a:r>
          </a:p>
          <a:p>
            <a:pPr algn="just">
              <a:buFont typeface="Wingdings" panose="05000000000000000000" pitchFamily="2" charset="2"/>
              <a:buChar char="Ø"/>
            </a:pPr>
            <a:r>
              <a:rPr lang="en-US" dirty="0"/>
              <a:t>AI enables smarter and safer mobility with development of autonomous vehicles such as self-driving cars.</a:t>
            </a:r>
          </a:p>
          <a:p>
            <a:pPr algn="just">
              <a:buFont typeface="Wingdings" panose="05000000000000000000" pitchFamily="2" charset="2"/>
              <a:buChar char="Ø"/>
            </a:pPr>
            <a:r>
              <a:rPr lang="en-US" dirty="0"/>
              <a:t>Helps in faster delivery planning with Route optimization</a:t>
            </a:r>
            <a:r>
              <a:rPr lang="en-US" b="1" dirty="0"/>
              <a:t>.</a:t>
            </a:r>
            <a:endParaRPr lang="en-US" dirty="0"/>
          </a:p>
          <a:p>
            <a:pPr algn="just">
              <a:buFont typeface="Wingdings" panose="05000000000000000000" pitchFamily="2" charset="2"/>
              <a:buChar char="Ø"/>
            </a:pPr>
            <a:r>
              <a:rPr lang="en-US" dirty="0"/>
              <a:t>Helps in reducing congestion with traffic prediction.</a:t>
            </a:r>
          </a:p>
          <a:p>
            <a:pPr marL="0" indent="0" algn="just">
              <a:buNone/>
            </a:pPr>
            <a:endParaRPr lang="en-US" dirty="0"/>
          </a:p>
          <a:p>
            <a:endParaRPr lang="en-US" dirty="0"/>
          </a:p>
        </p:txBody>
      </p:sp>
    </p:spTree>
    <p:extLst>
      <p:ext uri="{BB962C8B-B14F-4D97-AF65-F5344CB8AC3E}">
        <p14:creationId xmlns:p14="http://schemas.microsoft.com/office/powerpoint/2010/main" val="14242224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1559B-A6BD-AC03-D535-37712F6FC978}"/>
              </a:ext>
            </a:extLst>
          </p:cNvPr>
          <p:cNvSpPr>
            <a:spLocks noGrp="1"/>
          </p:cNvSpPr>
          <p:nvPr>
            <p:ph type="title"/>
          </p:nvPr>
        </p:nvSpPr>
        <p:spPr>
          <a:xfrm>
            <a:off x="838200" y="213360"/>
            <a:ext cx="10515600" cy="630555"/>
          </a:xfrm>
        </p:spPr>
        <p:txBody>
          <a:bodyPr>
            <a:normAutofit fontScale="90000"/>
          </a:bodyPr>
          <a:lstStyle/>
          <a:p>
            <a:r>
              <a:rPr lang="en-US" dirty="0"/>
              <a:t>Application of AI</a:t>
            </a:r>
          </a:p>
        </p:txBody>
      </p:sp>
      <p:sp>
        <p:nvSpPr>
          <p:cNvPr id="3" name="Content Placeholder 2">
            <a:extLst>
              <a:ext uri="{FF2B5EF4-FFF2-40B4-BE49-F238E27FC236}">
                <a16:creationId xmlns:a16="http://schemas.microsoft.com/office/drawing/2014/main" id="{1D80F607-1406-31E1-B2BB-B5839517EEF2}"/>
              </a:ext>
            </a:extLst>
          </p:cNvPr>
          <p:cNvSpPr>
            <a:spLocks noGrp="1"/>
          </p:cNvSpPr>
          <p:nvPr>
            <p:ph idx="1"/>
          </p:nvPr>
        </p:nvSpPr>
        <p:spPr>
          <a:xfrm>
            <a:off x="838200" y="1005840"/>
            <a:ext cx="10515600" cy="5445760"/>
          </a:xfrm>
        </p:spPr>
        <p:txBody>
          <a:bodyPr>
            <a:normAutofit fontScale="92500" lnSpcReduction="20000"/>
          </a:bodyPr>
          <a:lstStyle/>
          <a:p>
            <a:pPr marL="0" indent="0">
              <a:buNone/>
            </a:pPr>
            <a:r>
              <a:rPr lang="en-US" dirty="0"/>
              <a:t>11. Cybersecurity</a:t>
            </a:r>
          </a:p>
          <a:p>
            <a:r>
              <a:rPr lang="en-US" dirty="0"/>
              <a:t>AI enhances system security and threat detection.</a:t>
            </a:r>
          </a:p>
          <a:p>
            <a:r>
              <a:rPr lang="en-US" dirty="0"/>
              <a:t>Some Applications are:</a:t>
            </a:r>
          </a:p>
          <a:p>
            <a:pPr>
              <a:buFont typeface="Wingdings" panose="05000000000000000000" pitchFamily="2" charset="2"/>
              <a:buChar char="Ø"/>
            </a:pPr>
            <a:r>
              <a:rPr lang="en-US" dirty="0"/>
              <a:t>Anomaly detection: Identifying cyber attacks </a:t>
            </a:r>
          </a:p>
          <a:p>
            <a:pPr>
              <a:buFont typeface="Wingdings" panose="05000000000000000000" pitchFamily="2" charset="2"/>
              <a:buChar char="Ø"/>
            </a:pPr>
            <a:r>
              <a:rPr lang="en-US" dirty="0"/>
              <a:t>Malware detection </a:t>
            </a:r>
          </a:p>
          <a:p>
            <a:pPr>
              <a:buFont typeface="Wingdings" panose="05000000000000000000" pitchFamily="2" charset="2"/>
              <a:buChar char="Ø"/>
            </a:pPr>
            <a:r>
              <a:rPr lang="en-US" dirty="0"/>
              <a:t>User behavior analytics</a:t>
            </a:r>
          </a:p>
          <a:p>
            <a:pPr marL="0" indent="0" algn="just">
              <a:buNone/>
            </a:pPr>
            <a:r>
              <a:rPr lang="en-US" dirty="0"/>
              <a:t>12. Bio-Technology</a:t>
            </a:r>
          </a:p>
          <a:p>
            <a:pPr algn="just"/>
            <a:r>
              <a:rPr lang="en-US" dirty="0"/>
              <a:t>Some Applications are:</a:t>
            </a:r>
          </a:p>
          <a:p>
            <a:pPr algn="just">
              <a:buFont typeface="Wingdings" panose="05000000000000000000" pitchFamily="2" charset="2"/>
              <a:buChar char="Ø"/>
            </a:pPr>
            <a:r>
              <a:rPr lang="en-US" dirty="0"/>
              <a:t>Drug Discovery &amp; Development.</a:t>
            </a:r>
          </a:p>
          <a:p>
            <a:pPr algn="just">
              <a:buFont typeface="Wingdings" panose="05000000000000000000" pitchFamily="2" charset="2"/>
              <a:buChar char="Ø"/>
            </a:pPr>
            <a:r>
              <a:rPr lang="en-US" dirty="0"/>
              <a:t>Genomics &amp; DNA Analysis used for identifying disease-causing genes.</a:t>
            </a:r>
          </a:p>
          <a:p>
            <a:pPr algn="just">
              <a:buFont typeface="Wingdings" panose="05000000000000000000" pitchFamily="2" charset="2"/>
              <a:buChar char="Ø"/>
            </a:pPr>
            <a:r>
              <a:rPr lang="en-US" dirty="0"/>
              <a:t>Agricultural Biotechnology used in disease detection in plants and smart farming.</a:t>
            </a:r>
          </a:p>
          <a:p>
            <a:pPr algn="just"/>
            <a:r>
              <a:rPr lang="en-US" dirty="0"/>
              <a:t>Vaccine Development such as COVID-19 vaccine that could speeds up Antigen selection and Clinical trials.</a:t>
            </a:r>
          </a:p>
          <a:p>
            <a:endParaRPr lang="en-US" dirty="0"/>
          </a:p>
        </p:txBody>
      </p:sp>
    </p:spTree>
    <p:extLst>
      <p:ext uri="{BB962C8B-B14F-4D97-AF65-F5344CB8AC3E}">
        <p14:creationId xmlns:p14="http://schemas.microsoft.com/office/powerpoint/2010/main" val="20687791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264160"/>
            <a:ext cx="10429240" cy="528320"/>
          </a:xfrm>
        </p:spPr>
        <p:txBody>
          <a:bodyPr>
            <a:normAutofit fontScale="90000"/>
          </a:bodyPr>
          <a:lstStyle/>
          <a:p>
            <a:br>
              <a:rPr lang="en-US" dirty="0"/>
            </a:br>
            <a:r>
              <a:rPr lang="en-US" dirty="0"/>
              <a:t>1.6 Intelligent Agents and Types</a:t>
            </a:r>
            <a:br>
              <a:rPr lang="en-US" dirty="0"/>
            </a:br>
            <a:endParaRPr lang="en-US" dirty="0"/>
          </a:p>
        </p:txBody>
      </p:sp>
      <p:sp>
        <p:nvSpPr>
          <p:cNvPr id="3" name="Content Placeholder 2"/>
          <p:cNvSpPr>
            <a:spLocks noGrp="1"/>
          </p:cNvSpPr>
          <p:nvPr>
            <p:ph idx="1"/>
          </p:nvPr>
        </p:nvSpPr>
        <p:spPr>
          <a:xfrm>
            <a:off x="838200" y="955040"/>
            <a:ext cx="10515600" cy="5638800"/>
          </a:xfrm>
        </p:spPr>
        <p:txBody>
          <a:bodyPr>
            <a:normAutofit fontScale="85000" lnSpcReduction="20000"/>
          </a:bodyPr>
          <a:lstStyle/>
          <a:p>
            <a:pPr marL="0" indent="0">
              <a:buNone/>
            </a:pPr>
            <a:r>
              <a:rPr lang="en-US" b="1" dirty="0"/>
              <a:t>Agent</a:t>
            </a:r>
          </a:p>
          <a:p>
            <a:pPr algn="just">
              <a:buFont typeface="Wingdings" panose="05000000000000000000" pitchFamily="2" charset="2"/>
              <a:buChar char="Ø"/>
            </a:pPr>
            <a:r>
              <a:rPr lang="en-US" dirty="0"/>
              <a:t>An AI system is composed of an agent and its environment. The agents act in their environment. The environment may contain other agents.</a:t>
            </a:r>
          </a:p>
          <a:p>
            <a:pPr>
              <a:buFont typeface="Wingdings" panose="05000000000000000000" pitchFamily="2" charset="2"/>
              <a:buChar char="Ø"/>
            </a:pPr>
            <a:r>
              <a:rPr lang="en-US" dirty="0"/>
              <a:t>An agent is anything that can be viewed as:</a:t>
            </a:r>
          </a:p>
          <a:p>
            <a:r>
              <a:rPr lang="en-US" dirty="0"/>
              <a:t>perceiving its environment through sensors and</a:t>
            </a:r>
          </a:p>
          <a:p>
            <a:r>
              <a:rPr lang="en-US" dirty="0"/>
              <a:t>acting upon that environment through actuators</a:t>
            </a:r>
          </a:p>
          <a:p>
            <a:pPr marL="0" indent="0">
              <a:buNone/>
            </a:pPr>
            <a:r>
              <a:rPr lang="en-US" b="1" dirty="0"/>
              <a:t>Human agent</a:t>
            </a:r>
            <a:r>
              <a:rPr lang="en-US" dirty="0"/>
              <a:t>:</a:t>
            </a:r>
          </a:p>
          <a:p>
            <a:pPr>
              <a:buFont typeface="Wingdings" panose="05000000000000000000" pitchFamily="2" charset="2"/>
              <a:buChar char="Ø"/>
            </a:pPr>
            <a:r>
              <a:rPr lang="en-US" dirty="0"/>
              <a:t>eyes, ears, and other organs for sensors;</a:t>
            </a:r>
          </a:p>
          <a:p>
            <a:pPr>
              <a:buFont typeface="Wingdings" panose="05000000000000000000" pitchFamily="2" charset="2"/>
              <a:buChar char="Ø"/>
            </a:pPr>
            <a:r>
              <a:rPr lang="en-US" dirty="0"/>
              <a:t>hands, legs, mouth, and other body parts for actuators</a:t>
            </a:r>
          </a:p>
          <a:p>
            <a:pPr marL="0" indent="0">
              <a:buNone/>
            </a:pPr>
            <a:r>
              <a:rPr lang="en-US" b="1" dirty="0"/>
              <a:t>Robotic agent</a:t>
            </a:r>
            <a:r>
              <a:rPr lang="en-US" dirty="0"/>
              <a:t>:</a:t>
            </a:r>
          </a:p>
          <a:p>
            <a:pPr>
              <a:buFont typeface="Wingdings" panose="05000000000000000000" pitchFamily="2" charset="2"/>
              <a:buChar char="Ø"/>
            </a:pPr>
            <a:r>
              <a:rPr lang="en-US" dirty="0"/>
              <a:t>cameras and infrared range finders for sensors; </a:t>
            </a:r>
          </a:p>
          <a:p>
            <a:pPr>
              <a:buFont typeface="Wingdings" panose="05000000000000000000" pitchFamily="2" charset="2"/>
              <a:buChar char="Ø"/>
            </a:pPr>
            <a:r>
              <a:rPr lang="en-US" dirty="0"/>
              <a:t>Various motors for actuators</a:t>
            </a:r>
          </a:p>
          <a:p>
            <a:pPr marL="0" indent="0">
              <a:buNone/>
            </a:pPr>
            <a:r>
              <a:rPr lang="en-US" b="1" dirty="0"/>
              <a:t>Software agent:</a:t>
            </a:r>
          </a:p>
          <a:p>
            <a:pPr>
              <a:buFont typeface="Wingdings" panose="05000000000000000000" pitchFamily="2" charset="2"/>
              <a:buChar char="Ø"/>
            </a:pPr>
            <a:r>
              <a:rPr lang="en-US" dirty="0"/>
              <a:t>Keyboard, microphone for sensors;</a:t>
            </a:r>
          </a:p>
          <a:p>
            <a:pPr>
              <a:buFont typeface="Wingdings" panose="05000000000000000000" pitchFamily="2" charset="2"/>
              <a:buChar char="Ø"/>
            </a:pPr>
            <a:r>
              <a:rPr lang="en-US" dirty="0"/>
              <a:t>Screen, printer, speaker for actuators</a:t>
            </a:r>
          </a:p>
          <a:p>
            <a:pPr marL="0" indent="0">
              <a:buNone/>
            </a:pPr>
            <a:endParaRPr lang="en-US" dirty="0"/>
          </a:p>
        </p:txBody>
      </p:sp>
    </p:spTree>
    <p:extLst>
      <p:ext uri="{BB962C8B-B14F-4D97-AF65-F5344CB8AC3E}">
        <p14:creationId xmlns:p14="http://schemas.microsoft.com/office/powerpoint/2010/main" val="36188830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Agents and environments</a:t>
            </a:r>
          </a:p>
        </p:txBody>
      </p:sp>
      <p:pic>
        <p:nvPicPr>
          <p:cNvPr id="4" name="Content Placeholder 3"/>
          <p:cNvPicPr>
            <a:picLocks noGrp="1" noChangeAspect="1"/>
          </p:cNvPicPr>
          <p:nvPr>
            <p:ph idx="1"/>
          </p:nvPr>
        </p:nvPicPr>
        <p:blipFill>
          <a:blip r:embed="rId2"/>
          <a:stretch>
            <a:fillRect/>
          </a:stretch>
        </p:blipFill>
        <p:spPr>
          <a:xfrm>
            <a:off x="1896035" y="1690688"/>
            <a:ext cx="5916706" cy="2572030"/>
          </a:xfrm>
          <a:prstGeom prst="rect">
            <a:avLst/>
          </a:prstGeom>
        </p:spPr>
      </p:pic>
      <p:sp>
        <p:nvSpPr>
          <p:cNvPr id="5" name="Rectangle 4"/>
          <p:cNvSpPr/>
          <p:nvPr/>
        </p:nvSpPr>
        <p:spPr>
          <a:xfrm>
            <a:off x="838200" y="4551421"/>
            <a:ext cx="9798424" cy="1477328"/>
          </a:xfrm>
          <a:prstGeom prst="rect">
            <a:avLst/>
          </a:prstGeom>
        </p:spPr>
        <p:txBody>
          <a:bodyPr wrap="square">
            <a:spAutoFit/>
          </a:bodyPr>
          <a:lstStyle/>
          <a:p>
            <a:pPr algn="just"/>
            <a:r>
              <a:rPr lang="en-US" b="1" dirty="0">
                <a:latin typeface="TimesNewRomanPS-BoldMT"/>
              </a:rPr>
              <a:t>Performance Measure: </a:t>
            </a:r>
            <a:r>
              <a:rPr lang="en-US" dirty="0">
                <a:latin typeface="TimesNewRomanPSMT"/>
              </a:rPr>
              <a:t>determines how successful the agent is.</a:t>
            </a:r>
          </a:p>
          <a:p>
            <a:pPr algn="just"/>
            <a:r>
              <a:rPr lang="en-US" b="1" dirty="0">
                <a:latin typeface="TimesNewRomanPS-BoldMT"/>
              </a:rPr>
              <a:t>Behavior: </a:t>
            </a:r>
            <a:r>
              <a:rPr lang="en-US" dirty="0">
                <a:latin typeface="TimesNewRomanPSMT"/>
              </a:rPr>
              <a:t>activities the agent performs to achieve the goal</a:t>
            </a:r>
          </a:p>
          <a:p>
            <a:pPr algn="just"/>
            <a:r>
              <a:rPr lang="en-US" b="1" dirty="0">
                <a:latin typeface="TimesNewRomanPS-BoldMT"/>
              </a:rPr>
              <a:t>Percepts: </a:t>
            </a:r>
            <a:r>
              <a:rPr lang="en-US" dirty="0">
                <a:latin typeface="TimesNewRomanPSMT"/>
              </a:rPr>
              <a:t>formation of concepts based on the inputs</a:t>
            </a:r>
            <a:r>
              <a:rPr lang="en-US" b="1" dirty="0">
                <a:latin typeface="TimesNewRomanPS-BoldMT"/>
              </a:rPr>
              <a:t>.</a:t>
            </a:r>
          </a:p>
          <a:p>
            <a:pPr algn="just"/>
            <a:r>
              <a:rPr lang="en-US" b="1" dirty="0">
                <a:latin typeface="TimesNewRomanPS-BoldMT"/>
              </a:rPr>
              <a:t>Percept Sequence: </a:t>
            </a:r>
            <a:r>
              <a:rPr lang="en-US" dirty="0">
                <a:latin typeface="TimesNewRomanPSMT"/>
              </a:rPr>
              <a:t>set of all the perceptions till date</a:t>
            </a:r>
          </a:p>
          <a:p>
            <a:pPr algn="just"/>
            <a:r>
              <a:rPr lang="en-US" b="1" dirty="0">
                <a:latin typeface="TimesNewRomanPS-BoldMT"/>
              </a:rPr>
              <a:t>Agent Function: </a:t>
            </a:r>
            <a:r>
              <a:rPr lang="en-US" dirty="0">
                <a:latin typeface="TimesNewRomanPSMT"/>
              </a:rPr>
              <a:t>mapping of perception</a:t>
            </a:r>
          </a:p>
        </p:txBody>
      </p:sp>
    </p:spTree>
    <p:extLst>
      <p:ext uri="{BB962C8B-B14F-4D97-AF65-F5344CB8AC3E}">
        <p14:creationId xmlns:p14="http://schemas.microsoft.com/office/powerpoint/2010/main" val="18916951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Agents and environments</a:t>
            </a:r>
          </a:p>
        </p:txBody>
      </p:sp>
      <p:sp>
        <p:nvSpPr>
          <p:cNvPr id="3" name="Content Placeholder 2"/>
          <p:cNvSpPr>
            <a:spLocks noGrp="1"/>
          </p:cNvSpPr>
          <p:nvPr>
            <p:ph idx="1"/>
          </p:nvPr>
        </p:nvSpPr>
        <p:spPr/>
        <p:txBody>
          <a:bodyPr/>
          <a:lstStyle/>
          <a:p>
            <a:r>
              <a:rPr lang="en-US" dirty="0"/>
              <a:t>The agent function maps from percept histories to actions:</a:t>
            </a:r>
          </a:p>
          <a:p>
            <a:endParaRPr lang="en-US" dirty="0"/>
          </a:p>
          <a:p>
            <a:endParaRPr lang="en-US" dirty="0"/>
          </a:p>
          <a:p>
            <a:endParaRPr lang="en-US" dirty="0"/>
          </a:p>
          <a:p>
            <a:pPr algn="just"/>
            <a:r>
              <a:rPr lang="en-US" dirty="0"/>
              <a:t>The agent program runs on the physical architecture to produce </a:t>
            </a:r>
            <a:r>
              <a:rPr lang="en-US" i="1" dirty="0"/>
              <a:t>f, </a:t>
            </a:r>
          </a:p>
          <a:p>
            <a:pPr marL="0" indent="0" algn="ctr">
              <a:buNone/>
            </a:pPr>
            <a:r>
              <a:rPr lang="en-US" dirty="0"/>
              <a:t>agent = architecture + program</a:t>
            </a:r>
          </a:p>
          <a:p>
            <a:r>
              <a:rPr lang="en-US" dirty="0"/>
              <a:t>Architecture = the machinery that an agent executes on.</a:t>
            </a:r>
          </a:p>
          <a:p>
            <a:r>
              <a:rPr lang="en-US" dirty="0"/>
              <a:t>Agent Program = an implementation of an agent function</a:t>
            </a:r>
          </a:p>
          <a:p>
            <a:pPr algn="just"/>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0262" y="2492907"/>
            <a:ext cx="4512819" cy="1157904"/>
          </a:xfrm>
          <a:prstGeom prst="rect">
            <a:avLst/>
          </a:prstGeom>
        </p:spPr>
      </p:pic>
    </p:spTree>
    <p:extLst>
      <p:ext uri="{BB962C8B-B14F-4D97-AF65-F5344CB8AC3E}">
        <p14:creationId xmlns:p14="http://schemas.microsoft.com/office/powerpoint/2010/main" val="3013324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Vacuum Cleaner World</a:t>
            </a:r>
          </a:p>
        </p:txBody>
      </p:sp>
      <p:pic>
        <p:nvPicPr>
          <p:cNvPr id="5" name="Content Placeholder 4"/>
          <p:cNvPicPr>
            <a:picLocks noGrp="1" noChangeAspect="1"/>
          </p:cNvPicPr>
          <p:nvPr>
            <p:ph idx="1"/>
          </p:nvPr>
        </p:nvPicPr>
        <p:blipFill>
          <a:blip r:embed="rId2"/>
          <a:stretch>
            <a:fillRect/>
          </a:stretch>
        </p:blipFill>
        <p:spPr>
          <a:xfrm>
            <a:off x="2164976" y="1969285"/>
            <a:ext cx="5150224" cy="2158962"/>
          </a:xfrm>
          <a:prstGeom prst="rect">
            <a:avLst/>
          </a:prstGeom>
        </p:spPr>
      </p:pic>
      <p:sp>
        <p:nvSpPr>
          <p:cNvPr id="6" name="Rectangle 5"/>
          <p:cNvSpPr/>
          <p:nvPr/>
        </p:nvSpPr>
        <p:spPr>
          <a:xfrm>
            <a:off x="838199" y="4406844"/>
            <a:ext cx="9583271" cy="646331"/>
          </a:xfrm>
          <a:prstGeom prst="rect">
            <a:avLst/>
          </a:prstGeom>
        </p:spPr>
        <p:txBody>
          <a:bodyPr wrap="square">
            <a:spAutoFit/>
          </a:bodyPr>
          <a:lstStyle/>
          <a:p>
            <a:r>
              <a:rPr lang="en-US" dirty="0">
                <a:solidFill>
                  <a:srgbClr val="FF0000"/>
                </a:solidFill>
                <a:latin typeface="Helvetica-Light"/>
              </a:rPr>
              <a:t>Percepts: </a:t>
            </a:r>
            <a:r>
              <a:rPr lang="en-US" dirty="0">
                <a:solidFill>
                  <a:srgbClr val="000000"/>
                </a:solidFill>
                <a:latin typeface="Helvetica-Light"/>
              </a:rPr>
              <a:t>location and state of the environment, e.g., [</a:t>
            </a:r>
            <a:r>
              <a:rPr lang="en-US" dirty="0" err="1">
                <a:solidFill>
                  <a:srgbClr val="000000"/>
                </a:solidFill>
                <a:latin typeface="Helvetica-Light"/>
              </a:rPr>
              <a:t>A,Dirty</a:t>
            </a:r>
            <a:r>
              <a:rPr lang="en-US" dirty="0">
                <a:solidFill>
                  <a:srgbClr val="000000"/>
                </a:solidFill>
                <a:latin typeface="Helvetica-Light"/>
              </a:rPr>
              <a:t>], [</a:t>
            </a:r>
            <a:r>
              <a:rPr lang="en-US" dirty="0" err="1">
                <a:solidFill>
                  <a:srgbClr val="000000"/>
                </a:solidFill>
                <a:latin typeface="Helvetica-Light"/>
              </a:rPr>
              <a:t>B,Clean</a:t>
            </a:r>
            <a:r>
              <a:rPr lang="en-US" dirty="0">
                <a:solidFill>
                  <a:srgbClr val="000000"/>
                </a:solidFill>
                <a:latin typeface="Helvetica-Light"/>
              </a:rPr>
              <a:t>]</a:t>
            </a:r>
          </a:p>
          <a:p>
            <a:r>
              <a:rPr lang="en-US" dirty="0">
                <a:solidFill>
                  <a:srgbClr val="FF0000"/>
                </a:solidFill>
                <a:latin typeface="Helvetica-Light"/>
              </a:rPr>
              <a:t>Actions: </a:t>
            </a:r>
            <a:r>
              <a:rPr lang="en-US" i="1" dirty="0">
                <a:solidFill>
                  <a:srgbClr val="000000"/>
                </a:solidFill>
                <a:latin typeface="Helvetica-LightOblique"/>
              </a:rPr>
              <a:t>Left</a:t>
            </a:r>
            <a:r>
              <a:rPr lang="en-US" dirty="0">
                <a:solidFill>
                  <a:srgbClr val="000000"/>
                </a:solidFill>
                <a:latin typeface="Helvetica-Light"/>
              </a:rPr>
              <a:t>, </a:t>
            </a:r>
            <a:r>
              <a:rPr lang="en-US" i="1" dirty="0">
                <a:solidFill>
                  <a:srgbClr val="000000"/>
                </a:solidFill>
                <a:latin typeface="Helvetica-LightOblique"/>
              </a:rPr>
              <a:t>Right</a:t>
            </a:r>
            <a:r>
              <a:rPr lang="en-US" dirty="0">
                <a:solidFill>
                  <a:srgbClr val="000000"/>
                </a:solidFill>
                <a:latin typeface="Helvetica-Light"/>
              </a:rPr>
              <a:t>, </a:t>
            </a:r>
            <a:r>
              <a:rPr lang="en-US" i="1" dirty="0">
                <a:solidFill>
                  <a:srgbClr val="000000"/>
                </a:solidFill>
                <a:latin typeface="Helvetica-LightOblique"/>
              </a:rPr>
              <a:t>Suck</a:t>
            </a:r>
            <a:r>
              <a:rPr lang="en-US" dirty="0">
                <a:solidFill>
                  <a:srgbClr val="000000"/>
                </a:solidFill>
                <a:latin typeface="Helvetica-Light"/>
              </a:rPr>
              <a:t>, </a:t>
            </a:r>
            <a:r>
              <a:rPr lang="en-US" i="1" dirty="0" err="1">
                <a:solidFill>
                  <a:srgbClr val="000000"/>
                </a:solidFill>
                <a:latin typeface="Helvetica-LightOblique"/>
              </a:rPr>
              <a:t>NoOp</a:t>
            </a:r>
            <a:endParaRPr lang="en-US" dirty="0"/>
          </a:p>
        </p:txBody>
      </p:sp>
    </p:spTree>
    <p:extLst>
      <p:ext uri="{BB962C8B-B14F-4D97-AF65-F5344CB8AC3E}">
        <p14:creationId xmlns:p14="http://schemas.microsoft.com/office/powerpoint/2010/main" val="4091571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 agents</a:t>
            </a:r>
          </a:p>
        </p:txBody>
      </p:sp>
      <p:sp>
        <p:nvSpPr>
          <p:cNvPr id="3" name="Content Placeholder 2"/>
          <p:cNvSpPr>
            <a:spLocks noGrp="1"/>
          </p:cNvSpPr>
          <p:nvPr>
            <p:ph idx="1"/>
          </p:nvPr>
        </p:nvSpPr>
        <p:spPr/>
        <p:txBody>
          <a:bodyPr>
            <a:normAutofit/>
          </a:bodyPr>
          <a:lstStyle/>
          <a:p>
            <a:pPr marL="0" indent="0">
              <a:buNone/>
            </a:pPr>
            <a:r>
              <a:rPr lang="en-US" dirty="0"/>
              <a:t>Rational Agent:</a:t>
            </a:r>
          </a:p>
          <a:p>
            <a:pPr algn="just">
              <a:buFont typeface="Wingdings" panose="05000000000000000000" pitchFamily="2" charset="2"/>
              <a:buChar char="Ø"/>
            </a:pPr>
            <a:r>
              <a:rPr lang="en-US" dirty="0"/>
              <a:t> For each possible percept sequence, a rational agent should select an action that is expected</a:t>
            </a:r>
            <a:r>
              <a:rPr lang="en-US" i="1" dirty="0"/>
              <a:t> </a:t>
            </a:r>
            <a:r>
              <a:rPr lang="en-US" dirty="0"/>
              <a:t>to maximize its performance measure, based on the evidence provided by the percept sequence and whatever built-in knowledge the agent has.</a:t>
            </a:r>
          </a:p>
          <a:p>
            <a:pPr marL="0" indent="0" algn="just">
              <a:buNone/>
            </a:pPr>
            <a:r>
              <a:rPr lang="en-US" dirty="0"/>
              <a:t>Performance measure:</a:t>
            </a:r>
          </a:p>
          <a:p>
            <a:pPr algn="just">
              <a:buFont typeface="Wingdings" panose="05000000000000000000" pitchFamily="2" charset="2"/>
              <a:buChar char="Ø"/>
            </a:pPr>
            <a:r>
              <a:rPr lang="en-US" dirty="0"/>
              <a:t>An objective criterion for success of an agent's behavior. E.g., performance measure of a vacuum-cleaner agent could be amount of dirt cleaned up, amount of time taken, amount of electricity consumed, amount of noise generated, etc.</a:t>
            </a:r>
          </a:p>
        </p:txBody>
      </p:sp>
    </p:spTree>
    <p:extLst>
      <p:ext uri="{BB962C8B-B14F-4D97-AF65-F5344CB8AC3E}">
        <p14:creationId xmlns:p14="http://schemas.microsoft.com/office/powerpoint/2010/main" val="28787508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a:xfrm>
            <a:off x="838200" y="1479176"/>
            <a:ext cx="10515600" cy="4697787"/>
          </a:xfrm>
        </p:spPr>
        <p:txBody>
          <a:bodyPr>
            <a:normAutofit fontScale="85000" lnSpcReduction="20000"/>
          </a:bodyPr>
          <a:lstStyle/>
          <a:p>
            <a:pPr algn="just"/>
            <a:r>
              <a:rPr lang="en-US" dirty="0"/>
              <a:t>Before we design an intelligent agent, we must specify its “task environment”.</a:t>
            </a:r>
          </a:p>
          <a:p>
            <a:pPr algn="just"/>
            <a:r>
              <a:rPr lang="en-US" dirty="0"/>
              <a:t>Environment must be:</a:t>
            </a:r>
          </a:p>
          <a:p>
            <a:pPr algn="just">
              <a:buFont typeface="Wingdings" panose="05000000000000000000" pitchFamily="2" charset="2"/>
              <a:buChar char="Ø"/>
            </a:pPr>
            <a:r>
              <a:rPr lang="en-US" dirty="0"/>
              <a:t>Fully observable </a:t>
            </a:r>
          </a:p>
          <a:p>
            <a:pPr algn="just"/>
            <a:r>
              <a:rPr lang="en-US" dirty="0"/>
              <a:t>An agent’s sensors give it access to the complete state of the environment at each point in time</a:t>
            </a:r>
          </a:p>
          <a:p>
            <a:pPr algn="just">
              <a:buFont typeface="Wingdings" panose="05000000000000000000" pitchFamily="2" charset="2"/>
              <a:buChar char="Ø"/>
            </a:pPr>
            <a:r>
              <a:rPr lang="en-US" dirty="0"/>
              <a:t> Deterministic </a:t>
            </a:r>
          </a:p>
          <a:p>
            <a:pPr algn="just"/>
            <a:r>
              <a:rPr lang="en-US" dirty="0"/>
              <a:t>The next state of the environment is completely determined by the current state and the action executed by the agent.</a:t>
            </a:r>
          </a:p>
          <a:p>
            <a:pPr algn="just">
              <a:buFont typeface="Wingdings" panose="05000000000000000000" pitchFamily="2" charset="2"/>
              <a:buChar char="Ø"/>
            </a:pPr>
            <a:r>
              <a:rPr lang="en-US" dirty="0"/>
              <a:t> Episodic </a:t>
            </a:r>
          </a:p>
          <a:p>
            <a:pPr algn="just"/>
            <a:r>
              <a:rPr lang="en-US" dirty="0"/>
              <a:t>The agent’s experience is divided into atomic ”episodes” (each episode consists of the agent perceiving and then performing a single action</a:t>
            </a:r>
          </a:p>
          <a:p>
            <a:pPr algn="just">
              <a:buFont typeface="Wingdings" panose="05000000000000000000" pitchFamily="2" charset="2"/>
              <a:buChar char="Ø"/>
            </a:pPr>
            <a:r>
              <a:rPr lang="en-US" dirty="0"/>
              <a:t> Static </a:t>
            </a:r>
          </a:p>
          <a:p>
            <a:pPr algn="just"/>
            <a:r>
              <a:rPr lang="en-US" dirty="0"/>
              <a:t>The environment is unchanged while an agent is deliberating.</a:t>
            </a:r>
          </a:p>
        </p:txBody>
      </p:sp>
    </p:spTree>
    <p:extLst>
      <p:ext uri="{BB962C8B-B14F-4D97-AF65-F5344CB8AC3E}">
        <p14:creationId xmlns:p14="http://schemas.microsoft.com/office/powerpoint/2010/main" val="366277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p:txBody>
          <a:bodyPr>
            <a:normAutofit/>
          </a:bodyPr>
          <a:lstStyle/>
          <a:p>
            <a:pPr marL="0" indent="0">
              <a:buNone/>
            </a:pPr>
            <a:r>
              <a:rPr lang="en-US" dirty="0"/>
              <a:t>PEAS</a:t>
            </a:r>
          </a:p>
          <a:p>
            <a:r>
              <a:rPr lang="en-US" dirty="0"/>
              <a:t>PEAS define task environments about formulating the performance of intelligent agents. It stands for:</a:t>
            </a:r>
          </a:p>
          <a:p>
            <a:pPr>
              <a:buFont typeface="Wingdings" panose="05000000000000000000" pitchFamily="2" charset="2"/>
              <a:buChar char="Ø"/>
            </a:pPr>
            <a:r>
              <a:rPr lang="en-US" dirty="0"/>
              <a:t>Performance measure</a:t>
            </a:r>
          </a:p>
          <a:p>
            <a:pPr>
              <a:buFont typeface="Wingdings" panose="05000000000000000000" pitchFamily="2" charset="2"/>
              <a:buChar char="Ø"/>
            </a:pPr>
            <a:r>
              <a:rPr lang="en-US" dirty="0"/>
              <a:t>Environment</a:t>
            </a:r>
          </a:p>
          <a:p>
            <a:pPr>
              <a:buFont typeface="Wingdings" panose="05000000000000000000" pitchFamily="2" charset="2"/>
              <a:buChar char="Ø"/>
            </a:pPr>
            <a:r>
              <a:rPr lang="en-US" dirty="0"/>
              <a:t>Actuators</a:t>
            </a:r>
          </a:p>
          <a:p>
            <a:pPr>
              <a:buFont typeface="Wingdings" panose="05000000000000000000" pitchFamily="2" charset="2"/>
              <a:buChar char="Ø"/>
            </a:pPr>
            <a:r>
              <a:rPr lang="en-US" dirty="0"/>
              <a:t>Sensors</a:t>
            </a:r>
          </a:p>
        </p:txBody>
      </p:sp>
    </p:spTree>
    <p:extLst>
      <p:ext uri="{BB962C8B-B14F-4D97-AF65-F5344CB8AC3E}">
        <p14:creationId xmlns:p14="http://schemas.microsoft.com/office/powerpoint/2010/main" val="2837869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a:xfrm>
            <a:off x="838200" y="1559859"/>
            <a:ext cx="10515600" cy="4617104"/>
          </a:xfrm>
        </p:spPr>
        <p:txBody>
          <a:bodyPr>
            <a:normAutofit/>
          </a:bodyPr>
          <a:lstStyle/>
          <a:p>
            <a:pPr marL="0" indent="0" algn="just">
              <a:buNone/>
            </a:pPr>
            <a:r>
              <a:rPr lang="en-US" dirty="0"/>
              <a:t>Q. Point out the task of designing an automated taxi driver according to PEAS description.</a:t>
            </a:r>
          </a:p>
          <a:p>
            <a:pPr marL="514350" indent="-514350" algn="just">
              <a:buAutoNum type="alphaUcPeriod"/>
            </a:pPr>
            <a:r>
              <a:rPr lang="en-US" dirty="0"/>
              <a:t>Agent= taxi-driver</a:t>
            </a:r>
          </a:p>
          <a:p>
            <a:pPr algn="just"/>
            <a:r>
              <a:rPr lang="en-US" dirty="0"/>
              <a:t>Performance measure: Safe, fast, legal, comfortable trip, maximize profits</a:t>
            </a:r>
          </a:p>
          <a:p>
            <a:pPr algn="just"/>
            <a:r>
              <a:rPr lang="en-US" dirty="0"/>
              <a:t>Environment: Roads, other traffic, pedestrians, customers</a:t>
            </a:r>
          </a:p>
          <a:p>
            <a:pPr algn="just"/>
            <a:r>
              <a:rPr lang="en-US" dirty="0"/>
              <a:t>Actuators: Steering wheel, accelerator, brake, signal, horn</a:t>
            </a:r>
          </a:p>
          <a:p>
            <a:pPr algn="just"/>
            <a:r>
              <a:rPr lang="en-US" dirty="0"/>
              <a:t>Sensors: Cameras, sonar, speedometer, GPS, engine sensors</a:t>
            </a:r>
          </a:p>
        </p:txBody>
      </p:sp>
    </p:spTree>
    <p:extLst>
      <p:ext uri="{BB962C8B-B14F-4D97-AF65-F5344CB8AC3E}">
        <p14:creationId xmlns:p14="http://schemas.microsoft.com/office/powerpoint/2010/main" val="2961352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gn="just">
              <a:buNone/>
            </a:pPr>
            <a:r>
              <a:rPr lang="en-US" dirty="0"/>
              <a:t>Q. Point out the task of designing a Medical diagnosis system according to PEAS description.</a:t>
            </a:r>
          </a:p>
          <a:p>
            <a:pPr marL="514350" indent="-514350" algn="just">
              <a:buAutoNum type="alphaUcPeriod"/>
            </a:pPr>
            <a:r>
              <a:rPr lang="en-US" dirty="0"/>
              <a:t>Agent= Medical diagnosis system</a:t>
            </a:r>
          </a:p>
          <a:p>
            <a:pPr algn="just"/>
            <a:r>
              <a:rPr lang="en-US" dirty="0"/>
              <a:t>Performance measure: reliable, minimize costs, legal, highly responsive</a:t>
            </a:r>
          </a:p>
          <a:p>
            <a:pPr algn="just"/>
            <a:r>
              <a:rPr lang="en-US" dirty="0"/>
              <a:t>Environment: Patient, hospital, staff, bed, pharmacy</a:t>
            </a:r>
          </a:p>
          <a:p>
            <a:pPr algn="just"/>
            <a:r>
              <a:rPr lang="en-US" dirty="0"/>
              <a:t>Actuators: Screen display, printer, speaker (questions, tests, diagnoses, treatments, referrals)</a:t>
            </a:r>
          </a:p>
          <a:p>
            <a:pPr algn="just"/>
            <a:r>
              <a:rPr lang="en-US" dirty="0"/>
              <a:t>Sensors: Keyboard, mouse, microphone (entry of symptoms, findings, patient's answers)</a:t>
            </a:r>
          </a:p>
        </p:txBody>
      </p:sp>
    </p:spTree>
    <p:extLst>
      <p:ext uri="{BB962C8B-B14F-4D97-AF65-F5344CB8AC3E}">
        <p14:creationId xmlns:p14="http://schemas.microsoft.com/office/powerpoint/2010/main" val="16778669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Environment</a:t>
            </a:r>
          </a:p>
        </p:txBody>
      </p:sp>
      <p:sp>
        <p:nvSpPr>
          <p:cNvPr id="3" name="Content Placeholder 2"/>
          <p:cNvSpPr>
            <a:spLocks noGrp="1"/>
          </p:cNvSpPr>
          <p:nvPr>
            <p:ph idx="1"/>
          </p:nvPr>
        </p:nvSpPr>
        <p:spPr>
          <a:xfrm>
            <a:off x="838200" y="1690688"/>
            <a:ext cx="10515600" cy="4486275"/>
          </a:xfrm>
        </p:spPr>
        <p:txBody>
          <a:bodyPr>
            <a:normAutofit/>
          </a:bodyPr>
          <a:lstStyle/>
          <a:p>
            <a:pPr marL="0" indent="0" algn="just">
              <a:buNone/>
            </a:pPr>
            <a:r>
              <a:rPr lang="en-US" dirty="0"/>
              <a:t>Q. Point out the task of designing a Part picking Robot according to PEAS description.</a:t>
            </a:r>
          </a:p>
          <a:p>
            <a:r>
              <a:rPr lang="en-US" dirty="0"/>
              <a:t>A. Agent = Part-picking robot</a:t>
            </a:r>
          </a:p>
          <a:p>
            <a:pPr algn="just"/>
            <a:r>
              <a:rPr lang="en-US" dirty="0"/>
              <a:t>Performance measure: Percentage of parts in correct bins, fast, safe</a:t>
            </a:r>
          </a:p>
          <a:p>
            <a:pPr algn="just"/>
            <a:r>
              <a:rPr lang="en-US" dirty="0"/>
              <a:t>Environment: Conveyor belt with parts, bins</a:t>
            </a:r>
          </a:p>
          <a:p>
            <a:pPr algn="just"/>
            <a:r>
              <a:rPr lang="en-US" dirty="0"/>
              <a:t>Actuators: Jointed arm and hand</a:t>
            </a:r>
          </a:p>
          <a:p>
            <a:pPr algn="just"/>
            <a:r>
              <a:rPr lang="en-US" dirty="0"/>
              <a:t>Sensors: Camera, joint angle sensor</a:t>
            </a:r>
          </a:p>
        </p:txBody>
      </p:sp>
    </p:spTree>
    <p:extLst>
      <p:ext uri="{BB962C8B-B14F-4D97-AF65-F5344CB8AC3E}">
        <p14:creationId xmlns:p14="http://schemas.microsoft.com/office/powerpoint/2010/main" val="32806033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D193-8FE2-DCC0-8CA8-E3A632F2D563}"/>
              </a:ext>
            </a:extLst>
          </p:cNvPr>
          <p:cNvSpPr>
            <a:spLocks noGrp="1"/>
          </p:cNvSpPr>
          <p:nvPr>
            <p:ph type="title"/>
          </p:nvPr>
        </p:nvSpPr>
        <p:spPr/>
        <p:txBody>
          <a:bodyPr/>
          <a:lstStyle/>
          <a:p>
            <a:r>
              <a:rPr lang="en-US" dirty="0"/>
              <a:t>Types of Agents</a:t>
            </a:r>
          </a:p>
        </p:txBody>
      </p:sp>
      <p:sp>
        <p:nvSpPr>
          <p:cNvPr id="3" name="Content Placeholder 2">
            <a:extLst>
              <a:ext uri="{FF2B5EF4-FFF2-40B4-BE49-F238E27FC236}">
                <a16:creationId xmlns:a16="http://schemas.microsoft.com/office/drawing/2014/main" id="{5A37ACA3-00FA-EFE0-C937-BD0E01328F0E}"/>
              </a:ext>
            </a:extLst>
          </p:cNvPr>
          <p:cNvSpPr>
            <a:spLocks noGrp="1"/>
          </p:cNvSpPr>
          <p:nvPr>
            <p:ph idx="1"/>
          </p:nvPr>
        </p:nvSpPr>
        <p:spPr/>
        <p:txBody>
          <a:bodyPr/>
          <a:lstStyle/>
          <a:p>
            <a:pPr marL="514350" indent="-514350">
              <a:buAutoNum type="arabicPeriod"/>
            </a:pPr>
            <a:r>
              <a:rPr lang="en-US" dirty="0"/>
              <a:t>Simple Reflex Agent</a:t>
            </a:r>
          </a:p>
          <a:p>
            <a:pPr marL="514350" indent="-514350">
              <a:buAutoNum type="arabicPeriod"/>
            </a:pPr>
            <a:r>
              <a:rPr lang="en-US" dirty="0"/>
              <a:t>Model Based Agent</a:t>
            </a:r>
          </a:p>
          <a:p>
            <a:pPr marL="514350" indent="-514350">
              <a:buAutoNum type="arabicPeriod"/>
            </a:pPr>
            <a:r>
              <a:rPr lang="en-US" dirty="0"/>
              <a:t>Goal Based Agent</a:t>
            </a:r>
          </a:p>
          <a:p>
            <a:pPr marL="514350" indent="-514350">
              <a:buAutoNum type="arabicPeriod"/>
            </a:pPr>
            <a:r>
              <a:rPr lang="en-US" dirty="0"/>
              <a:t>Utility Based Agent</a:t>
            </a:r>
          </a:p>
          <a:p>
            <a:pPr marL="514350" indent="-514350">
              <a:buAutoNum type="arabicPeriod"/>
            </a:pPr>
            <a:r>
              <a:rPr lang="en-US" dirty="0"/>
              <a:t>Learning (Intelligent) Agent</a:t>
            </a:r>
          </a:p>
        </p:txBody>
      </p:sp>
    </p:spTree>
    <p:extLst>
      <p:ext uri="{BB962C8B-B14F-4D97-AF65-F5344CB8AC3E}">
        <p14:creationId xmlns:p14="http://schemas.microsoft.com/office/powerpoint/2010/main" val="9214479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5110"/>
          </a:xfrm>
        </p:spPr>
        <p:txBody>
          <a:bodyPr/>
          <a:lstStyle/>
          <a:p>
            <a:r>
              <a:rPr lang="en-US" dirty="0"/>
              <a:t>Types of Agent</a:t>
            </a:r>
          </a:p>
        </p:txBody>
      </p:sp>
      <p:sp>
        <p:nvSpPr>
          <p:cNvPr id="3" name="Content Placeholder 2"/>
          <p:cNvSpPr>
            <a:spLocks noGrp="1"/>
          </p:cNvSpPr>
          <p:nvPr>
            <p:ph idx="1"/>
          </p:nvPr>
        </p:nvSpPr>
        <p:spPr>
          <a:xfrm>
            <a:off x="838200" y="1210236"/>
            <a:ext cx="10515600" cy="4966727"/>
          </a:xfrm>
        </p:spPr>
        <p:txBody>
          <a:bodyPr/>
          <a:lstStyle/>
          <a:p>
            <a:pPr marL="0" indent="0">
              <a:buNone/>
            </a:pPr>
            <a:r>
              <a:rPr lang="en-US" dirty="0"/>
              <a:t>1. Simple Reflex Agent</a:t>
            </a:r>
          </a:p>
          <a:p>
            <a:pPr marL="0" indent="0">
              <a:buNone/>
            </a:pP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613" y="1679980"/>
            <a:ext cx="10171952" cy="4896533"/>
          </a:xfrm>
          <a:prstGeom prst="rect">
            <a:avLst/>
          </a:prstGeom>
        </p:spPr>
      </p:pic>
    </p:spTree>
    <p:extLst>
      <p:ext uri="{BB962C8B-B14F-4D97-AF65-F5344CB8AC3E}">
        <p14:creationId xmlns:p14="http://schemas.microsoft.com/office/powerpoint/2010/main" val="23390238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5477B-2023-0283-7041-255040CE2FF2}"/>
              </a:ext>
            </a:extLst>
          </p:cNvPr>
          <p:cNvSpPr>
            <a:spLocks noGrp="1"/>
          </p:cNvSpPr>
          <p:nvPr>
            <p:ph type="title"/>
          </p:nvPr>
        </p:nvSpPr>
        <p:spPr>
          <a:xfrm>
            <a:off x="838200" y="365125"/>
            <a:ext cx="10515600" cy="630555"/>
          </a:xfrm>
        </p:spPr>
        <p:txBody>
          <a:bodyPr>
            <a:normAutofit fontScale="90000"/>
          </a:bodyPr>
          <a:lstStyle/>
          <a:p>
            <a:r>
              <a:rPr lang="en-US" dirty="0"/>
              <a:t>Simple Reflex Agent</a:t>
            </a:r>
            <a:br>
              <a:rPr lang="en-US" dirty="0"/>
            </a:br>
            <a:endParaRPr lang="en-US" dirty="0"/>
          </a:p>
        </p:txBody>
      </p:sp>
      <p:sp>
        <p:nvSpPr>
          <p:cNvPr id="3" name="Content Placeholder 2">
            <a:extLst>
              <a:ext uri="{FF2B5EF4-FFF2-40B4-BE49-F238E27FC236}">
                <a16:creationId xmlns:a16="http://schemas.microsoft.com/office/drawing/2014/main" id="{957189F8-4A50-6038-EA15-984403B585A4}"/>
              </a:ext>
            </a:extLst>
          </p:cNvPr>
          <p:cNvSpPr>
            <a:spLocks noGrp="1"/>
          </p:cNvSpPr>
          <p:nvPr>
            <p:ph idx="1"/>
          </p:nvPr>
        </p:nvSpPr>
        <p:spPr>
          <a:xfrm>
            <a:off x="838200" y="995680"/>
            <a:ext cx="10515600" cy="5730240"/>
          </a:xfrm>
        </p:spPr>
        <p:txBody>
          <a:bodyPr>
            <a:normAutofit fontScale="62500" lnSpcReduction="20000"/>
          </a:bodyPr>
          <a:lstStyle/>
          <a:p>
            <a:r>
              <a:rPr lang="en-US" dirty="0"/>
              <a:t>Key Characteristics</a:t>
            </a:r>
          </a:p>
          <a:p>
            <a:pPr marL="0" indent="0">
              <a:buNone/>
            </a:pPr>
            <a:r>
              <a:rPr lang="en-US" dirty="0"/>
              <a:t>1. No memory of past events</a:t>
            </a:r>
          </a:p>
          <a:p>
            <a:r>
              <a:rPr lang="en-US" dirty="0"/>
              <a:t>It does not store past states or learn over time. It only reacts to what it sees now.</a:t>
            </a:r>
          </a:p>
          <a:p>
            <a:pPr marL="0" indent="0">
              <a:buNone/>
            </a:pPr>
            <a:r>
              <a:rPr lang="en-US" dirty="0"/>
              <a:t>2. Uses condition–action rules</a:t>
            </a:r>
          </a:p>
          <a:p>
            <a:r>
              <a:rPr lang="en-US" dirty="0"/>
              <a:t>Example: If obstacle ahead → turn left</a:t>
            </a:r>
          </a:p>
          <a:p>
            <a:r>
              <a:rPr lang="en-US" dirty="0"/>
              <a:t>If temperature &gt; 30°C → turn on fan</a:t>
            </a:r>
          </a:p>
          <a:p>
            <a:pPr marL="0" indent="0">
              <a:buNone/>
            </a:pPr>
            <a:r>
              <a:rPr lang="en-US" dirty="0"/>
              <a:t>3. Fast and simple</a:t>
            </a:r>
          </a:p>
          <a:p>
            <a:r>
              <a:rPr lang="en-US" dirty="0"/>
              <a:t>Because it doesn’t think or plan, it responds quickly.</a:t>
            </a:r>
          </a:p>
          <a:p>
            <a:pPr marL="0" indent="0">
              <a:buNone/>
            </a:pPr>
            <a:r>
              <a:rPr lang="en-US" dirty="0"/>
              <a:t>4. Limited intelligence</a:t>
            </a:r>
          </a:p>
          <a:p>
            <a:r>
              <a:rPr lang="en-US" dirty="0"/>
              <a:t>Fails when: The environment is partially observable and the correct action requires history or reasoning.</a:t>
            </a:r>
          </a:p>
          <a:p>
            <a:pPr marL="0" indent="0">
              <a:buNone/>
            </a:pPr>
            <a:r>
              <a:rPr lang="en-US" b="1" dirty="0"/>
              <a:t> </a:t>
            </a:r>
            <a:r>
              <a:rPr lang="en-US" dirty="0"/>
              <a:t>Example</a:t>
            </a:r>
            <a:r>
              <a:rPr lang="en-US" b="1" dirty="0"/>
              <a:t>:</a:t>
            </a:r>
          </a:p>
          <a:p>
            <a:pPr marL="0" indent="0">
              <a:buNone/>
            </a:pPr>
            <a:r>
              <a:rPr lang="en-US" dirty="0"/>
              <a:t>1. Thermostat</a:t>
            </a:r>
          </a:p>
          <a:p>
            <a:r>
              <a:rPr lang="en-US" dirty="0"/>
              <a:t>If temperature &lt; 20°C → turn on heater</a:t>
            </a:r>
          </a:p>
          <a:p>
            <a:r>
              <a:rPr lang="en-US" dirty="0"/>
              <a:t>If temperature &gt; 20°C → turn off heater</a:t>
            </a:r>
          </a:p>
          <a:p>
            <a:pPr marL="0" indent="0">
              <a:buNone/>
            </a:pPr>
            <a:r>
              <a:rPr lang="en-US" dirty="0"/>
              <a:t>2. Traffic Light Control (basic)</a:t>
            </a:r>
          </a:p>
          <a:p>
            <a:r>
              <a:rPr lang="en-US" dirty="0"/>
              <a:t>If timer expires → switch light</a:t>
            </a:r>
          </a:p>
          <a:p>
            <a:pPr marL="0" indent="0">
              <a:buNone/>
            </a:pPr>
            <a:r>
              <a:rPr lang="en-US" dirty="0"/>
              <a:t>3. Smoke Detectors</a:t>
            </a:r>
          </a:p>
          <a:p>
            <a:r>
              <a:rPr lang="en-US" dirty="0"/>
              <a:t>If smoke detected → raise alarm.</a:t>
            </a:r>
          </a:p>
          <a:p>
            <a:endParaRPr lang="en-US" dirty="0"/>
          </a:p>
          <a:p>
            <a:endParaRPr lang="en-US" dirty="0"/>
          </a:p>
        </p:txBody>
      </p:sp>
      <p:pic>
        <p:nvPicPr>
          <p:cNvPr id="5" name="Picture 4">
            <a:extLst>
              <a:ext uri="{FF2B5EF4-FFF2-40B4-BE49-F238E27FC236}">
                <a16:creationId xmlns:a16="http://schemas.microsoft.com/office/drawing/2014/main" id="{A77241A3-560E-F4AA-E59C-07E939589C25}"/>
              </a:ext>
            </a:extLst>
          </p:cNvPr>
          <p:cNvPicPr>
            <a:picLocks noChangeAspect="1"/>
          </p:cNvPicPr>
          <p:nvPr/>
        </p:nvPicPr>
        <p:blipFill>
          <a:blip r:embed="rId2"/>
          <a:stretch>
            <a:fillRect/>
          </a:stretch>
        </p:blipFill>
        <p:spPr>
          <a:xfrm>
            <a:off x="8928235" y="282558"/>
            <a:ext cx="2847205" cy="3009282"/>
          </a:xfrm>
          <a:prstGeom prst="rect">
            <a:avLst/>
          </a:prstGeom>
        </p:spPr>
      </p:pic>
      <p:pic>
        <p:nvPicPr>
          <p:cNvPr id="7" name="Picture 6">
            <a:extLst>
              <a:ext uri="{FF2B5EF4-FFF2-40B4-BE49-F238E27FC236}">
                <a16:creationId xmlns:a16="http://schemas.microsoft.com/office/drawing/2014/main" id="{0BA86116-5610-2192-B7A4-E68B579351F8}"/>
              </a:ext>
            </a:extLst>
          </p:cNvPr>
          <p:cNvPicPr>
            <a:picLocks noChangeAspect="1"/>
          </p:cNvPicPr>
          <p:nvPr/>
        </p:nvPicPr>
        <p:blipFill>
          <a:blip r:embed="rId3"/>
          <a:stretch>
            <a:fillRect/>
          </a:stretch>
        </p:blipFill>
        <p:spPr>
          <a:xfrm>
            <a:off x="8270240" y="4098758"/>
            <a:ext cx="3417502" cy="2476683"/>
          </a:xfrm>
          <a:prstGeom prst="rect">
            <a:avLst/>
          </a:prstGeom>
        </p:spPr>
      </p:pic>
    </p:spTree>
    <p:extLst>
      <p:ext uri="{BB962C8B-B14F-4D97-AF65-F5344CB8AC3E}">
        <p14:creationId xmlns:p14="http://schemas.microsoft.com/office/powerpoint/2010/main" val="25854452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8899"/>
          </a:xfrm>
        </p:spPr>
        <p:txBody>
          <a:bodyPr/>
          <a:lstStyle/>
          <a:p>
            <a:r>
              <a:rPr lang="en-US" dirty="0"/>
              <a:t>Types of Agent</a:t>
            </a:r>
          </a:p>
        </p:txBody>
      </p:sp>
      <p:sp>
        <p:nvSpPr>
          <p:cNvPr id="3" name="Content Placeholder 2"/>
          <p:cNvSpPr>
            <a:spLocks noGrp="1"/>
          </p:cNvSpPr>
          <p:nvPr>
            <p:ph idx="1"/>
          </p:nvPr>
        </p:nvSpPr>
        <p:spPr>
          <a:xfrm>
            <a:off x="838200" y="1264024"/>
            <a:ext cx="10515600" cy="4912939"/>
          </a:xfrm>
        </p:spPr>
        <p:txBody>
          <a:bodyPr/>
          <a:lstStyle/>
          <a:p>
            <a:pPr marL="0" indent="0">
              <a:buNone/>
            </a:pPr>
            <a:r>
              <a:rPr lang="en-US" dirty="0"/>
              <a:t>2. Model Based Agent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905" y="1801906"/>
            <a:ext cx="10666424" cy="4198847"/>
          </a:xfrm>
          <a:prstGeom prst="rect">
            <a:avLst/>
          </a:prstGeom>
        </p:spPr>
      </p:pic>
    </p:spTree>
    <p:extLst>
      <p:ext uri="{BB962C8B-B14F-4D97-AF65-F5344CB8AC3E}">
        <p14:creationId xmlns:p14="http://schemas.microsoft.com/office/powerpoint/2010/main" val="42120380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B3F79-EAEC-6A03-C6DB-3F266D79F0F0}"/>
              </a:ext>
            </a:extLst>
          </p:cNvPr>
          <p:cNvSpPr>
            <a:spLocks noGrp="1"/>
          </p:cNvSpPr>
          <p:nvPr>
            <p:ph type="title"/>
          </p:nvPr>
        </p:nvSpPr>
        <p:spPr>
          <a:xfrm>
            <a:off x="614680" y="511333"/>
            <a:ext cx="10515600" cy="339408"/>
          </a:xfrm>
        </p:spPr>
        <p:txBody>
          <a:bodyPr>
            <a:normAutofit fontScale="90000"/>
          </a:bodyPr>
          <a:lstStyle/>
          <a:p>
            <a:r>
              <a:rPr lang="en-US" dirty="0"/>
              <a:t>Model Based Agent</a:t>
            </a:r>
            <a:br>
              <a:rPr lang="en-US" dirty="0"/>
            </a:br>
            <a:endParaRPr lang="en-US" dirty="0"/>
          </a:p>
        </p:txBody>
      </p:sp>
      <p:sp>
        <p:nvSpPr>
          <p:cNvPr id="3" name="Content Placeholder 2">
            <a:extLst>
              <a:ext uri="{FF2B5EF4-FFF2-40B4-BE49-F238E27FC236}">
                <a16:creationId xmlns:a16="http://schemas.microsoft.com/office/drawing/2014/main" id="{41253803-18F1-6C25-E93A-38AA6C8D1A3F}"/>
              </a:ext>
            </a:extLst>
          </p:cNvPr>
          <p:cNvSpPr>
            <a:spLocks noGrp="1"/>
          </p:cNvSpPr>
          <p:nvPr>
            <p:ph idx="1"/>
          </p:nvPr>
        </p:nvSpPr>
        <p:spPr>
          <a:xfrm>
            <a:off x="431800" y="878522"/>
            <a:ext cx="10515600" cy="5654358"/>
          </a:xfrm>
        </p:spPr>
        <p:txBody>
          <a:bodyPr>
            <a:normAutofit fontScale="70000" lnSpcReduction="20000"/>
          </a:bodyPr>
          <a:lstStyle/>
          <a:p>
            <a:pPr algn="just"/>
            <a:r>
              <a:rPr lang="en-US" dirty="0"/>
              <a:t>A model-based agent</a:t>
            </a:r>
            <a:r>
              <a:rPr lang="en-US" b="1" dirty="0"/>
              <a:t> </a:t>
            </a:r>
            <a:r>
              <a:rPr lang="en-US" dirty="0"/>
              <a:t>maintains an internal representation (a model) of the part of the world it cannot directly observe. It updates this model using:</a:t>
            </a:r>
          </a:p>
          <a:p>
            <a:pPr marL="0" indent="0" algn="just">
              <a:buNone/>
            </a:pPr>
            <a:r>
              <a:rPr lang="en-US" dirty="0"/>
              <a:t>		Percept history (everything it has sensed so far)</a:t>
            </a:r>
          </a:p>
          <a:p>
            <a:pPr marL="0" indent="0" algn="just">
              <a:buNone/>
            </a:pPr>
            <a:r>
              <a:rPr lang="en-US" dirty="0"/>
              <a:t>		Knowledge of how the world works (transition model)</a:t>
            </a:r>
          </a:p>
          <a:p>
            <a:pPr algn="just"/>
            <a:r>
              <a:rPr lang="en-US" dirty="0"/>
              <a:t>Then it uses this updated model to choose actions.</a:t>
            </a:r>
          </a:p>
          <a:p>
            <a:pPr algn="just"/>
            <a:r>
              <a:rPr lang="en-US" dirty="0"/>
              <a:t>It is like simple reflex agent with memory and this memory is called the “model of the world.”</a:t>
            </a:r>
          </a:p>
          <a:p>
            <a:r>
              <a:rPr lang="en-US" b="1" dirty="0"/>
              <a:t>Key Components:</a:t>
            </a:r>
          </a:p>
          <a:p>
            <a:pPr marL="0" indent="0">
              <a:buNone/>
            </a:pPr>
            <a:r>
              <a:rPr lang="en-US" dirty="0"/>
              <a:t>1. World Model</a:t>
            </a:r>
          </a:p>
          <a:p>
            <a:r>
              <a:rPr lang="en-US" dirty="0"/>
              <a:t>A stored internal description of the environment: What the agent believes is true, What objects exist, Where things are, What it last saw.</a:t>
            </a:r>
          </a:p>
          <a:p>
            <a:pPr marL="0" indent="0">
              <a:buNone/>
            </a:pPr>
            <a:r>
              <a:rPr lang="en-US" dirty="0"/>
              <a:t>2. Transition Model</a:t>
            </a:r>
          </a:p>
          <a:p>
            <a:r>
              <a:rPr lang="en-US" dirty="0"/>
              <a:t>Knowledge about how actions change the world: “If I clean a dirty tile, the tile becomes clean.”</a:t>
            </a:r>
          </a:p>
          <a:p>
            <a:pPr marL="0" indent="0">
              <a:buNone/>
            </a:pPr>
            <a:r>
              <a:rPr lang="en-US" dirty="0"/>
              <a:t>3. State Update</a:t>
            </a:r>
          </a:p>
          <a:p>
            <a:r>
              <a:rPr lang="en-US" dirty="0"/>
              <a:t>After each action or percept, the agent updates its internal state.</a:t>
            </a:r>
          </a:p>
          <a:p>
            <a:pPr marL="0" indent="0">
              <a:buNone/>
            </a:pPr>
            <a:r>
              <a:rPr lang="en-US" dirty="0"/>
              <a:t>4. Decision Making</a:t>
            </a:r>
          </a:p>
          <a:p>
            <a:r>
              <a:rPr lang="en-US" dirty="0"/>
              <a:t>The agent selects the next action based on: Internal state, Goals, Rules</a:t>
            </a:r>
          </a:p>
          <a:p>
            <a:endParaRPr lang="en-US" dirty="0"/>
          </a:p>
        </p:txBody>
      </p:sp>
    </p:spTree>
    <p:extLst>
      <p:ext uri="{BB962C8B-B14F-4D97-AF65-F5344CB8AC3E}">
        <p14:creationId xmlns:p14="http://schemas.microsoft.com/office/powerpoint/2010/main" val="12881597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99546B-49A3-60B8-235C-0DD6153168FF}"/>
              </a:ext>
            </a:extLst>
          </p:cNvPr>
          <p:cNvSpPr>
            <a:spLocks noGrp="1"/>
          </p:cNvSpPr>
          <p:nvPr>
            <p:ph idx="1"/>
          </p:nvPr>
        </p:nvSpPr>
        <p:spPr>
          <a:xfrm>
            <a:off x="838200" y="1203158"/>
            <a:ext cx="10866120" cy="5228122"/>
          </a:xfrm>
        </p:spPr>
        <p:txBody>
          <a:bodyPr>
            <a:normAutofit/>
          </a:bodyPr>
          <a:lstStyle/>
          <a:p>
            <a:pPr marL="0" indent="0">
              <a:buNone/>
            </a:pPr>
            <a:r>
              <a:rPr lang="en-US" dirty="0"/>
              <a:t>Example: Vacuum-Cleaner Agent</a:t>
            </a:r>
          </a:p>
          <a:p>
            <a:pPr algn="just">
              <a:buFont typeface="Wingdings" panose="05000000000000000000" pitchFamily="2" charset="2"/>
              <a:buChar char="Ø"/>
            </a:pPr>
            <a:r>
              <a:rPr lang="en-US" dirty="0"/>
              <a:t>If the sensor shows only the current tile, but cannot see others, the agent uses a model to remember which tiles were dirty earlier.</a:t>
            </a:r>
          </a:p>
          <a:p>
            <a:endParaRPr lang="en-US" dirty="0"/>
          </a:p>
          <a:p>
            <a:endParaRPr lang="en-US" dirty="0"/>
          </a:p>
          <a:p>
            <a:endParaRPr lang="en-US" dirty="0"/>
          </a:p>
        </p:txBody>
      </p:sp>
      <p:sp>
        <p:nvSpPr>
          <p:cNvPr id="8" name="Title 7">
            <a:extLst>
              <a:ext uri="{FF2B5EF4-FFF2-40B4-BE49-F238E27FC236}">
                <a16:creationId xmlns:a16="http://schemas.microsoft.com/office/drawing/2014/main" id="{44C0C0C4-7A9D-BF00-FB27-E92135B5F76A}"/>
              </a:ext>
            </a:extLst>
          </p:cNvPr>
          <p:cNvSpPr>
            <a:spLocks noGrp="1"/>
          </p:cNvSpPr>
          <p:nvPr>
            <p:ph type="title"/>
          </p:nvPr>
        </p:nvSpPr>
        <p:spPr>
          <a:xfrm>
            <a:off x="767080" y="202882"/>
            <a:ext cx="10515600" cy="896004"/>
          </a:xfrm>
        </p:spPr>
        <p:txBody>
          <a:bodyPr>
            <a:normAutofit/>
          </a:bodyPr>
          <a:lstStyle/>
          <a:p>
            <a:r>
              <a:rPr lang="en-US" dirty="0"/>
              <a:t>Model Based Agent</a:t>
            </a:r>
          </a:p>
        </p:txBody>
      </p:sp>
      <p:pic>
        <p:nvPicPr>
          <p:cNvPr id="4" name="Picture 3">
            <a:extLst>
              <a:ext uri="{FF2B5EF4-FFF2-40B4-BE49-F238E27FC236}">
                <a16:creationId xmlns:a16="http://schemas.microsoft.com/office/drawing/2014/main" id="{27951710-62E0-4FC6-4A7B-1E51C7027044}"/>
              </a:ext>
            </a:extLst>
          </p:cNvPr>
          <p:cNvPicPr>
            <a:picLocks noChangeAspect="1"/>
          </p:cNvPicPr>
          <p:nvPr/>
        </p:nvPicPr>
        <p:blipFill>
          <a:blip r:embed="rId2"/>
          <a:stretch>
            <a:fillRect/>
          </a:stretch>
        </p:blipFill>
        <p:spPr>
          <a:xfrm>
            <a:off x="2030930" y="2521819"/>
            <a:ext cx="7806088" cy="4013733"/>
          </a:xfrm>
          <a:prstGeom prst="rect">
            <a:avLst/>
          </a:prstGeom>
        </p:spPr>
      </p:pic>
    </p:spTree>
    <p:extLst>
      <p:ext uri="{BB962C8B-B14F-4D97-AF65-F5344CB8AC3E}">
        <p14:creationId xmlns:p14="http://schemas.microsoft.com/office/powerpoint/2010/main" val="2425959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278D8-2CD4-9A13-FC58-E1166B5D2726}"/>
              </a:ext>
            </a:extLst>
          </p:cNvPr>
          <p:cNvSpPr>
            <a:spLocks noGrp="1"/>
          </p:cNvSpPr>
          <p:nvPr>
            <p:ph type="title"/>
          </p:nvPr>
        </p:nvSpPr>
        <p:spPr/>
        <p:txBody>
          <a:bodyPr/>
          <a:lstStyle/>
          <a:p>
            <a:r>
              <a:rPr lang="en-US" dirty="0"/>
              <a:t>Model Based Agent</a:t>
            </a:r>
          </a:p>
        </p:txBody>
      </p:sp>
      <p:sp>
        <p:nvSpPr>
          <p:cNvPr id="3" name="Content Placeholder 2">
            <a:extLst>
              <a:ext uri="{FF2B5EF4-FFF2-40B4-BE49-F238E27FC236}">
                <a16:creationId xmlns:a16="http://schemas.microsoft.com/office/drawing/2014/main" id="{8442BDD0-49A8-2686-0CF4-EE999FE76880}"/>
              </a:ext>
            </a:extLst>
          </p:cNvPr>
          <p:cNvSpPr>
            <a:spLocks noGrp="1"/>
          </p:cNvSpPr>
          <p:nvPr>
            <p:ph idx="1"/>
          </p:nvPr>
        </p:nvSpPr>
        <p:spPr/>
        <p:txBody>
          <a:bodyPr/>
          <a:lstStyle/>
          <a:p>
            <a:r>
              <a:rPr lang="en-US" dirty="0"/>
              <a:t>Real-World Examples</a:t>
            </a:r>
            <a:r>
              <a:rPr lang="en-US" b="1" dirty="0"/>
              <a:t>:</a:t>
            </a:r>
          </a:p>
          <a:p>
            <a:pPr>
              <a:buFont typeface="Wingdings" panose="05000000000000000000" pitchFamily="2" charset="2"/>
              <a:buChar char="Ø"/>
            </a:pPr>
            <a:r>
              <a:rPr lang="en-US" dirty="0"/>
              <a:t>Self-driving cars tracking surrounding vehicles</a:t>
            </a:r>
          </a:p>
          <a:p>
            <a:pPr>
              <a:buFont typeface="Wingdings" panose="05000000000000000000" pitchFamily="2" charset="2"/>
              <a:buChar char="Ø"/>
            </a:pPr>
            <a:r>
              <a:rPr lang="en-US" dirty="0"/>
              <a:t>Robots navigating rooms without full visibility</a:t>
            </a:r>
          </a:p>
          <a:p>
            <a:pPr>
              <a:buFont typeface="Wingdings" panose="05000000000000000000" pitchFamily="2" charset="2"/>
              <a:buChar char="Ø"/>
            </a:pPr>
            <a:r>
              <a:rPr lang="en-US" dirty="0"/>
              <a:t>Smart thermostats learning usage patterns</a:t>
            </a:r>
          </a:p>
          <a:p>
            <a:pPr>
              <a:buFont typeface="Wingdings" panose="05000000000000000000" pitchFamily="2" charset="2"/>
              <a:buChar char="Ø"/>
            </a:pPr>
            <a:r>
              <a:rPr lang="en-US" dirty="0"/>
              <a:t>Chess program remembering board position</a:t>
            </a:r>
          </a:p>
          <a:p>
            <a:pPr>
              <a:buFont typeface="Wingdings" panose="05000000000000000000" pitchFamily="2" charset="2"/>
              <a:buChar char="Ø"/>
            </a:pPr>
            <a:r>
              <a:rPr lang="en-US" dirty="0"/>
              <a:t>A navigation system choosing routes based on traffic to reach a destination.</a:t>
            </a:r>
          </a:p>
          <a:p>
            <a:endParaRPr lang="en-US" dirty="0"/>
          </a:p>
        </p:txBody>
      </p:sp>
    </p:spTree>
    <p:extLst>
      <p:ext uri="{BB962C8B-B14F-4D97-AF65-F5344CB8AC3E}">
        <p14:creationId xmlns:p14="http://schemas.microsoft.com/office/powerpoint/2010/main" val="36637254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2004"/>
          </a:xfrm>
        </p:spPr>
        <p:txBody>
          <a:bodyPr/>
          <a:lstStyle/>
          <a:p>
            <a:r>
              <a:rPr lang="en-US" dirty="0"/>
              <a:t>Types of Agent</a:t>
            </a:r>
          </a:p>
        </p:txBody>
      </p:sp>
      <p:sp>
        <p:nvSpPr>
          <p:cNvPr id="3" name="Content Placeholder 2"/>
          <p:cNvSpPr>
            <a:spLocks noGrp="1"/>
          </p:cNvSpPr>
          <p:nvPr>
            <p:ph idx="1"/>
          </p:nvPr>
        </p:nvSpPr>
        <p:spPr>
          <a:xfrm>
            <a:off x="838200" y="1237130"/>
            <a:ext cx="10515600" cy="4939833"/>
          </a:xfrm>
        </p:spPr>
        <p:txBody>
          <a:bodyPr/>
          <a:lstStyle/>
          <a:p>
            <a:pPr marL="0" indent="0">
              <a:buNone/>
            </a:pPr>
            <a:r>
              <a:rPr lang="en-US" dirty="0"/>
              <a:t>3. Goal Based Agent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51777"/>
            <a:ext cx="10515600" cy="4325186"/>
          </a:xfrm>
          <a:prstGeom prst="rect">
            <a:avLst/>
          </a:prstGeom>
        </p:spPr>
      </p:pic>
    </p:spTree>
    <p:extLst>
      <p:ext uri="{BB962C8B-B14F-4D97-AF65-F5344CB8AC3E}">
        <p14:creationId xmlns:p14="http://schemas.microsoft.com/office/powerpoint/2010/main" val="26027162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06CBD-A74A-ECBB-456A-4E948D553828}"/>
              </a:ext>
            </a:extLst>
          </p:cNvPr>
          <p:cNvSpPr>
            <a:spLocks noGrp="1"/>
          </p:cNvSpPr>
          <p:nvPr>
            <p:ph type="title"/>
          </p:nvPr>
        </p:nvSpPr>
        <p:spPr>
          <a:xfrm>
            <a:off x="838200" y="365125"/>
            <a:ext cx="10515600" cy="549275"/>
          </a:xfrm>
        </p:spPr>
        <p:txBody>
          <a:bodyPr>
            <a:normAutofit fontScale="90000"/>
          </a:bodyPr>
          <a:lstStyle/>
          <a:p>
            <a:r>
              <a:rPr lang="en-US" dirty="0"/>
              <a:t>Goal Based Agent</a:t>
            </a:r>
          </a:p>
        </p:txBody>
      </p:sp>
      <p:sp>
        <p:nvSpPr>
          <p:cNvPr id="3" name="Content Placeholder 2">
            <a:extLst>
              <a:ext uri="{FF2B5EF4-FFF2-40B4-BE49-F238E27FC236}">
                <a16:creationId xmlns:a16="http://schemas.microsoft.com/office/drawing/2014/main" id="{588F366A-920A-6DF2-908C-10AFF066F7A8}"/>
              </a:ext>
            </a:extLst>
          </p:cNvPr>
          <p:cNvSpPr>
            <a:spLocks noGrp="1"/>
          </p:cNvSpPr>
          <p:nvPr>
            <p:ph idx="1"/>
          </p:nvPr>
        </p:nvSpPr>
        <p:spPr>
          <a:xfrm>
            <a:off x="838200" y="1158240"/>
            <a:ext cx="10515600" cy="5506720"/>
          </a:xfrm>
        </p:spPr>
        <p:txBody>
          <a:bodyPr>
            <a:normAutofit fontScale="70000" lnSpcReduction="20000"/>
          </a:bodyPr>
          <a:lstStyle/>
          <a:p>
            <a:pPr algn="just"/>
            <a:r>
              <a:rPr lang="en-US" dirty="0"/>
              <a:t>A goal-based agent is an intelligent agent that selects actions to achieve a desired goal state. </a:t>
            </a:r>
          </a:p>
          <a:p>
            <a:pPr algn="just"/>
            <a:r>
              <a:rPr lang="en-US" dirty="0"/>
              <a:t>It evaluates possible sequences of actions (plans) and chooses the one that leads to the goal.</a:t>
            </a:r>
          </a:p>
          <a:p>
            <a:pPr marL="0" indent="0">
              <a:buNone/>
            </a:pPr>
            <a:r>
              <a:rPr lang="en-US" b="1" dirty="0"/>
              <a:t>Key Characteristics</a:t>
            </a:r>
          </a:p>
          <a:p>
            <a:pPr marL="514350" indent="-514350">
              <a:buAutoNum type="arabicPeriod"/>
            </a:pPr>
            <a:r>
              <a:rPr lang="en-US" dirty="0"/>
              <a:t>Has explicit goals</a:t>
            </a:r>
          </a:p>
          <a:p>
            <a:pPr>
              <a:buFont typeface="Wingdings" panose="05000000000000000000" pitchFamily="2" charset="2"/>
              <a:buChar char="Ø"/>
            </a:pPr>
            <a:r>
              <a:rPr lang="en-US" b="1" dirty="0"/>
              <a:t> </a:t>
            </a:r>
            <a:r>
              <a:rPr lang="en-US" dirty="0"/>
              <a:t>A goal defines: Desired states, Conditions to satisfy</a:t>
            </a:r>
            <a:r>
              <a:rPr lang="en-US" i="1" dirty="0"/>
              <a:t>, </a:t>
            </a:r>
            <a:r>
              <a:rPr lang="en-US" dirty="0"/>
              <a:t>Example: “Reach the destination safely.”</a:t>
            </a:r>
          </a:p>
          <a:p>
            <a:pPr marL="0" indent="0">
              <a:buNone/>
            </a:pPr>
            <a:r>
              <a:rPr lang="en-US" dirty="0"/>
              <a:t>2.      Uses search  and planning</a:t>
            </a:r>
          </a:p>
          <a:p>
            <a:pPr>
              <a:buFont typeface="Wingdings" panose="05000000000000000000" pitchFamily="2" charset="2"/>
              <a:buChar char="Ø"/>
            </a:pPr>
            <a:r>
              <a:rPr lang="en-US" dirty="0"/>
              <a:t>Because actions affect the world, the agent must choose a path. Examples of planning: BFS, DFS, A*, heuristic search</a:t>
            </a:r>
          </a:p>
          <a:p>
            <a:pPr marL="0" indent="0">
              <a:buNone/>
            </a:pPr>
            <a:r>
              <a:rPr lang="en-US" dirty="0"/>
              <a:t>3.       Considers future consequences</a:t>
            </a:r>
          </a:p>
          <a:p>
            <a:pPr>
              <a:buFont typeface="Wingdings" panose="05000000000000000000" pitchFamily="2" charset="2"/>
              <a:buChar char="Ø"/>
            </a:pPr>
            <a:r>
              <a:rPr lang="en-US" dirty="0"/>
              <a:t>Unlike reflex agents, it doesn’t just react. It may choose actions that do not provide immediate reward but help reach the goal. Example: A self-driving car may slow down now to take a correct turn later.</a:t>
            </a:r>
          </a:p>
          <a:p>
            <a:pPr marL="0" indent="0">
              <a:buNone/>
            </a:pPr>
            <a:r>
              <a:rPr lang="en-US" dirty="0"/>
              <a:t>4.        Requires a model of how actions change the world</a:t>
            </a:r>
          </a:p>
          <a:p>
            <a:pPr>
              <a:buFont typeface="Wingdings" panose="05000000000000000000" pitchFamily="2" charset="2"/>
              <a:buChar char="Ø"/>
            </a:pPr>
            <a:r>
              <a:rPr lang="en-US" dirty="0"/>
              <a:t>The agent needs: A representation of the world and A transition model: </a:t>
            </a:r>
            <a:r>
              <a:rPr lang="en-US" i="1" dirty="0"/>
              <a:t>If I do action A in state S → next state S’</a:t>
            </a:r>
            <a:endParaRPr lang="en-US" dirty="0"/>
          </a:p>
          <a:p>
            <a:pPr marL="0" indent="0" algn="just">
              <a:buNone/>
            </a:pPr>
            <a:endParaRPr lang="en-US" dirty="0"/>
          </a:p>
        </p:txBody>
      </p:sp>
    </p:spTree>
    <p:extLst>
      <p:ext uri="{BB962C8B-B14F-4D97-AF65-F5344CB8AC3E}">
        <p14:creationId xmlns:p14="http://schemas.microsoft.com/office/powerpoint/2010/main" val="27479959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1E0F-E0F2-070C-A2FC-F4107ACA14A7}"/>
              </a:ext>
            </a:extLst>
          </p:cNvPr>
          <p:cNvSpPr>
            <a:spLocks noGrp="1"/>
          </p:cNvSpPr>
          <p:nvPr>
            <p:ph type="title"/>
          </p:nvPr>
        </p:nvSpPr>
        <p:spPr>
          <a:xfrm>
            <a:off x="838200" y="365125"/>
            <a:ext cx="10515600" cy="684029"/>
          </a:xfrm>
        </p:spPr>
        <p:txBody>
          <a:bodyPr>
            <a:normAutofit fontScale="90000"/>
          </a:bodyPr>
          <a:lstStyle/>
          <a:p>
            <a:r>
              <a:rPr lang="en-US" dirty="0"/>
              <a:t>Goal Based Agent</a:t>
            </a:r>
          </a:p>
        </p:txBody>
      </p:sp>
      <p:pic>
        <p:nvPicPr>
          <p:cNvPr id="5" name="Content Placeholder 4">
            <a:extLst>
              <a:ext uri="{FF2B5EF4-FFF2-40B4-BE49-F238E27FC236}">
                <a16:creationId xmlns:a16="http://schemas.microsoft.com/office/drawing/2014/main" id="{C9BEFAFB-5A66-DD21-75ED-EFA41EA9B989}"/>
              </a:ext>
            </a:extLst>
          </p:cNvPr>
          <p:cNvPicPr>
            <a:picLocks noGrp="1" noChangeAspect="1"/>
          </p:cNvPicPr>
          <p:nvPr>
            <p:ph idx="1"/>
          </p:nvPr>
        </p:nvPicPr>
        <p:blipFill>
          <a:blip r:embed="rId2"/>
          <a:stretch>
            <a:fillRect/>
          </a:stretch>
        </p:blipFill>
        <p:spPr>
          <a:xfrm>
            <a:off x="732321" y="1258979"/>
            <a:ext cx="7747536" cy="3043513"/>
          </a:xfrm>
          <a:prstGeom prst="rect">
            <a:avLst/>
          </a:prstGeom>
        </p:spPr>
      </p:pic>
      <p:sp>
        <p:nvSpPr>
          <p:cNvPr id="7" name="TextBox 6">
            <a:extLst>
              <a:ext uri="{FF2B5EF4-FFF2-40B4-BE49-F238E27FC236}">
                <a16:creationId xmlns:a16="http://schemas.microsoft.com/office/drawing/2014/main" id="{B74DF260-6570-3DA8-CDC3-5FF0F8CD7802}"/>
              </a:ext>
            </a:extLst>
          </p:cNvPr>
          <p:cNvSpPr txBox="1"/>
          <p:nvPr/>
        </p:nvSpPr>
        <p:spPr>
          <a:xfrm>
            <a:off x="1022560" y="4511260"/>
            <a:ext cx="9359089" cy="1200329"/>
          </a:xfrm>
          <a:prstGeom prst="rect">
            <a:avLst/>
          </a:prstGeom>
          <a:noFill/>
        </p:spPr>
        <p:txBody>
          <a:bodyPr wrap="square">
            <a:spAutoFit/>
          </a:bodyPr>
          <a:lstStyle/>
          <a:p>
            <a:pPr marL="0" indent="0">
              <a:buNone/>
            </a:pPr>
            <a:r>
              <a:rPr lang="en-US" dirty="0"/>
              <a:t>Real World Examples:</a:t>
            </a:r>
          </a:p>
          <a:p>
            <a:pPr marL="285750" indent="-285750">
              <a:buFont typeface="Arial" panose="020B0604020202020204" pitchFamily="34" charset="0"/>
              <a:buChar char="•"/>
            </a:pPr>
            <a:r>
              <a:rPr lang="en-US" dirty="0"/>
              <a:t>Delivery robots planning paths through buildings.</a:t>
            </a:r>
          </a:p>
          <a:p>
            <a:pPr marL="285750" indent="-285750">
              <a:buFont typeface="Arial" panose="020B0604020202020204" pitchFamily="34" charset="0"/>
              <a:buChar char="•"/>
            </a:pPr>
            <a:r>
              <a:rPr lang="en-US" dirty="0"/>
              <a:t>AI game players determining moves to win.</a:t>
            </a:r>
          </a:p>
          <a:p>
            <a:pPr marL="285750" indent="-285750">
              <a:buFont typeface="Arial" panose="020B0604020202020204" pitchFamily="34" charset="0"/>
              <a:buChar char="•"/>
            </a:pPr>
            <a:r>
              <a:rPr lang="en-US" dirty="0"/>
              <a:t>Project management software scheduling task to meet deadlines.</a:t>
            </a:r>
          </a:p>
        </p:txBody>
      </p:sp>
    </p:spTree>
    <p:extLst>
      <p:ext uri="{BB962C8B-B14F-4D97-AF65-F5344CB8AC3E}">
        <p14:creationId xmlns:p14="http://schemas.microsoft.com/office/powerpoint/2010/main" val="26740927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4769"/>
          </a:xfrm>
        </p:spPr>
        <p:txBody>
          <a:bodyPr/>
          <a:lstStyle/>
          <a:p>
            <a:r>
              <a:rPr lang="en-US" dirty="0"/>
              <a:t>Types of Agent</a:t>
            </a:r>
          </a:p>
        </p:txBody>
      </p:sp>
      <p:sp>
        <p:nvSpPr>
          <p:cNvPr id="3" name="Content Placeholder 2"/>
          <p:cNvSpPr>
            <a:spLocks noGrp="1"/>
          </p:cNvSpPr>
          <p:nvPr>
            <p:ph idx="1"/>
          </p:nvPr>
        </p:nvSpPr>
        <p:spPr>
          <a:xfrm>
            <a:off x="838200" y="1169894"/>
            <a:ext cx="10515600" cy="5007069"/>
          </a:xfrm>
        </p:spPr>
        <p:txBody>
          <a:bodyPr/>
          <a:lstStyle/>
          <a:p>
            <a:pPr marL="0" indent="0">
              <a:buNone/>
            </a:pPr>
            <a:r>
              <a:rPr lang="en-US" dirty="0"/>
              <a:t>4. Utility Based Agent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329" y="1815354"/>
            <a:ext cx="10515600" cy="4361610"/>
          </a:xfrm>
          <a:prstGeom prst="rect">
            <a:avLst/>
          </a:prstGeom>
        </p:spPr>
      </p:pic>
    </p:spTree>
    <p:extLst>
      <p:ext uri="{BB962C8B-B14F-4D97-AF65-F5344CB8AC3E}">
        <p14:creationId xmlns:p14="http://schemas.microsoft.com/office/powerpoint/2010/main" val="25952930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FB92E-D65A-FDD5-D8E8-2F867130EDDE}"/>
              </a:ext>
            </a:extLst>
          </p:cNvPr>
          <p:cNvSpPr>
            <a:spLocks noGrp="1"/>
          </p:cNvSpPr>
          <p:nvPr>
            <p:ph type="title"/>
          </p:nvPr>
        </p:nvSpPr>
        <p:spPr>
          <a:xfrm>
            <a:off x="838200" y="365125"/>
            <a:ext cx="10515600" cy="427355"/>
          </a:xfrm>
        </p:spPr>
        <p:txBody>
          <a:bodyPr>
            <a:normAutofit fontScale="90000"/>
          </a:bodyPr>
          <a:lstStyle/>
          <a:p>
            <a:r>
              <a:rPr lang="en-US" dirty="0"/>
              <a:t>Utility Based Agent</a:t>
            </a:r>
          </a:p>
        </p:txBody>
      </p:sp>
      <p:sp>
        <p:nvSpPr>
          <p:cNvPr id="3" name="Content Placeholder 2">
            <a:extLst>
              <a:ext uri="{FF2B5EF4-FFF2-40B4-BE49-F238E27FC236}">
                <a16:creationId xmlns:a16="http://schemas.microsoft.com/office/drawing/2014/main" id="{A7DEA733-4E6A-978B-2725-2968637BFCA3}"/>
              </a:ext>
            </a:extLst>
          </p:cNvPr>
          <p:cNvSpPr>
            <a:spLocks noGrp="1"/>
          </p:cNvSpPr>
          <p:nvPr>
            <p:ph idx="1"/>
          </p:nvPr>
        </p:nvSpPr>
        <p:spPr>
          <a:xfrm>
            <a:off x="838200" y="995679"/>
            <a:ext cx="10515600" cy="5497195"/>
          </a:xfrm>
        </p:spPr>
        <p:txBody>
          <a:bodyPr>
            <a:normAutofit fontScale="85000" lnSpcReduction="20000"/>
          </a:bodyPr>
          <a:lstStyle/>
          <a:p>
            <a:pPr algn="just"/>
            <a:r>
              <a:rPr lang="en-US" dirty="0"/>
              <a:t>A utility-based agent is an AI agent that selects actions based on a utility function, which maps each possible state to a numerical value indicating how desirable that state is.</a:t>
            </a:r>
          </a:p>
          <a:p>
            <a:pPr algn="just"/>
            <a:r>
              <a:rPr lang="en-US" dirty="0"/>
              <a:t>Goal-based agent → “Is this state good or bad?”</a:t>
            </a:r>
          </a:p>
          <a:p>
            <a:pPr algn="just"/>
            <a:r>
              <a:rPr lang="en-US" dirty="0"/>
              <a:t>Utility-based agent → “How good </a:t>
            </a:r>
            <a:r>
              <a:rPr lang="en-US" i="1" dirty="0"/>
              <a:t>exactly</a:t>
            </a:r>
            <a:r>
              <a:rPr lang="en-US" dirty="0"/>
              <a:t> is this state compared to others?”</a:t>
            </a:r>
          </a:p>
          <a:p>
            <a:r>
              <a:rPr lang="en-US" b="1" dirty="0"/>
              <a:t>Key Characteristics</a:t>
            </a:r>
          </a:p>
          <a:p>
            <a:pPr marL="0" indent="0">
              <a:buNone/>
            </a:pPr>
            <a:r>
              <a:rPr lang="en-US" dirty="0"/>
              <a:t>1. Uses a utility function</a:t>
            </a:r>
          </a:p>
          <a:p>
            <a:r>
              <a:rPr lang="en-US" dirty="0"/>
              <a:t>A utility function assigns a value like: 0 → worst outcome, 1 → best outcome or any numerical range. Example: For a self-driving car: Utility = safety score + comfort score + speed benefit.</a:t>
            </a:r>
          </a:p>
          <a:p>
            <a:pPr marL="0" indent="0">
              <a:buNone/>
            </a:pPr>
            <a:r>
              <a:rPr lang="en-US" dirty="0"/>
              <a:t>2. Chooses the action with highest expected utility</a:t>
            </a:r>
          </a:p>
          <a:p>
            <a:r>
              <a:rPr lang="en-US" dirty="0"/>
              <a:t>If outcomes are uncertain, it computes: Expected Utility = Σ (Probability × Utility).</a:t>
            </a:r>
          </a:p>
          <a:p>
            <a:r>
              <a:rPr lang="en-US" dirty="0"/>
              <a:t>This lets it handle: Risk, Uncertainty, Trade-offs</a:t>
            </a:r>
          </a:p>
          <a:p>
            <a:pPr marL="0" indent="0">
              <a:buNone/>
            </a:pPr>
            <a:r>
              <a:rPr lang="en-US" dirty="0"/>
              <a:t>3. Handles conflicting goals</a:t>
            </a:r>
          </a:p>
          <a:p>
            <a:r>
              <a:rPr lang="en-US" dirty="0"/>
              <a:t>A utility-based agent can balance: Safety vs. speed, Cost vs. quality, Comfort vs. time.</a:t>
            </a:r>
          </a:p>
          <a:p>
            <a:endParaRPr lang="en-US" dirty="0"/>
          </a:p>
          <a:p>
            <a:pPr algn="just"/>
            <a:endParaRPr lang="en-US" dirty="0"/>
          </a:p>
        </p:txBody>
      </p:sp>
    </p:spTree>
    <p:extLst>
      <p:ext uri="{BB962C8B-B14F-4D97-AF65-F5344CB8AC3E}">
        <p14:creationId xmlns:p14="http://schemas.microsoft.com/office/powerpoint/2010/main" val="22458674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528D-2297-1521-2DCD-D1CAFA5F8C2A}"/>
              </a:ext>
            </a:extLst>
          </p:cNvPr>
          <p:cNvSpPr>
            <a:spLocks noGrp="1"/>
          </p:cNvSpPr>
          <p:nvPr>
            <p:ph type="title"/>
          </p:nvPr>
        </p:nvSpPr>
        <p:spPr>
          <a:xfrm>
            <a:off x="838200" y="365125"/>
            <a:ext cx="10515600" cy="780281"/>
          </a:xfrm>
        </p:spPr>
        <p:txBody>
          <a:bodyPr/>
          <a:lstStyle/>
          <a:p>
            <a:r>
              <a:rPr lang="en-US" dirty="0"/>
              <a:t>Utility Based Agent</a:t>
            </a:r>
          </a:p>
        </p:txBody>
      </p:sp>
      <p:pic>
        <p:nvPicPr>
          <p:cNvPr id="5" name="Content Placeholder 4">
            <a:extLst>
              <a:ext uri="{FF2B5EF4-FFF2-40B4-BE49-F238E27FC236}">
                <a16:creationId xmlns:a16="http://schemas.microsoft.com/office/drawing/2014/main" id="{1B93BE4E-A016-189A-97FA-9351083A61A6}"/>
              </a:ext>
            </a:extLst>
          </p:cNvPr>
          <p:cNvPicPr>
            <a:picLocks noGrp="1" noChangeAspect="1"/>
          </p:cNvPicPr>
          <p:nvPr>
            <p:ph idx="1"/>
          </p:nvPr>
        </p:nvPicPr>
        <p:blipFill>
          <a:blip r:embed="rId2"/>
          <a:stretch>
            <a:fillRect/>
          </a:stretch>
        </p:blipFill>
        <p:spPr>
          <a:xfrm>
            <a:off x="760769" y="1387275"/>
            <a:ext cx="8951122" cy="4214628"/>
          </a:xfrm>
          <a:prstGeom prst="rect">
            <a:avLst/>
          </a:prstGeom>
        </p:spPr>
      </p:pic>
    </p:spTree>
    <p:extLst>
      <p:ext uri="{BB962C8B-B14F-4D97-AF65-F5344CB8AC3E}">
        <p14:creationId xmlns:p14="http://schemas.microsoft.com/office/powerpoint/2010/main" val="6626550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F321-7792-AB88-ED0E-509F3CE3E1CF}"/>
              </a:ext>
            </a:extLst>
          </p:cNvPr>
          <p:cNvSpPr>
            <a:spLocks noGrp="1"/>
          </p:cNvSpPr>
          <p:nvPr>
            <p:ph type="title"/>
          </p:nvPr>
        </p:nvSpPr>
        <p:spPr>
          <a:xfrm>
            <a:off x="838200" y="365125"/>
            <a:ext cx="10515600" cy="488315"/>
          </a:xfrm>
        </p:spPr>
        <p:txBody>
          <a:bodyPr>
            <a:normAutofit fontScale="90000"/>
          </a:bodyPr>
          <a:lstStyle/>
          <a:p>
            <a:r>
              <a:rPr lang="en-US" dirty="0"/>
              <a:t>Utility Based Agent</a:t>
            </a:r>
          </a:p>
        </p:txBody>
      </p:sp>
      <p:sp>
        <p:nvSpPr>
          <p:cNvPr id="3" name="Content Placeholder 2">
            <a:extLst>
              <a:ext uri="{FF2B5EF4-FFF2-40B4-BE49-F238E27FC236}">
                <a16:creationId xmlns:a16="http://schemas.microsoft.com/office/drawing/2014/main" id="{8F2C897B-5032-73DC-843A-0C95C72F085D}"/>
              </a:ext>
            </a:extLst>
          </p:cNvPr>
          <p:cNvSpPr>
            <a:spLocks noGrp="1"/>
          </p:cNvSpPr>
          <p:nvPr>
            <p:ph idx="1"/>
          </p:nvPr>
        </p:nvSpPr>
        <p:spPr>
          <a:xfrm>
            <a:off x="838200" y="1056640"/>
            <a:ext cx="10515600" cy="5262880"/>
          </a:xfrm>
        </p:spPr>
        <p:txBody>
          <a:bodyPr>
            <a:normAutofit fontScale="92500" lnSpcReduction="20000"/>
          </a:bodyPr>
          <a:lstStyle/>
          <a:p>
            <a:pPr marL="0" indent="0">
              <a:buNone/>
            </a:pPr>
            <a:r>
              <a:rPr lang="en-US" dirty="0"/>
              <a:t>Examples of Utility-Based Agents:</a:t>
            </a:r>
          </a:p>
          <a:p>
            <a:pPr marL="0" indent="0">
              <a:buNone/>
            </a:pPr>
            <a:r>
              <a:rPr lang="en-US" dirty="0"/>
              <a:t>1. Self-driving Cars</a:t>
            </a:r>
          </a:p>
          <a:p>
            <a:pPr>
              <a:buFont typeface="Wingdings" panose="05000000000000000000" pitchFamily="2" charset="2"/>
              <a:buChar char="Ø"/>
            </a:pPr>
            <a:r>
              <a:rPr lang="en-US" dirty="0"/>
              <a:t>Evaluates:</a:t>
            </a:r>
          </a:p>
          <a:p>
            <a:r>
              <a:rPr lang="en-US" dirty="0"/>
              <a:t>safety (high utility)</a:t>
            </a:r>
          </a:p>
          <a:p>
            <a:r>
              <a:rPr lang="en-US" dirty="0"/>
              <a:t>speed (medium utility)</a:t>
            </a:r>
          </a:p>
          <a:p>
            <a:r>
              <a:rPr lang="en-US" dirty="0"/>
              <a:t>fuel use (low utility)</a:t>
            </a:r>
          </a:p>
          <a:p>
            <a:pPr marL="0" indent="0">
              <a:buNone/>
            </a:pPr>
            <a:r>
              <a:rPr lang="en-US" dirty="0"/>
              <a:t>2. Recommendation Systems</a:t>
            </a:r>
          </a:p>
          <a:p>
            <a:r>
              <a:rPr lang="en-US" dirty="0"/>
              <a:t>Utility = how much user might like the item.</a:t>
            </a:r>
          </a:p>
          <a:p>
            <a:pPr marL="0" indent="0">
              <a:buNone/>
            </a:pPr>
            <a:r>
              <a:rPr lang="en-US" dirty="0"/>
              <a:t>3. Investment AI</a:t>
            </a:r>
          </a:p>
          <a:p>
            <a:r>
              <a:rPr lang="en-US" dirty="0"/>
              <a:t>Utility = profit × risk management.</a:t>
            </a:r>
          </a:p>
          <a:p>
            <a:pPr marL="0" indent="0">
              <a:buNone/>
            </a:pPr>
            <a:r>
              <a:rPr lang="en-US" dirty="0"/>
              <a:t>4. Game AI (Chess, GO)</a:t>
            </a:r>
          </a:p>
          <a:p>
            <a:r>
              <a:rPr lang="en-US" dirty="0"/>
              <a:t>Utility = board position score.</a:t>
            </a:r>
          </a:p>
        </p:txBody>
      </p:sp>
    </p:spTree>
    <p:extLst>
      <p:ext uri="{BB962C8B-B14F-4D97-AF65-F5344CB8AC3E}">
        <p14:creationId xmlns:p14="http://schemas.microsoft.com/office/powerpoint/2010/main" val="1657157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8B6E-6283-C415-E601-A19DCD1A11B9}"/>
              </a:ext>
            </a:extLst>
          </p:cNvPr>
          <p:cNvSpPr>
            <a:spLocks noGrp="1"/>
          </p:cNvSpPr>
          <p:nvPr>
            <p:ph type="title"/>
          </p:nvPr>
        </p:nvSpPr>
        <p:spPr>
          <a:xfrm>
            <a:off x="838200" y="365126"/>
            <a:ext cx="10515600" cy="693654"/>
          </a:xfrm>
        </p:spPr>
        <p:txBody>
          <a:bodyPr>
            <a:normAutofit fontScale="90000"/>
          </a:bodyPr>
          <a:lstStyle/>
          <a:p>
            <a:r>
              <a:rPr lang="en-US" dirty="0"/>
              <a:t>Types of Agents</a:t>
            </a:r>
          </a:p>
        </p:txBody>
      </p:sp>
      <p:sp>
        <p:nvSpPr>
          <p:cNvPr id="3" name="Content Placeholder 2">
            <a:extLst>
              <a:ext uri="{FF2B5EF4-FFF2-40B4-BE49-F238E27FC236}">
                <a16:creationId xmlns:a16="http://schemas.microsoft.com/office/drawing/2014/main" id="{E1AD359A-CA00-81B0-D16E-F5DACA618D3C}"/>
              </a:ext>
            </a:extLst>
          </p:cNvPr>
          <p:cNvSpPr>
            <a:spLocks noGrp="1"/>
          </p:cNvSpPr>
          <p:nvPr>
            <p:ph idx="1"/>
          </p:nvPr>
        </p:nvSpPr>
        <p:spPr>
          <a:xfrm>
            <a:off x="838199" y="1058780"/>
            <a:ext cx="10885371" cy="5434095"/>
          </a:xfrm>
        </p:spPr>
        <p:txBody>
          <a:bodyPr/>
          <a:lstStyle/>
          <a:p>
            <a:pPr marL="0" indent="0">
              <a:buNone/>
            </a:pPr>
            <a:r>
              <a:rPr lang="en-US" dirty="0"/>
              <a:t>5. Learning (Intelligent) Agent</a:t>
            </a:r>
          </a:p>
          <a:p>
            <a:r>
              <a:rPr lang="en-US" dirty="0"/>
              <a:t>Improves performance over time through experience, adapting to new situations and discovering better strategies autonomously.</a:t>
            </a:r>
          </a:p>
        </p:txBody>
      </p:sp>
      <p:pic>
        <p:nvPicPr>
          <p:cNvPr id="7" name="Picture 6">
            <a:extLst>
              <a:ext uri="{FF2B5EF4-FFF2-40B4-BE49-F238E27FC236}">
                <a16:creationId xmlns:a16="http://schemas.microsoft.com/office/drawing/2014/main" id="{532DDD57-519A-7870-4D1D-30735B4C9E9B}"/>
              </a:ext>
            </a:extLst>
          </p:cNvPr>
          <p:cNvPicPr>
            <a:picLocks noChangeAspect="1"/>
          </p:cNvPicPr>
          <p:nvPr/>
        </p:nvPicPr>
        <p:blipFill>
          <a:blip r:embed="rId2"/>
          <a:stretch>
            <a:fillRect/>
          </a:stretch>
        </p:blipFill>
        <p:spPr>
          <a:xfrm>
            <a:off x="1891768" y="2367815"/>
            <a:ext cx="7983751" cy="4211053"/>
          </a:xfrm>
          <a:prstGeom prst="rect">
            <a:avLst/>
          </a:prstGeom>
        </p:spPr>
      </p:pic>
    </p:spTree>
    <p:extLst>
      <p:ext uri="{BB962C8B-B14F-4D97-AF65-F5344CB8AC3E}">
        <p14:creationId xmlns:p14="http://schemas.microsoft.com/office/powerpoint/2010/main" val="18688029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7C3DD-4E3A-B67A-B92A-9ADB7376DE3D}"/>
              </a:ext>
            </a:extLst>
          </p:cNvPr>
          <p:cNvSpPr>
            <a:spLocks noGrp="1"/>
          </p:cNvSpPr>
          <p:nvPr>
            <p:ph type="title"/>
          </p:nvPr>
        </p:nvSpPr>
        <p:spPr/>
        <p:txBody>
          <a:bodyPr/>
          <a:lstStyle/>
          <a:p>
            <a:r>
              <a:rPr lang="en-US" dirty="0"/>
              <a:t>Learning (Intelligent) Agent</a:t>
            </a:r>
          </a:p>
        </p:txBody>
      </p:sp>
      <p:pic>
        <p:nvPicPr>
          <p:cNvPr id="5" name="Content Placeholder 4">
            <a:extLst>
              <a:ext uri="{FF2B5EF4-FFF2-40B4-BE49-F238E27FC236}">
                <a16:creationId xmlns:a16="http://schemas.microsoft.com/office/drawing/2014/main" id="{CD76E0AE-4A09-E2C7-7F34-6180C6DE683A}"/>
              </a:ext>
            </a:extLst>
          </p:cNvPr>
          <p:cNvPicPr>
            <a:picLocks noGrp="1" noChangeAspect="1"/>
          </p:cNvPicPr>
          <p:nvPr>
            <p:ph idx="1"/>
          </p:nvPr>
        </p:nvPicPr>
        <p:blipFill>
          <a:blip r:embed="rId2"/>
          <a:stretch>
            <a:fillRect/>
          </a:stretch>
        </p:blipFill>
        <p:spPr>
          <a:xfrm>
            <a:off x="6545180" y="1833239"/>
            <a:ext cx="4109986" cy="2305624"/>
          </a:xfrm>
          <a:prstGeom prst="rect">
            <a:avLst/>
          </a:prstGeom>
        </p:spPr>
      </p:pic>
      <p:sp>
        <p:nvSpPr>
          <p:cNvPr id="6" name="TextBox 5">
            <a:extLst>
              <a:ext uri="{FF2B5EF4-FFF2-40B4-BE49-F238E27FC236}">
                <a16:creationId xmlns:a16="http://schemas.microsoft.com/office/drawing/2014/main" id="{9D5CA816-E1AF-2FA7-BB49-81215D715E50}"/>
              </a:ext>
            </a:extLst>
          </p:cNvPr>
          <p:cNvSpPr txBox="1"/>
          <p:nvPr/>
        </p:nvSpPr>
        <p:spPr>
          <a:xfrm>
            <a:off x="1075623" y="5166435"/>
            <a:ext cx="9377413" cy="1477328"/>
          </a:xfrm>
          <a:prstGeom prst="rect">
            <a:avLst/>
          </a:prstGeom>
          <a:noFill/>
        </p:spPr>
        <p:txBody>
          <a:bodyPr wrap="square">
            <a:spAutoFit/>
          </a:bodyPr>
          <a:lstStyle/>
          <a:p>
            <a:pPr marL="0" indent="0">
              <a:buNone/>
            </a:pPr>
            <a:r>
              <a:rPr lang="en-US" dirty="0"/>
              <a:t>Key Characteristics:</a:t>
            </a:r>
          </a:p>
          <a:p>
            <a:pPr marL="285750" indent="-285750">
              <a:buFont typeface="Arial" panose="020B0604020202020204" pitchFamily="34" charset="0"/>
              <a:buChar char="•"/>
            </a:pPr>
            <a:r>
              <a:rPr lang="en-US" dirty="0"/>
              <a:t>Adapts to changing environments.</a:t>
            </a:r>
          </a:p>
          <a:p>
            <a:pPr marL="285750" indent="-285750">
              <a:buFont typeface="Arial" panose="020B0604020202020204" pitchFamily="34" charset="0"/>
              <a:buChar char="•"/>
            </a:pPr>
            <a:r>
              <a:rPr lang="en-US" dirty="0"/>
              <a:t>Discovers new strategies not explicitly programmed.</a:t>
            </a:r>
          </a:p>
          <a:p>
            <a:pPr marL="285750" indent="-285750">
              <a:buFont typeface="Arial" panose="020B0604020202020204" pitchFamily="34" charset="0"/>
              <a:buChar char="•"/>
            </a:pPr>
            <a:r>
              <a:rPr lang="en-US" dirty="0"/>
              <a:t>Continuously improves with experience.</a:t>
            </a:r>
          </a:p>
          <a:p>
            <a:pPr marL="0" indent="0">
              <a:buNone/>
            </a:pPr>
            <a:r>
              <a:rPr lang="en-US" dirty="0"/>
              <a:t> </a:t>
            </a:r>
          </a:p>
        </p:txBody>
      </p:sp>
      <p:pic>
        <p:nvPicPr>
          <p:cNvPr id="8" name="Picture 7">
            <a:extLst>
              <a:ext uri="{FF2B5EF4-FFF2-40B4-BE49-F238E27FC236}">
                <a16:creationId xmlns:a16="http://schemas.microsoft.com/office/drawing/2014/main" id="{02360F87-B12E-FC4A-88EF-EF86E2EAE5BA}"/>
              </a:ext>
            </a:extLst>
          </p:cNvPr>
          <p:cNvPicPr>
            <a:picLocks noChangeAspect="1"/>
          </p:cNvPicPr>
          <p:nvPr/>
        </p:nvPicPr>
        <p:blipFill>
          <a:blip r:embed="rId3"/>
          <a:stretch>
            <a:fillRect/>
          </a:stretch>
        </p:blipFill>
        <p:spPr>
          <a:xfrm>
            <a:off x="1399323" y="1833238"/>
            <a:ext cx="3615439" cy="2527005"/>
          </a:xfrm>
          <a:prstGeom prst="rect">
            <a:avLst/>
          </a:prstGeom>
        </p:spPr>
      </p:pic>
    </p:spTree>
    <p:extLst>
      <p:ext uri="{BB962C8B-B14F-4D97-AF65-F5344CB8AC3E}">
        <p14:creationId xmlns:p14="http://schemas.microsoft.com/office/powerpoint/2010/main" val="3425189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C5442-EEAA-7A93-9FC5-B453DDB22A2C}"/>
              </a:ext>
            </a:extLst>
          </p:cNvPr>
          <p:cNvSpPr>
            <a:spLocks noGrp="1"/>
          </p:cNvSpPr>
          <p:nvPr>
            <p:ph type="title"/>
          </p:nvPr>
        </p:nvSpPr>
        <p:spPr>
          <a:xfrm>
            <a:off x="838200" y="365125"/>
            <a:ext cx="10515600" cy="972787"/>
          </a:xfrm>
        </p:spPr>
        <p:txBody>
          <a:bodyPr/>
          <a:lstStyle/>
          <a:p>
            <a:r>
              <a:rPr lang="en-US" dirty="0"/>
              <a:t>Learning (Intelligent) Agent</a:t>
            </a:r>
          </a:p>
        </p:txBody>
      </p:sp>
      <p:pic>
        <p:nvPicPr>
          <p:cNvPr id="5" name="Content Placeholder 4">
            <a:extLst>
              <a:ext uri="{FF2B5EF4-FFF2-40B4-BE49-F238E27FC236}">
                <a16:creationId xmlns:a16="http://schemas.microsoft.com/office/drawing/2014/main" id="{A0EB70EE-89D6-BDC6-BDA7-AF4FC0B5AF0D}"/>
              </a:ext>
            </a:extLst>
          </p:cNvPr>
          <p:cNvPicPr>
            <a:picLocks noGrp="1" noChangeAspect="1"/>
          </p:cNvPicPr>
          <p:nvPr>
            <p:ph idx="1"/>
          </p:nvPr>
        </p:nvPicPr>
        <p:blipFill>
          <a:blip r:embed="rId2"/>
          <a:stretch>
            <a:fillRect/>
          </a:stretch>
        </p:blipFill>
        <p:spPr>
          <a:xfrm>
            <a:off x="1029904" y="1482291"/>
            <a:ext cx="9654138" cy="4803006"/>
          </a:xfrm>
          <a:prstGeom prst="rect">
            <a:avLst/>
          </a:prstGeom>
        </p:spPr>
      </p:pic>
    </p:spTree>
    <p:extLst>
      <p:ext uri="{BB962C8B-B14F-4D97-AF65-F5344CB8AC3E}">
        <p14:creationId xmlns:p14="http://schemas.microsoft.com/office/powerpoint/2010/main" val="10443005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0F215-E54E-0DED-2CE1-B0A22E60621F}"/>
              </a:ext>
            </a:extLst>
          </p:cNvPr>
          <p:cNvSpPr>
            <a:spLocks noGrp="1"/>
          </p:cNvSpPr>
          <p:nvPr>
            <p:ph type="title"/>
          </p:nvPr>
        </p:nvSpPr>
        <p:spPr>
          <a:xfrm>
            <a:off x="838200" y="365125"/>
            <a:ext cx="10515600" cy="539115"/>
          </a:xfrm>
        </p:spPr>
        <p:txBody>
          <a:bodyPr>
            <a:normAutofit fontScale="90000"/>
          </a:bodyPr>
          <a:lstStyle/>
          <a:p>
            <a:r>
              <a:rPr lang="en-US" dirty="0"/>
              <a:t>1.7 Agentic AI</a:t>
            </a:r>
          </a:p>
        </p:txBody>
      </p:sp>
      <p:sp>
        <p:nvSpPr>
          <p:cNvPr id="3" name="Content Placeholder 2">
            <a:extLst>
              <a:ext uri="{FF2B5EF4-FFF2-40B4-BE49-F238E27FC236}">
                <a16:creationId xmlns:a16="http://schemas.microsoft.com/office/drawing/2014/main" id="{75A83E5A-8CA3-5CB1-F726-C2A25595B0B9}"/>
              </a:ext>
            </a:extLst>
          </p:cNvPr>
          <p:cNvSpPr>
            <a:spLocks noGrp="1"/>
          </p:cNvSpPr>
          <p:nvPr>
            <p:ph idx="1"/>
          </p:nvPr>
        </p:nvSpPr>
        <p:spPr>
          <a:xfrm>
            <a:off x="838200" y="1066800"/>
            <a:ext cx="10515600" cy="5426075"/>
          </a:xfrm>
        </p:spPr>
        <p:txBody>
          <a:bodyPr>
            <a:normAutofit lnSpcReduction="10000"/>
          </a:bodyPr>
          <a:lstStyle/>
          <a:p>
            <a:pPr algn="just"/>
            <a:r>
              <a:rPr lang="en-US" dirty="0"/>
              <a:t>Agentic AI refers to AI systems that can act autonomously to achieve goals where they don’t just respond to inputs, they plan, decide, and take actions over time.</a:t>
            </a:r>
          </a:p>
          <a:p>
            <a:pPr algn="just"/>
            <a:r>
              <a:rPr lang="en-US" dirty="0"/>
              <a:t>A traditional AI answers a question and stops  whereas an agentic AI when given a</a:t>
            </a:r>
            <a:r>
              <a:rPr lang="en-US" i="1" dirty="0"/>
              <a:t> </a:t>
            </a:r>
            <a:r>
              <a:rPr lang="en-US" dirty="0"/>
              <a:t>goal, figures out on its own the sequence of steps, tool to be used, and decisions needed to achieve it. It keeps acting until the job is done.</a:t>
            </a:r>
          </a:p>
          <a:p>
            <a:pPr algn="just"/>
            <a:r>
              <a:rPr lang="en-US" dirty="0"/>
              <a:t>In Agentic AI, an AI agent behaves like a goal-driven entity that can understand a task, break it into steps, make decisions, execute actions and learn from results.</a:t>
            </a:r>
          </a:p>
          <a:p>
            <a:pPr algn="just"/>
            <a:r>
              <a:rPr lang="en-US" dirty="0"/>
              <a:t>We can think of the difference between asking a person "what's the weather?" vs. asking them to "plan and book your entire trip to Pokhara." The second requires initiative, judgment, and a series of actions over time. That's agentic.</a:t>
            </a:r>
          </a:p>
          <a:p>
            <a:pPr algn="just"/>
            <a:endParaRPr lang="en-US" dirty="0"/>
          </a:p>
          <a:p>
            <a:endParaRPr lang="en-US" dirty="0"/>
          </a:p>
        </p:txBody>
      </p:sp>
    </p:spTree>
    <p:extLst>
      <p:ext uri="{BB962C8B-B14F-4D97-AF65-F5344CB8AC3E}">
        <p14:creationId xmlns:p14="http://schemas.microsoft.com/office/powerpoint/2010/main" val="205597770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28642-CFC1-B4F1-63F6-2FEADD240AC0}"/>
              </a:ext>
            </a:extLst>
          </p:cNvPr>
          <p:cNvSpPr>
            <a:spLocks noGrp="1"/>
          </p:cNvSpPr>
          <p:nvPr>
            <p:ph type="title"/>
          </p:nvPr>
        </p:nvSpPr>
        <p:spPr>
          <a:xfrm>
            <a:off x="838200" y="152400"/>
            <a:ext cx="10515600" cy="681355"/>
          </a:xfrm>
        </p:spPr>
        <p:txBody>
          <a:bodyPr>
            <a:normAutofit fontScale="90000"/>
          </a:bodyPr>
          <a:lstStyle/>
          <a:p>
            <a:r>
              <a:rPr lang="en-US" dirty="0"/>
              <a:t>Agentic AI Architecture (The Core Loop)</a:t>
            </a:r>
          </a:p>
        </p:txBody>
      </p:sp>
      <p:pic>
        <p:nvPicPr>
          <p:cNvPr id="5" name="Content Placeholder 4">
            <a:extLst>
              <a:ext uri="{FF2B5EF4-FFF2-40B4-BE49-F238E27FC236}">
                <a16:creationId xmlns:a16="http://schemas.microsoft.com/office/drawing/2014/main" id="{AAF2C893-3E22-886F-2BBF-9943200F7FDE}"/>
              </a:ext>
            </a:extLst>
          </p:cNvPr>
          <p:cNvPicPr>
            <a:picLocks noGrp="1" noChangeAspect="1"/>
          </p:cNvPicPr>
          <p:nvPr>
            <p:ph idx="1"/>
          </p:nvPr>
        </p:nvPicPr>
        <p:blipFill>
          <a:blip r:embed="rId2"/>
          <a:stretch>
            <a:fillRect/>
          </a:stretch>
        </p:blipFill>
        <p:spPr>
          <a:xfrm>
            <a:off x="1148080" y="944880"/>
            <a:ext cx="9408159" cy="5760720"/>
          </a:xfrm>
          <a:prstGeom prst="rect">
            <a:avLst/>
          </a:prstGeom>
        </p:spPr>
      </p:pic>
    </p:spTree>
    <p:extLst>
      <p:ext uri="{BB962C8B-B14F-4D97-AF65-F5344CB8AC3E}">
        <p14:creationId xmlns:p14="http://schemas.microsoft.com/office/powerpoint/2010/main" val="34962096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A28EF-C55B-1984-DFF2-9B4007C869F9}"/>
              </a:ext>
            </a:extLst>
          </p:cNvPr>
          <p:cNvSpPr>
            <a:spLocks noGrp="1"/>
          </p:cNvSpPr>
          <p:nvPr>
            <p:ph type="title"/>
          </p:nvPr>
        </p:nvSpPr>
        <p:spPr>
          <a:xfrm>
            <a:off x="838200" y="365125"/>
            <a:ext cx="10515600" cy="447675"/>
          </a:xfrm>
        </p:spPr>
        <p:txBody>
          <a:bodyPr>
            <a:normAutofit fontScale="90000"/>
          </a:bodyPr>
          <a:lstStyle/>
          <a:p>
            <a:r>
              <a:rPr lang="en-US" dirty="0"/>
              <a:t>Agentic AI Architecture (The Core Loop)</a:t>
            </a:r>
          </a:p>
        </p:txBody>
      </p:sp>
      <p:sp>
        <p:nvSpPr>
          <p:cNvPr id="3" name="Content Placeholder 2">
            <a:extLst>
              <a:ext uri="{FF2B5EF4-FFF2-40B4-BE49-F238E27FC236}">
                <a16:creationId xmlns:a16="http://schemas.microsoft.com/office/drawing/2014/main" id="{5CF9B534-84DF-BBC9-1335-CC65B178EB3F}"/>
              </a:ext>
            </a:extLst>
          </p:cNvPr>
          <p:cNvSpPr>
            <a:spLocks noGrp="1"/>
          </p:cNvSpPr>
          <p:nvPr>
            <p:ph idx="1"/>
          </p:nvPr>
        </p:nvSpPr>
        <p:spPr>
          <a:xfrm>
            <a:off x="706120" y="1056640"/>
            <a:ext cx="10515600" cy="5567680"/>
          </a:xfrm>
        </p:spPr>
        <p:txBody>
          <a:bodyPr>
            <a:normAutofit fontScale="92500" lnSpcReduction="10000"/>
          </a:bodyPr>
          <a:lstStyle/>
          <a:p>
            <a:r>
              <a:rPr lang="en-US" dirty="0"/>
              <a:t>Every agentic AI runs through this cycle continuously:</a:t>
            </a:r>
          </a:p>
          <a:p>
            <a:pPr marL="514350" indent="-514350">
              <a:buAutoNum type="arabicPeriod"/>
            </a:pPr>
            <a:r>
              <a:rPr lang="en-US" dirty="0"/>
              <a:t>Perceive</a:t>
            </a:r>
            <a:r>
              <a:rPr lang="en-US" b="1" dirty="0"/>
              <a:t> </a:t>
            </a:r>
          </a:p>
          <a:p>
            <a:pPr algn="just">
              <a:buFont typeface="Wingdings" panose="05000000000000000000" pitchFamily="2" charset="2"/>
              <a:buChar char="Ø"/>
            </a:pPr>
            <a:r>
              <a:rPr lang="en-US" dirty="0"/>
              <a:t>The agent reads its environment i.e. the original goal, prior conversation, available tools, and any memory from earlier steps.</a:t>
            </a:r>
          </a:p>
          <a:p>
            <a:pPr marL="0" indent="0" algn="just">
              <a:buNone/>
            </a:pPr>
            <a:r>
              <a:rPr lang="en-US" dirty="0"/>
              <a:t>2. Reason &amp; Plan </a:t>
            </a:r>
          </a:p>
          <a:p>
            <a:pPr algn="just">
              <a:buFont typeface="Wingdings" panose="05000000000000000000" pitchFamily="2" charset="2"/>
              <a:buChar char="Ø"/>
            </a:pPr>
            <a:r>
              <a:rPr lang="en-US" dirty="0"/>
              <a:t>It breaks the goal into sub-tasks, decides what order to tackle them, and selects which tools to use. Use of LLMs and Reasoning is done to plan the execution of the tasks.</a:t>
            </a:r>
          </a:p>
          <a:p>
            <a:pPr marL="0" indent="0" algn="just">
              <a:buNone/>
            </a:pPr>
            <a:r>
              <a:rPr lang="en-US" dirty="0"/>
              <a:t>3. Act </a:t>
            </a:r>
          </a:p>
          <a:p>
            <a:pPr algn="just">
              <a:buFont typeface="Wingdings" panose="05000000000000000000" pitchFamily="2" charset="2"/>
              <a:buChar char="Ø"/>
            </a:pPr>
            <a:r>
              <a:rPr lang="en-US" dirty="0"/>
              <a:t>It executes the plan by calling a search API, running code, writing a file, clicking a browser, or calling another AI agent.</a:t>
            </a:r>
          </a:p>
          <a:p>
            <a:pPr marL="0" indent="0" algn="just">
              <a:buNone/>
            </a:pPr>
            <a:r>
              <a:rPr lang="en-US" dirty="0"/>
              <a:t>4. Observe </a:t>
            </a:r>
          </a:p>
          <a:p>
            <a:pPr algn="just">
              <a:buFont typeface="Wingdings" panose="05000000000000000000" pitchFamily="2" charset="2"/>
              <a:buChar char="Ø"/>
            </a:pPr>
            <a:r>
              <a:rPr lang="en-US" dirty="0"/>
              <a:t>It reads the result of its action, updates its understanding, and loops back to perceive to adjust the plan if something goes wrong.</a:t>
            </a:r>
          </a:p>
          <a:p>
            <a:endParaRPr lang="en-US" dirty="0"/>
          </a:p>
        </p:txBody>
      </p:sp>
    </p:spTree>
    <p:extLst>
      <p:ext uri="{BB962C8B-B14F-4D97-AF65-F5344CB8AC3E}">
        <p14:creationId xmlns:p14="http://schemas.microsoft.com/office/powerpoint/2010/main" val="29934573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50452-B1F0-9087-2C4C-A2682AE1041D}"/>
              </a:ext>
            </a:extLst>
          </p:cNvPr>
          <p:cNvSpPr>
            <a:spLocks noGrp="1"/>
          </p:cNvSpPr>
          <p:nvPr>
            <p:ph type="title"/>
          </p:nvPr>
        </p:nvSpPr>
        <p:spPr>
          <a:xfrm>
            <a:off x="838200" y="507366"/>
            <a:ext cx="10515600" cy="894714"/>
          </a:xfrm>
        </p:spPr>
        <p:txBody>
          <a:bodyPr>
            <a:normAutofit/>
          </a:bodyPr>
          <a:lstStyle/>
          <a:p>
            <a:r>
              <a:rPr lang="en-US" dirty="0"/>
              <a:t>Agentic AI</a:t>
            </a:r>
          </a:p>
        </p:txBody>
      </p:sp>
      <p:sp>
        <p:nvSpPr>
          <p:cNvPr id="3" name="Content Placeholder 2">
            <a:extLst>
              <a:ext uri="{FF2B5EF4-FFF2-40B4-BE49-F238E27FC236}">
                <a16:creationId xmlns:a16="http://schemas.microsoft.com/office/drawing/2014/main" id="{4F9AF825-2DEC-B2BF-B360-26178182EBA6}"/>
              </a:ext>
            </a:extLst>
          </p:cNvPr>
          <p:cNvSpPr>
            <a:spLocks noGrp="1"/>
          </p:cNvSpPr>
          <p:nvPr>
            <p:ph idx="1"/>
          </p:nvPr>
        </p:nvSpPr>
        <p:spPr>
          <a:xfrm>
            <a:off x="706120" y="1818641"/>
            <a:ext cx="10515600" cy="4124960"/>
          </a:xfrm>
        </p:spPr>
        <p:txBody>
          <a:bodyPr>
            <a:normAutofit/>
          </a:bodyPr>
          <a:lstStyle/>
          <a:p>
            <a:r>
              <a:rPr lang="en-US" dirty="0"/>
              <a:t>Characteristics of Agentic AI:</a:t>
            </a:r>
          </a:p>
          <a:p>
            <a:pPr algn="just">
              <a:buFont typeface="Wingdings" panose="05000000000000000000" pitchFamily="2" charset="2"/>
              <a:buChar char="Ø"/>
            </a:pPr>
            <a:r>
              <a:rPr lang="en-US" dirty="0"/>
              <a:t>Very  goal-oriented as  it works toward achieving a defined objective.</a:t>
            </a:r>
          </a:p>
          <a:p>
            <a:pPr algn="just">
              <a:buFont typeface="Wingdings" panose="05000000000000000000" pitchFamily="2" charset="2"/>
              <a:buChar char="Ø"/>
            </a:pPr>
            <a:r>
              <a:rPr lang="en-US" dirty="0"/>
              <a:t>Can operate without constant human input.</a:t>
            </a:r>
          </a:p>
          <a:p>
            <a:pPr algn="just">
              <a:buFont typeface="Wingdings" panose="05000000000000000000" pitchFamily="2" charset="2"/>
              <a:buChar char="Ø"/>
            </a:pPr>
            <a:r>
              <a:rPr lang="en-US" dirty="0"/>
              <a:t>Breaks complex problems into smaller steps and chooses the best path to achieve goal.</a:t>
            </a:r>
          </a:p>
          <a:p>
            <a:pPr algn="just">
              <a:buFont typeface="Wingdings" panose="05000000000000000000" pitchFamily="2" charset="2"/>
              <a:buChar char="Ø"/>
            </a:pPr>
            <a:r>
              <a:rPr lang="en-US" dirty="0"/>
              <a:t>Remembers past interactions and improves performance over time. </a:t>
            </a:r>
          </a:p>
          <a:p>
            <a:pPr algn="just">
              <a:buFont typeface="Wingdings" panose="05000000000000000000" pitchFamily="2" charset="2"/>
              <a:buChar char="Ø"/>
            </a:pPr>
            <a:r>
              <a:rPr lang="en-US" dirty="0"/>
              <a:t>Can use external tools such as APIs ,Databases and Web search.</a:t>
            </a:r>
          </a:p>
        </p:txBody>
      </p:sp>
    </p:spTree>
    <p:extLst>
      <p:ext uri="{BB962C8B-B14F-4D97-AF65-F5344CB8AC3E}">
        <p14:creationId xmlns:p14="http://schemas.microsoft.com/office/powerpoint/2010/main" val="16869280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71818-A97E-66C9-30D1-EBB233CC47C0}"/>
              </a:ext>
            </a:extLst>
          </p:cNvPr>
          <p:cNvSpPr>
            <a:spLocks noGrp="1"/>
          </p:cNvSpPr>
          <p:nvPr>
            <p:ph type="title"/>
          </p:nvPr>
        </p:nvSpPr>
        <p:spPr>
          <a:xfrm>
            <a:off x="838200" y="147002"/>
            <a:ext cx="10515600" cy="620395"/>
          </a:xfrm>
        </p:spPr>
        <p:txBody>
          <a:bodyPr>
            <a:normAutofit fontScale="90000"/>
          </a:bodyPr>
          <a:lstStyle/>
          <a:p>
            <a:r>
              <a:rPr lang="en-US" dirty="0"/>
              <a:t>Agentic AI</a:t>
            </a:r>
          </a:p>
        </p:txBody>
      </p:sp>
      <p:sp>
        <p:nvSpPr>
          <p:cNvPr id="3" name="Content Placeholder 2">
            <a:extLst>
              <a:ext uri="{FF2B5EF4-FFF2-40B4-BE49-F238E27FC236}">
                <a16:creationId xmlns:a16="http://schemas.microsoft.com/office/drawing/2014/main" id="{D364CD08-1BCF-F723-4DC4-700A05F17DDB}"/>
              </a:ext>
            </a:extLst>
          </p:cNvPr>
          <p:cNvSpPr>
            <a:spLocks noGrp="1"/>
          </p:cNvSpPr>
          <p:nvPr>
            <p:ph idx="1"/>
          </p:nvPr>
        </p:nvSpPr>
        <p:spPr>
          <a:xfrm>
            <a:off x="838200" y="975360"/>
            <a:ext cx="10515600" cy="5425440"/>
          </a:xfrm>
        </p:spPr>
        <p:txBody>
          <a:bodyPr>
            <a:normAutofit fontScale="77500" lnSpcReduction="20000"/>
          </a:bodyPr>
          <a:lstStyle/>
          <a:p>
            <a:r>
              <a:rPr lang="en-US" dirty="0"/>
              <a:t>Real World Examples:</a:t>
            </a:r>
          </a:p>
          <a:p>
            <a:pPr marL="0" indent="0" algn="just">
              <a:buNone/>
            </a:pPr>
            <a:r>
              <a:rPr lang="en-US" dirty="0"/>
              <a:t>1.   Autonomous Vehicles</a:t>
            </a:r>
          </a:p>
          <a:p>
            <a:pPr algn="just">
              <a:buFont typeface="Wingdings" panose="05000000000000000000" pitchFamily="2" charset="2"/>
              <a:buChar char="Ø"/>
            </a:pPr>
            <a:r>
              <a:rPr lang="en-US" dirty="0"/>
              <a:t>Used to perceive environment using cameras and sensors, plan routes , make driving decisions and continuously adapt .  Examples: Tesla Autopilot, Waymo </a:t>
            </a:r>
          </a:p>
          <a:p>
            <a:pPr marL="0" indent="0" algn="just">
              <a:buNone/>
            </a:pPr>
            <a:r>
              <a:rPr lang="en-US" b="1" dirty="0"/>
              <a:t> </a:t>
            </a:r>
            <a:r>
              <a:rPr lang="en-US" dirty="0"/>
              <a:t>2.    AI Personal Assistants </a:t>
            </a:r>
          </a:p>
          <a:p>
            <a:pPr algn="just">
              <a:buFont typeface="Wingdings" panose="05000000000000000000" pitchFamily="2" charset="2"/>
              <a:buChar char="Ø"/>
            </a:pPr>
            <a:r>
              <a:rPr lang="en-US" dirty="0"/>
              <a:t>Used to handle multi-step tasks like scheduling meetings, sending emails , interacting with multiple services , learning user preferences . Examples: Google Assistant, Amazon Alexa </a:t>
            </a:r>
          </a:p>
          <a:p>
            <a:pPr marL="0" indent="0" algn="just">
              <a:buNone/>
            </a:pPr>
            <a:r>
              <a:rPr lang="en-US" dirty="0"/>
              <a:t>3.     AI Coding Agents</a:t>
            </a:r>
          </a:p>
          <a:p>
            <a:pPr>
              <a:buFont typeface="Wingdings" panose="05000000000000000000" pitchFamily="2" charset="2"/>
              <a:buChar char="Ø"/>
            </a:pPr>
            <a:r>
              <a:rPr lang="en-US" dirty="0"/>
              <a:t>Used to write code, debug errors , suggest improvements , execute multi-step programming tasks . Examples: GitHub Copilot, auto-GPT </a:t>
            </a:r>
          </a:p>
          <a:p>
            <a:pPr marL="0" indent="0">
              <a:buNone/>
            </a:pPr>
            <a:r>
              <a:rPr lang="en-US" dirty="0"/>
              <a:t>4.   Customer Support AI Agents</a:t>
            </a:r>
          </a:p>
          <a:p>
            <a:pPr algn="just">
              <a:buFont typeface="Wingdings" panose="05000000000000000000" pitchFamily="2" charset="2"/>
              <a:buChar char="Ø"/>
            </a:pPr>
            <a:r>
              <a:rPr lang="en-US" dirty="0"/>
              <a:t>Used by companies for handling customer queries , resolving issues &amp; escalating when needed. Example: Zendesk AI </a:t>
            </a:r>
          </a:p>
          <a:p>
            <a:pPr marL="0" indent="0" algn="just">
              <a:buNone/>
            </a:pPr>
            <a:r>
              <a:rPr lang="en-US" dirty="0"/>
              <a:t>5.    Financial Trading Bots</a:t>
            </a:r>
          </a:p>
          <a:p>
            <a:pPr algn="just">
              <a:buFont typeface="Wingdings" panose="05000000000000000000" pitchFamily="2" charset="2"/>
              <a:buChar char="Ø"/>
            </a:pPr>
            <a:r>
              <a:rPr lang="en-US" dirty="0"/>
              <a:t>Used in stock markets to analyze market trends, risk factors  and automatically buy/sell stocks .  Example: Goldman Sachs AI trading systems</a:t>
            </a:r>
          </a:p>
          <a:p>
            <a:pPr algn="just">
              <a:buFont typeface="Wingdings" panose="05000000000000000000" pitchFamily="2" charset="2"/>
              <a:buChar char="Ø"/>
            </a:pPr>
            <a:endParaRPr lang="en-US" dirty="0"/>
          </a:p>
        </p:txBody>
      </p:sp>
    </p:spTree>
    <p:extLst>
      <p:ext uri="{BB962C8B-B14F-4D97-AF65-F5344CB8AC3E}">
        <p14:creationId xmlns:p14="http://schemas.microsoft.com/office/powerpoint/2010/main" val="263647609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F418-4D76-6C61-F3FD-B229B186862D}"/>
              </a:ext>
            </a:extLst>
          </p:cNvPr>
          <p:cNvSpPr>
            <a:spLocks noGrp="1"/>
          </p:cNvSpPr>
          <p:nvPr>
            <p:ph type="title"/>
          </p:nvPr>
        </p:nvSpPr>
        <p:spPr>
          <a:xfrm>
            <a:off x="838200" y="365125"/>
            <a:ext cx="10515600" cy="752475"/>
          </a:xfrm>
        </p:spPr>
        <p:txBody>
          <a:bodyPr/>
          <a:lstStyle/>
          <a:p>
            <a:r>
              <a:rPr lang="en-US" dirty="0"/>
              <a:t>Agentic AI</a:t>
            </a:r>
          </a:p>
        </p:txBody>
      </p:sp>
      <p:sp>
        <p:nvSpPr>
          <p:cNvPr id="3" name="Content Placeholder 2">
            <a:extLst>
              <a:ext uri="{FF2B5EF4-FFF2-40B4-BE49-F238E27FC236}">
                <a16:creationId xmlns:a16="http://schemas.microsoft.com/office/drawing/2014/main" id="{10331929-94A7-6F99-7CC7-DF2D6BCEDBB7}"/>
              </a:ext>
            </a:extLst>
          </p:cNvPr>
          <p:cNvSpPr>
            <a:spLocks noGrp="1"/>
          </p:cNvSpPr>
          <p:nvPr>
            <p:ph idx="1"/>
          </p:nvPr>
        </p:nvSpPr>
        <p:spPr>
          <a:xfrm>
            <a:off x="838200" y="1209041"/>
            <a:ext cx="10515600" cy="4439920"/>
          </a:xfrm>
        </p:spPr>
        <p:txBody>
          <a:bodyPr/>
          <a:lstStyle/>
          <a:p>
            <a:r>
              <a:rPr lang="en-US" dirty="0"/>
              <a:t>Challenges/ Risks</a:t>
            </a:r>
          </a:p>
          <a:p>
            <a:pPr>
              <a:buFont typeface="Wingdings" panose="05000000000000000000" pitchFamily="2" charset="2"/>
              <a:buChar char="Ø"/>
            </a:pPr>
            <a:r>
              <a:rPr lang="en-US" dirty="0"/>
              <a:t>Incorrect Decision-Making/ Compounding Errors </a:t>
            </a:r>
          </a:p>
          <a:p>
            <a:pPr>
              <a:buFont typeface="Wingdings" panose="05000000000000000000" pitchFamily="2" charset="2"/>
              <a:buChar char="Ø"/>
            </a:pPr>
            <a:r>
              <a:rPr lang="en-US" dirty="0"/>
              <a:t>Hallucinations </a:t>
            </a:r>
          </a:p>
          <a:p>
            <a:pPr>
              <a:buFont typeface="Wingdings" panose="05000000000000000000" pitchFamily="2" charset="2"/>
              <a:buChar char="Ø"/>
            </a:pPr>
            <a:r>
              <a:rPr lang="en-US" dirty="0"/>
              <a:t>Trust &amp; Verification</a:t>
            </a:r>
          </a:p>
          <a:p>
            <a:pPr>
              <a:buFont typeface="Wingdings" panose="05000000000000000000" pitchFamily="2" charset="2"/>
              <a:buChar char="Ø"/>
            </a:pPr>
            <a:r>
              <a:rPr lang="en-US" dirty="0"/>
              <a:t>Ethical Concerns/ Accountability</a:t>
            </a:r>
          </a:p>
          <a:p>
            <a:pPr>
              <a:buFont typeface="Wingdings" panose="05000000000000000000" pitchFamily="2" charset="2"/>
              <a:buChar char="Ø"/>
            </a:pPr>
            <a:r>
              <a:rPr lang="en-US" dirty="0"/>
              <a:t>Over-Autonomy Risks</a:t>
            </a:r>
          </a:p>
          <a:p>
            <a:pPr>
              <a:buFont typeface="Wingdings" panose="05000000000000000000" pitchFamily="2" charset="2"/>
              <a:buChar char="Ø"/>
            </a:pPr>
            <a:r>
              <a:rPr lang="en-US" dirty="0"/>
              <a:t>Security </a:t>
            </a:r>
          </a:p>
        </p:txBody>
      </p:sp>
    </p:spTree>
    <p:extLst>
      <p:ext uri="{BB962C8B-B14F-4D97-AF65-F5344CB8AC3E}">
        <p14:creationId xmlns:p14="http://schemas.microsoft.com/office/powerpoint/2010/main" val="32546517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447" y="113272"/>
            <a:ext cx="10515600" cy="1325563"/>
          </a:xfrm>
        </p:spPr>
        <p:txBody>
          <a:bodyPr/>
          <a:lstStyle/>
          <a:p>
            <a:r>
              <a:rPr lang="en-US" dirty="0"/>
              <a:t>References</a:t>
            </a:r>
          </a:p>
        </p:txBody>
      </p:sp>
      <p:sp>
        <p:nvSpPr>
          <p:cNvPr id="3" name="Content Placeholder 2"/>
          <p:cNvSpPr>
            <a:spLocks noGrp="1"/>
          </p:cNvSpPr>
          <p:nvPr>
            <p:ph idx="1"/>
          </p:nvPr>
        </p:nvSpPr>
        <p:spPr>
          <a:xfrm>
            <a:off x="838200" y="1438835"/>
            <a:ext cx="10515600" cy="4738128"/>
          </a:xfrm>
        </p:spPr>
        <p:txBody>
          <a:bodyPr>
            <a:normAutofit/>
          </a:bodyPr>
          <a:lstStyle/>
          <a:p>
            <a:pPr algn="just"/>
            <a:r>
              <a:rPr lang="en-US" dirty="0"/>
              <a:t>Stuart Russel and Peter Norvig, </a:t>
            </a:r>
            <a:r>
              <a:rPr lang="en-US" i="1" dirty="0"/>
              <a:t>Artificial Intelligence A Modern Approach</a:t>
            </a:r>
            <a:r>
              <a:rPr lang="en-US" dirty="0"/>
              <a:t>, Pearson</a:t>
            </a:r>
          </a:p>
          <a:p>
            <a:pPr algn="just"/>
            <a:r>
              <a:rPr lang="en-US" dirty="0"/>
              <a:t>E. Rich and Knight, </a:t>
            </a:r>
            <a:r>
              <a:rPr lang="en-US" i="1" dirty="0"/>
              <a:t>Artificial Intelligence</a:t>
            </a:r>
            <a:r>
              <a:rPr lang="en-US" dirty="0"/>
              <a:t>, McGraw Hill, 1991.</a:t>
            </a:r>
          </a:p>
          <a:p>
            <a:pPr marL="0" indent="0" algn="just">
              <a:buNone/>
            </a:pPr>
            <a:endParaRPr lang="en-US" dirty="0"/>
          </a:p>
        </p:txBody>
      </p:sp>
    </p:spTree>
    <p:extLst>
      <p:ext uri="{BB962C8B-B14F-4D97-AF65-F5344CB8AC3E}">
        <p14:creationId xmlns:p14="http://schemas.microsoft.com/office/powerpoint/2010/main" val="1652455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3613</TotalTime>
  <Words>7294</Words>
  <Application>Microsoft Office PowerPoint</Application>
  <PresentationFormat>Widescreen</PresentationFormat>
  <Paragraphs>703</Paragraphs>
  <Slides>95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95</vt:i4>
      </vt:variant>
    </vt:vector>
  </HeadingPairs>
  <TitlesOfParts>
    <vt:vector size="108" baseType="lpstr">
      <vt:lpstr>Arial</vt:lpstr>
      <vt:lpstr>Cabin-semi-bold</vt:lpstr>
      <vt:lpstr>Calibri</vt:lpstr>
      <vt:lpstr>Calibri Light</vt:lpstr>
      <vt:lpstr>Courier New</vt:lpstr>
      <vt:lpstr>Helvetica-Light</vt:lpstr>
      <vt:lpstr>Helvetica-LightOblique</vt:lpstr>
      <vt:lpstr>SourceSansPro</vt:lpstr>
      <vt:lpstr>Symbol</vt:lpstr>
      <vt:lpstr>TimesNewRomanPS-BoldMT</vt:lpstr>
      <vt:lpstr>TimesNewRomanPSMT</vt:lpstr>
      <vt:lpstr>Wingdings</vt:lpstr>
      <vt:lpstr>Office Theme</vt:lpstr>
      <vt:lpstr>Chapter 1 Introduction</vt:lpstr>
      <vt:lpstr>Overview</vt:lpstr>
      <vt:lpstr>1.1 Definition, Foundation, History of Artificial Intelligence</vt:lpstr>
      <vt:lpstr>What Behaviors are Intelligent?</vt:lpstr>
      <vt:lpstr>Artificial Intelligence </vt:lpstr>
      <vt:lpstr>Artificial Intelligence </vt:lpstr>
      <vt:lpstr>View of AI falls under four categories</vt:lpstr>
      <vt:lpstr>PowerPoint Presentation</vt:lpstr>
      <vt:lpstr>Thinking Humanly: The Cognitive Modelling Approach</vt:lpstr>
      <vt:lpstr>Acting Humanly: The Turing Test Approach</vt:lpstr>
      <vt:lpstr>The Turing Test Approach</vt:lpstr>
      <vt:lpstr>The Turing Test Approach</vt:lpstr>
      <vt:lpstr>The Turing Test Approach</vt:lpstr>
      <vt:lpstr>The Turing Test Approach</vt:lpstr>
      <vt:lpstr>Turing Test vs Reverse Turing Test</vt:lpstr>
      <vt:lpstr>The Turing Test Approach</vt:lpstr>
      <vt:lpstr>Turing Test Vs Total Turing Test</vt:lpstr>
      <vt:lpstr>The Turing Test Approach</vt:lpstr>
      <vt:lpstr>The Turing Test Approach</vt:lpstr>
      <vt:lpstr>Thinking Rationally: The “Laws of Thought Approach”</vt:lpstr>
      <vt:lpstr>Acting Rationally: “The Rational Agent Approach”</vt:lpstr>
      <vt:lpstr>Can Machine Really Think?</vt:lpstr>
      <vt:lpstr>Can Machine Really Think?</vt:lpstr>
      <vt:lpstr>Can Machine Really Think?</vt:lpstr>
      <vt:lpstr>Can Machine Really Think? </vt:lpstr>
      <vt:lpstr>Can Machine Really Think?</vt:lpstr>
      <vt:lpstr>Brief History of AI</vt:lpstr>
      <vt:lpstr>Brief History of AI</vt:lpstr>
      <vt:lpstr>Brief History of AI</vt:lpstr>
      <vt:lpstr>Brief History of AI</vt:lpstr>
      <vt:lpstr>Brief History of AI</vt:lpstr>
      <vt:lpstr>Brief History of AI</vt:lpstr>
      <vt:lpstr>1.2 Definition and Importance of Knowledge</vt:lpstr>
      <vt:lpstr>Definition and Importance of Knowledge</vt:lpstr>
      <vt:lpstr>Definition and Importance of Knowledge</vt:lpstr>
      <vt:lpstr>DIKW: Pyramid</vt:lpstr>
      <vt:lpstr>DIKW: Pyramid</vt:lpstr>
      <vt:lpstr>DIKW: Pyramid</vt:lpstr>
      <vt:lpstr>DKIW: Pyramid</vt:lpstr>
      <vt:lpstr>1.3 Cognition and Learning</vt:lpstr>
      <vt:lpstr>Cognition in AI </vt:lpstr>
      <vt:lpstr>Cognition in AI</vt:lpstr>
      <vt:lpstr>Cognition in AI</vt:lpstr>
      <vt:lpstr>Cognition in AI</vt:lpstr>
      <vt:lpstr>Cognition in AI</vt:lpstr>
      <vt:lpstr>1.3 Cognition and Learning</vt:lpstr>
      <vt:lpstr>1.3 Cognition and Learning</vt:lpstr>
      <vt:lpstr>1.4 Human Intelligence and Machine Intelligence</vt:lpstr>
      <vt:lpstr>1.5 AI Tree: Branches and Interdisciplinary Nature</vt:lpstr>
      <vt:lpstr>Interdisciplinary Nature/ Foundation of AI</vt:lpstr>
      <vt:lpstr>Application of AI</vt:lpstr>
      <vt:lpstr>Application of AI</vt:lpstr>
      <vt:lpstr>Application of AI</vt:lpstr>
      <vt:lpstr>Application of AI</vt:lpstr>
      <vt:lpstr>Application of AI</vt:lpstr>
      <vt:lpstr>Application of AI</vt:lpstr>
      <vt:lpstr>Application of AI</vt:lpstr>
      <vt:lpstr>Application of AI</vt:lpstr>
      <vt:lpstr>Application of AI</vt:lpstr>
      <vt:lpstr>Application of AI</vt:lpstr>
      <vt:lpstr>Application of AI</vt:lpstr>
      <vt:lpstr> 1.6 Intelligent Agents and Types </vt:lpstr>
      <vt:lpstr>Agents and environments</vt:lpstr>
      <vt:lpstr>Agents and environments</vt:lpstr>
      <vt:lpstr>Vacuum Cleaner World</vt:lpstr>
      <vt:lpstr>Rational agents</vt:lpstr>
      <vt:lpstr>Task Environment</vt:lpstr>
      <vt:lpstr>Task Environment</vt:lpstr>
      <vt:lpstr>Task Environment</vt:lpstr>
      <vt:lpstr>Task Environment</vt:lpstr>
      <vt:lpstr>Task Environment</vt:lpstr>
      <vt:lpstr>Types of Agents</vt:lpstr>
      <vt:lpstr>Types of Agent</vt:lpstr>
      <vt:lpstr>Simple Reflex Agent </vt:lpstr>
      <vt:lpstr>Types of Agent</vt:lpstr>
      <vt:lpstr>Model Based Agent </vt:lpstr>
      <vt:lpstr>Model Based Agent</vt:lpstr>
      <vt:lpstr>Model Based Agent</vt:lpstr>
      <vt:lpstr>Types of Agent</vt:lpstr>
      <vt:lpstr>Goal Based Agent</vt:lpstr>
      <vt:lpstr>Goal Based Agent</vt:lpstr>
      <vt:lpstr>Types of Agent</vt:lpstr>
      <vt:lpstr>Utility Based Agent</vt:lpstr>
      <vt:lpstr>Utility Based Agent</vt:lpstr>
      <vt:lpstr>Utility Based Agent</vt:lpstr>
      <vt:lpstr>Types of Agents</vt:lpstr>
      <vt:lpstr>Learning (Intelligent) Agent</vt:lpstr>
      <vt:lpstr>Learning (Intelligent) Agent</vt:lpstr>
      <vt:lpstr>1.7 Agentic AI</vt:lpstr>
      <vt:lpstr>Agentic AI Architecture (The Core Loop)</vt:lpstr>
      <vt:lpstr>Agentic AI Architecture (The Core Loop)</vt:lpstr>
      <vt:lpstr>Agentic AI</vt:lpstr>
      <vt:lpstr>Agentic AI</vt:lpstr>
      <vt:lpstr>Agentic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sharmila</dc:creator>
  <cp:lastModifiedBy>sharmila bista</cp:lastModifiedBy>
  <cp:revision>226</cp:revision>
  <dcterms:created xsi:type="dcterms:W3CDTF">2018-04-12T05:00:37Z</dcterms:created>
  <dcterms:modified xsi:type="dcterms:W3CDTF">2026-05-25T04:12:26Z</dcterms:modified>
</cp:coreProperties>
</file>