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6" r:id="rId2"/>
    <p:sldId id="324" r:id="rId3"/>
    <p:sldId id="258" r:id="rId4"/>
    <p:sldId id="259" r:id="rId5"/>
    <p:sldId id="260" r:id="rId6"/>
    <p:sldId id="264" r:id="rId7"/>
    <p:sldId id="267" r:id="rId8"/>
    <p:sldId id="265" r:id="rId9"/>
    <p:sldId id="269" r:id="rId10"/>
    <p:sldId id="270" r:id="rId11"/>
    <p:sldId id="266" r:id="rId12"/>
    <p:sldId id="271" r:id="rId13"/>
    <p:sldId id="262" r:id="rId14"/>
    <p:sldId id="272" r:id="rId15"/>
    <p:sldId id="261" r:id="rId16"/>
    <p:sldId id="273" r:id="rId17"/>
    <p:sldId id="274" r:id="rId18"/>
    <p:sldId id="275" r:id="rId19"/>
    <p:sldId id="277" r:id="rId20"/>
    <p:sldId id="279" r:id="rId21"/>
    <p:sldId id="280" r:id="rId22"/>
    <p:sldId id="281" r:id="rId23"/>
    <p:sldId id="282" r:id="rId24"/>
    <p:sldId id="283" r:id="rId25"/>
    <p:sldId id="284" r:id="rId26"/>
    <p:sldId id="285" r:id="rId27"/>
    <p:sldId id="286" r:id="rId28"/>
    <p:sldId id="287" r:id="rId29"/>
    <p:sldId id="289" r:id="rId30"/>
    <p:sldId id="288" r:id="rId31"/>
    <p:sldId id="276" r:id="rId32"/>
    <p:sldId id="291" r:id="rId33"/>
    <p:sldId id="292" r:id="rId34"/>
    <p:sldId id="293" r:id="rId35"/>
    <p:sldId id="294" r:id="rId36"/>
    <p:sldId id="296" r:id="rId37"/>
    <p:sldId id="297" r:id="rId38"/>
    <p:sldId id="299" r:id="rId39"/>
    <p:sldId id="300" r:id="rId40"/>
    <p:sldId id="302" r:id="rId41"/>
    <p:sldId id="298" r:id="rId42"/>
    <p:sldId id="303" r:id="rId43"/>
    <p:sldId id="304" r:id="rId44"/>
    <p:sldId id="305" r:id="rId45"/>
    <p:sldId id="306" r:id="rId46"/>
    <p:sldId id="307" r:id="rId47"/>
    <p:sldId id="308" r:id="rId48"/>
    <p:sldId id="309" r:id="rId49"/>
    <p:sldId id="325" r:id="rId50"/>
    <p:sldId id="326" r:id="rId51"/>
    <p:sldId id="327" r:id="rId52"/>
    <p:sldId id="328" r:id="rId53"/>
    <p:sldId id="310" r:id="rId54"/>
    <p:sldId id="330" r:id="rId55"/>
    <p:sldId id="333" r:id="rId56"/>
    <p:sldId id="334" r:id="rId57"/>
    <p:sldId id="335" r:id="rId58"/>
    <p:sldId id="332" r:id="rId59"/>
    <p:sldId id="312" r:id="rId60"/>
    <p:sldId id="313" r:id="rId61"/>
    <p:sldId id="314" r:id="rId62"/>
    <p:sldId id="315" r:id="rId63"/>
    <p:sldId id="316" r:id="rId64"/>
    <p:sldId id="317" r:id="rId65"/>
    <p:sldId id="318" r:id="rId66"/>
    <p:sldId id="321" r:id="rId67"/>
    <p:sldId id="322" r:id="rId68"/>
    <p:sldId id="323" r:id="rId69"/>
    <p:sldId id="319"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33" autoAdjust="0"/>
    <p:restoredTop sz="95309" autoAdjust="0"/>
  </p:normalViewPr>
  <p:slideViewPr>
    <p:cSldViewPr snapToGrid="0">
      <p:cViewPr>
        <p:scale>
          <a:sx n="66" d="100"/>
          <a:sy n="66" d="100"/>
        </p:scale>
        <p:origin x="1344" y="3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779ED3-2425-465B-B05C-0E44D02D96A6}"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8FED6B-E770-4B42-8D3E-36199102A287}" type="slidenum">
              <a:rPr lang="en-US" smtClean="0"/>
              <a:t>‹#›</a:t>
            </a:fld>
            <a:endParaRPr lang="en-US"/>
          </a:p>
        </p:txBody>
      </p:sp>
    </p:spTree>
    <p:extLst>
      <p:ext uri="{BB962C8B-B14F-4D97-AF65-F5344CB8AC3E}">
        <p14:creationId xmlns:p14="http://schemas.microsoft.com/office/powerpoint/2010/main" val="2318375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48FED6B-E770-4B42-8D3E-36199102A287}" type="slidenum">
              <a:rPr lang="en-US" smtClean="0"/>
              <a:t>36</a:t>
            </a:fld>
            <a:endParaRPr lang="en-US"/>
          </a:p>
        </p:txBody>
      </p:sp>
    </p:spTree>
    <p:extLst>
      <p:ext uri="{BB962C8B-B14F-4D97-AF65-F5344CB8AC3E}">
        <p14:creationId xmlns:p14="http://schemas.microsoft.com/office/powerpoint/2010/main" val="2013194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89B10DA-7F3C-48E8-988F-59EF16359A13}"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5D647-F649-40BC-B4F1-FFE6E841D9F6}" type="slidenum">
              <a:rPr lang="en-US" smtClean="0"/>
              <a:t>‹#›</a:t>
            </a:fld>
            <a:endParaRPr lang="en-US"/>
          </a:p>
        </p:txBody>
      </p:sp>
    </p:spTree>
    <p:extLst>
      <p:ext uri="{BB962C8B-B14F-4D97-AF65-F5344CB8AC3E}">
        <p14:creationId xmlns:p14="http://schemas.microsoft.com/office/powerpoint/2010/main" val="1636924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9B10DA-7F3C-48E8-988F-59EF16359A13}"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5D647-F649-40BC-B4F1-FFE6E841D9F6}" type="slidenum">
              <a:rPr lang="en-US" smtClean="0"/>
              <a:t>‹#›</a:t>
            </a:fld>
            <a:endParaRPr lang="en-US"/>
          </a:p>
        </p:txBody>
      </p:sp>
    </p:spTree>
    <p:extLst>
      <p:ext uri="{BB962C8B-B14F-4D97-AF65-F5344CB8AC3E}">
        <p14:creationId xmlns:p14="http://schemas.microsoft.com/office/powerpoint/2010/main" val="26414658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89B10DA-7F3C-48E8-988F-59EF16359A13}"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5D647-F649-40BC-B4F1-FFE6E841D9F6}" type="slidenum">
              <a:rPr lang="en-US" smtClean="0"/>
              <a:t>‹#›</a:t>
            </a:fld>
            <a:endParaRPr lang="en-US"/>
          </a:p>
        </p:txBody>
      </p:sp>
    </p:spTree>
    <p:extLst>
      <p:ext uri="{BB962C8B-B14F-4D97-AF65-F5344CB8AC3E}">
        <p14:creationId xmlns:p14="http://schemas.microsoft.com/office/powerpoint/2010/main" val="1921861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89B10DA-7F3C-48E8-988F-59EF16359A13}"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E5D647-F649-40BC-B4F1-FFE6E841D9F6}" type="slidenum">
              <a:rPr lang="en-US" smtClean="0"/>
              <a:t>‹#›</a:t>
            </a:fld>
            <a:endParaRPr lang="en-US"/>
          </a:p>
        </p:txBody>
      </p:sp>
    </p:spTree>
    <p:extLst>
      <p:ext uri="{BB962C8B-B14F-4D97-AF65-F5344CB8AC3E}">
        <p14:creationId xmlns:p14="http://schemas.microsoft.com/office/powerpoint/2010/main" val="3339321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89B10DA-7F3C-48E8-988F-59EF16359A13}"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E5D647-F649-40BC-B4F1-FFE6E841D9F6}" type="slidenum">
              <a:rPr lang="en-US" smtClean="0"/>
              <a:t>‹#›</a:t>
            </a:fld>
            <a:endParaRPr lang="en-US"/>
          </a:p>
        </p:txBody>
      </p:sp>
    </p:spTree>
    <p:extLst>
      <p:ext uri="{BB962C8B-B14F-4D97-AF65-F5344CB8AC3E}">
        <p14:creationId xmlns:p14="http://schemas.microsoft.com/office/powerpoint/2010/main" val="600614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89B10DA-7F3C-48E8-988F-59EF16359A13}"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E5D647-F649-40BC-B4F1-FFE6E841D9F6}" type="slidenum">
              <a:rPr lang="en-US" smtClean="0"/>
              <a:t>‹#›</a:t>
            </a:fld>
            <a:endParaRPr lang="en-US"/>
          </a:p>
        </p:txBody>
      </p:sp>
    </p:spTree>
    <p:extLst>
      <p:ext uri="{BB962C8B-B14F-4D97-AF65-F5344CB8AC3E}">
        <p14:creationId xmlns:p14="http://schemas.microsoft.com/office/powerpoint/2010/main" val="2909223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9B10DA-7F3C-48E8-988F-59EF16359A13}"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E5D647-F649-40BC-B4F1-FFE6E841D9F6}" type="slidenum">
              <a:rPr lang="en-US" smtClean="0"/>
              <a:t>‹#›</a:t>
            </a:fld>
            <a:endParaRPr lang="en-US"/>
          </a:p>
        </p:txBody>
      </p:sp>
    </p:spTree>
    <p:extLst>
      <p:ext uri="{BB962C8B-B14F-4D97-AF65-F5344CB8AC3E}">
        <p14:creationId xmlns:p14="http://schemas.microsoft.com/office/powerpoint/2010/main" val="3975098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9B10DA-7F3C-48E8-988F-59EF16359A13}"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E5D647-F649-40BC-B4F1-FFE6E841D9F6}" type="slidenum">
              <a:rPr lang="en-US" smtClean="0"/>
              <a:t>‹#›</a:t>
            </a:fld>
            <a:endParaRPr lang="en-US"/>
          </a:p>
        </p:txBody>
      </p:sp>
    </p:spTree>
    <p:extLst>
      <p:ext uri="{BB962C8B-B14F-4D97-AF65-F5344CB8AC3E}">
        <p14:creationId xmlns:p14="http://schemas.microsoft.com/office/powerpoint/2010/main" val="873874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9B10DA-7F3C-48E8-988F-59EF16359A13}"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E5D647-F649-40BC-B4F1-FFE6E841D9F6}" type="slidenum">
              <a:rPr lang="en-US" smtClean="0"/>
              <a:t>‹#›</a:t>
            </a:fld>
            <a:endParaRPr lang="en-US"/>
          </a:p>
        </p:txBody>
      </p:sp>
    </p:spTree>
    <p:extLst>
      <p:ext uri="{BB962C8B-B14F-4D97-AF65-F5344CB8AC3E}">
        <p14:creationId xmlns:p14="http://schemas.microsoft.com/office/powerpoint/2010/main" val="279623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9B10DA-7F3C-48E8-988F-59EF16359A13}"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5D647-F649-40BC-B4F1-FFE6E841D9F6}" type="slidenum">
              <a:rPr lang="en-US" smtClean="0"/>
              <a:t>‹#›</a:t>
            </a:fld>
            <a:endParaRPr lang="en-US"/>
          </a:p>
        </p:txBody>
      </p:sp>
    </p:spTree>
    <p:extLst>
      <p:ext uri="{BB962C8B-B14F-4D97-AF65-F5344CB8AC3E}">
        <p14:creationId xmlns:p14="http://schemas.microsoft.com/office/powerpoint/2010/main" val="2155856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9B10DA-7F3C-48E8-988F-59EF16359A13}"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5D647-F649-40BC-B4F1-FFE6E841D9F6}" type="slidenum">
              <a:rPr lang="en-US" smtClean="0"/>
              <a:t>‹#›</a:t>
            </a:fld>
            <a:endParaRPr lang="en-US"/>
          </a:p>
        </p:txBody>
      </p:sp>
    </p:spTree>
    <p:extLst>
      <p:ext uri="{BB962C8B-B14F-4D97-AF65-F5344CB8AC3E}">
        <p14:creationId xmlns:p14="http://schemas.microsoft.com/office/powerpoint/2010/main" val="287064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9B10DA-7F3C-48E8-988F-59EF16359A13}" type="datetimeFigureOut">
              <a:rPr lang="en-US" smtClean="0"/>
              <a:t>5/20/2026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E5D647-F649-40BC-B4F1-FFE6E841D9F6}" type="slidenum">
              <a:rPr lang="en-US" smtClean="0"/>
              <a:t>‹#›</a:t>
            </a:fld>
            <a:endParaRPr lang="en-US"/>
          </a:p>
        </p:txBody>
      </p:sp>
    </p:spTree>
    <p:extLst>
      <p:ext uri="{BB962C8B-B14F-4D97-AF65-F5344CB8AC3E}">
        <p14:creationId xmlns:p14="http://schemas.microsoft.com/office/powerpoint/2010/main" val="3258785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6139" y="1526809"/>
            <a:ext cx="10392507" cy="2387600"/>
          </a:xfrm>
        </p:spPr>
        <p:txBody>
          <a:bodyPr>
            <a:normAutofit/>
          </a:bodyPr>
          <a:lstStyle/>
          <a:p>
            <a:r>
              <a:rPr lang="en-US" sz="6600" dirty="0" smtClean="0"/>
              <a:t>SIMULATION AND MODELING</a:t>
            </a:r>
            <a:br>
              <a:rPr lang="en-US" sz="6600" dirty="0" smtClean="0"/>
            </a:br>
            <a:r>
              <a:rPr lang="en-US" sz="3200" b="1" dirty="0" smtClean="0"/>
              <a:t>ENCT353</a:t>
            </a:r>
            <a:r>
              <a:rPr lang="en-US" sz="6600" b="1" dirty="0" smtClean="0"/>
              <a:t> </a:t>
            </a:r>
            <a:endParaRPr lang="en-US" sz="6600" b="1" dirty="0"/>
          </a:p>
        </p:txBody>
      </p:sp>
      <p:sp>
        <p:nvSpPr>
          <p:cNvPr id="3" name="Subtitle 2"/>
          <p:cNvSpPr>
            <a:spLocks noGrp="1"/>
          </p:cNvSpPr>
          <p:nvPr>
            <p:ph type="subTitle" idx="1"/>
          </p:nvPr>
        </p:nvSpPr>
        <p:spPr>
          <a:xfrm>
            <a:off x="1629508" y="4006484"/>
            <a:ext cx="9144000" cy="1655762"/>
          </a:xfrm>
        </p:spPr>
        <p:txBody>
          <a:bodyPr>
            <a:normAutofit/>
          </a:bodyPr>
          <a:lstStyle/>
          <a:p>
            <a:r>
              <a:rPr lang="en-US" sz="3200" dirty="0" err="1" smtClean="0"/>
              <a:t>Er</a:t>
            </a:r>
            <a:r>
              <a:rPr lang="en-US" sz="3200" dirty="0" smtClean="0"/>
              <a:t>. Ranjila Shrestha</a:t>
            </a:r>
            <a:endParaRPr lang="en-US" sz="3200" dirty="0"/>
          </a:p>
        </p:txBody>
      </p:sp>
    </p:spTree>
    <p:extLst>
      <p:ext uri="{BB962C8B-B14F-4D97-AF65-F5344CB8AC3E}">
        <p14:creationId xmlns:p14="http://schemas.microsoft.com/office/powerpoint/2010/main" val="33760104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indent="0">
              <a:buNone/>
            </a:pPr>
            <a:r>
              <a:rPr lang="en-US" dirty="0"/>
              <a:t>Course Objectives: </a:t>
            </a:r>
            <a:endParaRPr lang="en-US" dirty="0" smtClean="0"/>
          </a:p>
          <a:p>
            <a:pPr marL="0" indent="0">
              <a:buNone/>
            </a:pPr>
            <a:r>
              <a:rPr lang="en-US" dirty="0" smtClean="0"/>
              <a:t>The </a:t>
            </a:r>
            <a:r>
              <a:rPr lang="en-US" dirty="0"/>
              <a:t>objective of this course is to develop knowledge of modeling and simulation techniques for discrete and continuous systems. It emphasizes the development and analysis of simulation models, generation and testing of random numbers and variables, and application of simulation methods to evaluate the performance of stochastic systems</a:t>
            </a:r>
          </a:p>
        </p:txBody>
      </p:sp>
    </p:spTree>
    <p:extLst>
      <p:ext uri="{BB962C8B-B14F-4D97-AF65-F5344CB8AC3E}">
        <p14:creationId xmlns:p14="http://schemas.microsoft.com/office/powerpoint/2010/main" val="30145594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107" y="1892421"/>
            <a:ext cx="10515600" cy="1325563"/>
          </a:xfrm>
        </p:spPr>
        <p:txBody>
          <a:bodyPr/>
          <a:lstStyle/>
          <a:p>
            <a:r>
              <a:rPr lang="en-US" dirty="0" smtClean="0"/>
              <a:t>				Chapter-1 </a:t>
            </a:r>
            <a:endParaRPr lang="en-US" dirty="0"/>
          </a:p>
        </p:txBody>
      </p:sp>
      <p:sp>
        <p:nvSpPr>
          <p:cNvPr id="3" name="Content Placeholder 2"/>
          <p:cNvSpPr>
            <a:spLocks noGrp="1"/>
          </p:cNvSpPr>
          <p:nvPr>
            <p:ph idx="1"/>
          </p:nvPr>
        </p:nvSpPr>
        <p:spPr>
          <a:xfrm>
            <a:off x="838200" y="3217984"/>
            <a:ext cx="10515600" cy="1600201"/>
          </a:xfrm>
        </p:spPr>
        <p:txBody>
          <a:bodyPr>
            <a:normAutofit/>
          </a:bodyPr>
          <a:lstStyle/>
          <a:p>
            <a:pPr marL="0" indent="0" algn="ctr">
              <a:buNone/>
            </a:pPr>
            <a:r>
              <a:rPr lang="en-US" sz="6600" dirty="0" smtClean="0"/>
              <a:t>Introduction to Simulation </a:t>
            </a:r>
            <a:endParaRPr lang="en-US" sz="6600" dirty="0"/>
          </a:p>
        </p:txBody>
      </p:sp>
    </p:spTree>
    <p:extLst>
      <p:ext uri="{BB962C8B-B14F-4D97-AF65-F5344CB8AC3E}">
        <p14:creationId xmlns:p14="http://schemas.microsoft.com/office/powerpoint/2010/main" val="20417548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idx="1"/>
          </p:nvPr>
        </p:nvSpPr>
        <p:spPr/>
        <p:txBody>
          <a:bodyPr/>
          <a:lstStyle/>
          <a:p>
            <a:pPr marL="0" indent="0">
              <a:buNone/>
            </a:pPr>
            <a:r>
              <a:rPr lang="en-US" dirty="0" smtClean="0"/>
              <a:t>1.1 System and system environment concepts </a:t>
            </a:r>
          </a:p>
          <a:p>
            <a:pPr marL="0" indent="0">
              <a:buNone/>
            </a:pPr>
            <a:r>
              <a:rPr lang="en-US" dirty="0" smtClean="0"/>
              <a:t>1.2 Continuous and discrete systems </a:t>
            </a:r>
          </a:p>
          <a:p>
            <a:pPr marL="0" indent="0">
              <a:buNone/>
            </a:pPr>
            <a:r>
              <a:rPr lang="en-US" dirty="0" smtClean="0"/>
              <a:t>1.3 Types of models </a:t>
            </a:r>
          </a:p>
          <a:p>
            <a:pPr marL="0" indent="0">
              <a:buNone/>
            </a:pPr>
            <a:r>
              <a:rPr lang="en-US" dirty="0" smtClean="0"/>
              <a:t>1.4 Model development life cycle </a:t>
            </a:r>
          </a:p>
          <a:p>
            <a:pPr marL="0" indent="0">
              <a:buNone/>
            </a:pPr>
            <a:r>
              <a:rPr lang="en-US" dirty="0" smtClean="0"/>
              <a:t>1.5 Simulation and steps in simulation study </a:t>
            </a:r>
          </a:p>
          <a:p>
            <a:pPr marL="0" indent="0">
              <a:buNone/>
            </a:pPr>
            <a:r>
              <a:rPr lang="en-US" dirty="0" smtClean="0"/>
              <a:t>1.6 Advantages and disadvantages of simulation </a:t>
            </a:r>
          </a:p>
          <a:p>
            <a:pPr marL="0" indent="0">
              <a:buNone/>
            </a:pPr>
            <a:r>
              <a:rPr lang="en-US" dirty="0" smtClean="0"/>
              <a:t>1.7 Monte-Carlo simulation </a:t>
            </a:r>
          </a:p>
          <a:p>
            <a:pPr marL="0" indent="0">
              <a:buNone/>
            </a:pPr>
            <a:r>
              <a:rPr lang="en-US" dirty="0" smtClean="0"/>
              <a:t>1.8 Discrete-event system simulation </a:t>
            </a:r>
            <a:endParaRPr lang="en-US" dirty="0"/>
          </a:p>
        </p:txBody>
      </p:sp>
    </p:spTree>
    <p:extLst>
      <p:ext uri="{BB962C8B-B14F-4D97-AF65-F5344CB8AC3E}">
        <p14:creationId xmlns:p14="http://schemas.microsoft.com/office/powerpoint/2010/main" val="1990418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1.1 System and system environment concepts </a:t>
            </a:r>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t>System</a:t>
            </a:r>
          </a:p>
          <a:p>
            <a:pPr fontAlgn="base"/>
            <a:r>
              <a:rPr lang="en-US" dirty="0" smtClean="0"/>
              <a:t>The </a:t>
            </a:r>
            <a:r>
              <a:rPr lang="en-US" dirty="0"/>
              <a:t>term system is </a:t>
            </a:r>
            <a:r>
              <a:rPr lang="en-US" dirty="0" smtClean="0"/>
              <a:t>derived </a:t>
            </a:r>
            <a:r>
              <a:rPr lang="en-US" dirty="0"/>
              <a:t>from the Greek word </a:t>
            </a:r>
            <a:r>
              <a:rPr lang="en-US" b="1" dirty="0" err="1"/>
              <a:t>systema</a:t>
            </a:r>
            <a:r>
              <a:rPr lang="en-US" dirty="0"/>
              <a:t>, which means an organized relationship among functioning units or components.</a:t>
            </a:r>
          </a:p>
          <a:p>
            <a:pPr fontAlgn="base"/>
            <a:r>
              <a:rPr lang="en-US" dirty="0"/>
              <a:t> System exists because it is designed to achieve one or more objectives.</a:t>
            </a:r>
          </a:p>
          <a:p>
            <a:pPr fontAlgn="base"/>
            <a:r>
              <a:rPr lang="en-US" dirty="0"/>
              <a:t> We come into daily contact with the transportation system, the telephone system, the accounting system, the production system, and for two decades the computer system.</a:t>
            </a:r>
          </a:p>
          <a:p>
            <a:pPr fontAlgn="base"/>
            <a:r>
              <a:rPr lang="en-US" dirty="0"/>
              <a:t> There are more than a hundred definitions of the word system, but most seem to have a common thread that suggests that a </a:t>
            </a:r>
            <a:r>
              <a:rPr lang="en-US" b="1" dirty="0"/>
              <a:t>system is an orderly grouping of interdependent components linked together according to a plan to achieve a specific objective.</a:t>
            </a:r>
          </a:p>
        </p:txBody>
      </p:sp>
    </p:spTree>
    <p:extLst>
      <p:ext uri="{BB962C8B-B14F-4D97-AF65-F5344CB8AC3E}">
        <p14:creationId xmlns:p14="http://schemas.microsoft.com/office/powerpoint/2010/main" val="1433461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1.1 System and system environment concepts </a:t>
            </a:r>
          </a:p>
        </p:txBody>
      </p:sp>
      <p:sp>
        <p:nvSpPr>
          <p:cNvPr id="3" name="Content Placeholder 2"/>
          <p:cNvSpPr>
            <a:spLocks noGrp="1"/>
          </p:cNvSpPr>
          <p:nvPr>
            <p:ph idx="1"/>
          </p:nvPr>
        </p:nvSpPr>
        <p:spPr/>
        <p:txBody>
          <a:bodyPr>
            <a:normAutofit/>
          </a:bodyPr>
          <a:lstStyle/>
          <a:p>
            <a:pPr marL="0" indent="0">
              <a:buNone/>
            </a:pPr>
            <a:r>
              <a:rPr lang="en-US" b="1" dirty="0" smtClean="0"/>
              <a:t>System</a:t>
            </a:r>
          </a:p>
          <a:p>
            <a:pPr marL="0" indent="0">
              <a:buNone/>
            </a:pPr>
            <a:r>
              <a:rPr lang="en-US" dirty="0" smtClean="0"/>
              <a:t>In a simple term “</a:t>
            </a:r>
            <a:r>
              <a:rPr lang="en-US" b="1" dirty="0" smtClean="0"/>
              <a:t>A system is a collection of components or entities that interact together to achieve a specific goal</a:t>
            </a:r>
            <a:r>
              <a:rPr lang="en-US" dirty="0" smtClean="0"/>
              <a:t>.”</a:t>
            </a:r>
          </a:p>
          <a:p>
            <a:pPr marL="0" indent="0">
              <a:buNone/>
            </a:pPr>
            <a:r>
              <a:rPr lang="en-US" dirty="0"/>
              <a:t>The study of the systems concepts, then, has three basic implications:</a:t>
            </a:r>
            <a:endParaRPr lang="en-US" b="0" dirty="0" smtClean="0">
              <a:effectLst/>
            </a:endParaRPr>
          </a:p>
          <a:p>
            <a:pPr marL="514350" indent="-514350" fontAlgn="base">
              <a:buFont typeface="+mj-lt"/>
              <a:buAutoNum type="arabicPeriod"/>
            </a:pPr>
            <a:r>
              <a:rPr lang="en-US" dirty="0"/>
              <a:t>A system must be designed to achieve a predetermined objective.</a:t>
            </a:r>
          </a:p>
          <a:p>
            <a:pPr marL="514350" indent="-514350" fontAlgn="base">
              <a:buFont typeface="+mj-lt"/>
              <a:buAutoNum type="arabicPeriod"/>
            </a:pPr>
            <a:r>
              <a:rPr lang="en-US" dirty="0"/>
              <a:t>Interrelationships and interdependence must exist among the  components.</a:t>
            </a:r>
          </a:p>
          <a:p>
            <a:pPr marL="514350" indent="-514350" fontAlgn="base">
              <a:buFont typeface="+mj-lt"/>
              <a:buAutoNum type="arabicPeriod"/>
            </a:pPr>
            <a:r>
              <a:rPr lang="en-US" dirty="0"/>
              <a:t>The objectives of the organization as a whole have a higher priority than the objectives of its subsystems.</a:t>
            </a:r>
          </a:p>
          <a:p>
            <a:pPr marL="0" indent="0">
              <a:buNone/>
            </a:pPr>
            <a:endParaRPr lang="en-US" b="1" dirty="0" smtClean="0"/>
          </a:p>
        </p:txBody>
      </p:sp>
    </p:spTree>
    <p:extLst>
      <p:ext uri="{BB962C8B-B14F-4D97-AF65-F5344CB8AC3E}">
        <p14:creationId xmlns:p14="http://schemas.microsoft.com/office/powerpoint/2010/main" val="458309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1.1 System and system environment concepts </a:t>
            </a:r>
          </a:p>
        </p:txBody>
      </p:sp>
      <p:sp>
        <p:nvSpPr>
          <p:cNvPr id="3" name="Content Placeholder 2"/>
          <p:cNvSpPr>
            <a:spLocks noGrp="1"/>
          </p:cNvSpPr>
          <p:nvPr>
            <p:ph idx="1"/>
          </p:nvPr>
        </p:nvSpPr>
        <p:spPr/>
        <p:txBody>
          <a:bodyPr>
            <a:normAutofit/>
          </a:bodyPr>
          <a:lstStyle/>
          <a:p>
            <a:pPr marL="0" indent="0">
              <a:buNone/>
            </a:pPr>
            <a:r>
              <a:rPr lang="en-US" b="1" dirty="0" smtClean="0"/>
              <a:t>System</a:t>
            </a:r>
          </a:p>
          <a:p>
            <a:pPr fontAlgn="base"/>
            <a:r>
              <a:rPr lang="en-US" dirty="0" smtClean="0"/>
              <a:t>Assembly </a:t>
            </a:r>
            <a:r>
              <a:rPr lang="en-US" dirty="0"/>
              <a:t>of objects joined in some regular interaction or interdependence.</a:t>
            </a:r>
          </a:p>
          <a:p>
            <a:pPr fontAlgn="base"/>
            <a:r>
              <a:rPr lang="en-US" dirty="0"/>
              <a:t>A system exists and operates in time and </a:t>
            </a:r>
            <a:r>
              <a:rPr lang="en-US" dirty="0" smtClean="0"/>
              <a:t>space bounded </a:t>
            </a:r>
            <a:r>
              <a:rPr lang="en-US" dirty="0"/>
              <a:t>inside system boundary</a:t>
            </a:r>
          </a:p>
          <a:p>
            <a:pPr marL="0" indent="0">
              <a:buNone/>
            </a:pPr>
            <a:endParaRPr lang="en-US" b="1" dirty="0" smtClean="0"/>
          </a:p>
        </p:txBody>
      </p:sp>
      <p:pic>
        <p:nvPicPr>
          <p:cNvPr id="5" name="Picture 4"/>
          <p:cNvPicPr>
            <a:picLocks noChangeAspect="1"/>
          </p:cNvPicPr>
          <p:nvPr/>
        </p:nvPicPr>
        <p:blipFill>
          <a:blip r:embed="rId2"/>
          <a:stretch>
            <a:fillRect/>
          </a:stretch>
        </p:blipFill>
        <p:spPr>
          <a:xfrm>
            <a:off x="6312877" y="3789219"/>
            <a:ext cx="3883351" cy="2159144"/>
          </a:xfrm>
          <a:prstGeom prst="rect">
            <a:avLst/>
          </a:prstGeom>
        </p:spPr>
      </p:pic>
    </p:spTree>
    <p:extLst>
      <p:ext uri="{BB962C8B-B14F-4D97-AF65-F5344CB8AC3E}">
        <p14:creationId xmlns:p14="http://schemas.microsoft.com/office/powerpoint/2010/main" val="3636114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1.1 System and system environment concepts </a:t>
            </a:r>
          </a:p>
        </p:txBody>
      </p:sp>
      <p:sp>
        <p:nvSpPr>
          <p:cNvPr id="3" name="Content Placeholder 2"/>
          <p:cNvSpPr>
            <a:spLocks noGrp="1"/>
          </p:cNvSpPr>
          <p:nvPr>
            <p:ph idx="1"/>
          </p:nvPr>
        </p:nvSpPr>
        <p:spPr/>
        <p:txBody>
          <a:bodyPr>
            <a:normAutofit/>
          </a:bodyPr>
          <a:lstStyle/>
          <a:p>
            <a:pPr marL="0" indent="0">
              <a:buNone/>
            </a:pPr>
            <a:r>
              <a:rPr lang="en-US" b="1" dirty="0"/>
              <a:t>System Components/ System Concepts – terms</a:t>
            </a:r>
            <a:endParaRPr lang="en-US" b="0" dirty="0" smtClean="0">
              <a:effectLst/>
            </a:endParaRPr>
          </a:p>
          <a:p>
            <a:pPr fontAlgn="base"/>
            <a:r>
              <a:rPr lang="en-US" b="1" dirty="0"/>
              <a:t>Entity</a:t>
            </a:r>
            <a:r>
              <a:rPr lang="en-US" dirty="0"/>
              <a:t> =  The object of interest of a system. An object that passes through the system. e.g. cars, buses in a traffic system</a:t>
            </a:r>
          </a:p>
          <a:p>
            <a:pPr fontAlgn="base"/>
            <a:r>
              <a:rPr lang="en-US" b="1" dirty="0"/>
              <a:t>Attributes</a:t>
            </a:r>
            <a:r>
              <a:rPr lang="en-US" dirty="0"/>
              <a:t> = property/characteristics of an entity</a:t>
            </a:r>
          </a:p>
          <a:p>
            <a:pPr fontAlgn="base"/>
            <a:r>
              <a:rPr lang="en-US" b="1" dirty="0"/>
              <a:t>Activity</a:t>
            </a:r>
            <a:r>
              <a:rPr lang="en-US" dirty="0"/>
              <a:t> = the process that causes change in the system</a:t>
            </a:r>
          </a:p>
          <a:p>
            <a:pPr fontAlgn="base"/>
            <a:r>
              <a:rPr lang="en-US" b="1" dirty="0"/>
              <a:t>Event </a:t>
            </a:r>
            <a:r>
              <a:rPr lang="en-US" dirty="0"/>
              <a:t>= An instantaneous occurrence that may change the state of the system.</a:t>
            </a:r>
          </a:p>
          <a:p>
            <a:pPr fontAlgn="base"/>
            <a:r>
              <a:rPr lang="en-US" b="1" dirty="0"/>
              <a:t>State </a:t>
            </a:r>
            <a:r>
              <a:rPr lang="en-US" dirty="0"/>
              <a:t>= collection of variables necessary to describe the system at any time.</a:t>
            </a:r>
          </a:p>
        </p:txBody>
      </p:sp>
    </p:spTree>
    <p:extLst>
      <p:ext uri="{BB962C8B-B14F-4D97-AF65-F5344CB8AC3E}">
        <p14:creationId xmlns:p14="http://schemas.microsoft.com/office/powerpoint/2010/main" val="3817411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7523" y="876056"/>
            <a:ext cx="10515600" cy="4351338"/>
          </a:xfrm>
        </p:spPr>
        <p:txBody>
          <a:bodyPr/>
          <a:lstStyle/>
          <a:p>
            <a:r>
              <a:rPr lang="en-US" dirty="0" smtClean="0"/>
              <a:t>Examples</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200821258"/>
              </p:ext>
            </p:extLst>
          </p:nvPr>
        </p:nvGraphicFramePr>
        <p:xfrm>
          <a:off x="855785" y="1845420"/>
          <a:ext cx="10670286" cy="2103120"/>
        </p:xfrm>
        <a:graphic>
          <a:graphicData uri="http://schemas.openxmlformats.org/drawingml/2006/table">
            <a:tbl>
              <a:tblPr>
                <a:tableStyleId>{3C2FFA5D-87B4-456A-9821-1D502468CF0F}</a:tableStyleId>
              </a:tblPr>
              <a:tblGrid>
                <a:gridCol w="1729154"/>
                <a:gridCol w="1916723"/>
                <a:gridCol w="2426677"/>
                <a:gridCol w="2494612"/>
                <a:gridCol w="2103120"/>
              </a:tblGrid>
              <a:tr h="0">
                <a:tc>
                  <a:txBody>
                    <a:bodyPr/>
                    <a:lstStyle/>
                    <a:p>
                      <a:r>
                        <a:rPr lang="en-US" b="1" dirty="0"/>
                        <a:t>System</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b="1" dirty="0"/>
                        <a:t>Entities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b="1" dirty="0"/>
                        <a:t>Attributes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b="1" dirty="0"/>
                        <a:t>Activities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b="1" dirty="0"/>
                        <a:t>Event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0">
                <a:tc>
                  <a:txBody>
                    <a:bodyPr/>
                    <a:lstStyle/>
                    <a:p>
                      <a:r>
                        <a:rPr lang="en-US" dirty="0"/>
                        <a:t>Traffic</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dirty="0"/>
                        <a:t>Cars, Buses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t>Speed, Distance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dirty="0"/>
                        <a:t>Driving, Stopping</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t>Arrival, Departure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0">
                <a:tc>
                  <a:txBody>
                    <a:bodyPr/>
                    <a:lstStyle/>
                    <a:p>
                      <a:r>
                        <a:rPr lang="en-US"/>
                        <a:t>Bank</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dirty="0"/>
                        <a:t>Customers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dirty="0"/>
                        <a:t>Balance, Credit Status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t>Depositing Cash, Cash Withdrawal</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t>Arrival, Departure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0">
                <a:tc>
                  <a:txBody>
                    <a:bodyPr/>
                    <a:lstStyle/>
                    <a:p>
                      <a:r>
                        <a:rPr lang="en-US"/>
                        <a:t>Communication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t>Message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dirty="0"/>
                        <a:t>Length, Priority</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dirty="0"/>
                        <a:t>Transmitting Message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t>Message Breakdown</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0">
                <a:tc>
                  <a:txBody>
                    <a:bodyPr/>
                    <a:lstStyle/>
                    <a:p>
                      <a:r>
                        <a:rPr lang="en-US" dirty="0"/>
                        <a:t>Supermarket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t>Customers</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t>Shopping List</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dirty="0"/>
                        <a:t>Clearance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dirty="0"/>
                        <a:t>Arrival, Departure</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7842738" y="-1652954"/>
          <a:ext cx="208280" cy="365760"/>
        </p:xfrm>
        <a:graphic>
          <a:graphicData uri="http://schemas.openxmlformats.org/drawingml/2006/table">
            <a:tbl>
              <a:tblPr/>
              <a:tblGrid>
                <a:gridCol w="208280"/>
              </a:tblGrid>
              <a:tr h="0">
                <a:tc>
                  <a:txBody>
                    <a:bodyPr/>
                    <a:lstStyle/>
                    <a:p>
                      <a:endParaRPr lang="en-US" dirty="0"/>
                    </a:p>
                  </a:txBody>
                  <a:tcPr>
                    <a:lnL w="28575" cmpd="sng">
                      <a:solidFill>
                        <a:schemeClr val="tx1"/>
                      </a:solidFill>
                      <a:prstDash val="solid"/>
                    </a:lnL>
                    <a:lnR w="28575" cmpd="sng">
                      <a:solidFill>
                        <a:schemeClr val="tx1"/>
                      </a:solidFill>
                      <a:prstDash val="solid"/>
                    </a:lnR>
                    <a:lnT w="28575" cmpd="sng">
                      <a:solidFill>
                        <a:schemeClr val="tx1"/>
                      </a:solidFill>
                      <a:prstDash val="solid"/>
                    </a:lnT>
                    <a:lnB w="28575" cmpd="sng">
                      <a:solidFill>
                        <a:schemeClr val="tx1"/>
                      </a:solidFill>
                      <a:prstDash val="solid"/>
                    </a:lnB>
                  </a:tcPr>
                </a:tc>
              </a:tr>
            </a:tbl>
          </a:graphicData>
        </a:graphic>
      </p:graphicFrame>
    </p:spTree>
    <p:extLst>
      <p:ext uri="{BB962C8B-B14F-4D97-AF65-F5344CB8AC3E}">
        <p14:creationId xmlns:p14="http://schemas.microsoft.com/office/powerpoint/2010/main" val="3361817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1.1 System and system environment concepts </a:t>
            </a:r>
          </a:p>
        </p:txBody>
      </p:sp>
      <p:sp>
        <p:nvSpPr>
          <p:cNvPr id="3" name="Content Placeholder 2"/>
          <p:cNvSpPr>
            <a:spLocks noGrp="1"/>
          </p:cNvSpPr>
          <p:nvPr>
            <p:ph idx="1"/>
          </p:nvPr>
        </p:nvSpPr>
        <p:spPr/>
        <p:txBody>
          <a:bodyPr>
            <a:normAutofit fontScale="92500" lnSpcReduction="10000"/>
          </a:bodyPr>
          <a:lstStyle/>
          <a:p>
            <a:r>
              <a:rPr lang="en-US" b="1" dirty="0"/>
              <a:t>System</a:t>
            </a:r>
            <a:endParaRPr lang="en-US" b="0" dirty="0" smtClean="0">
              <a:effectLst/>
            </a:endParaRPr>
          </a:p>
          <a:p>
            <a:pPr fontAlgn="base"/>
            <a:r>
              <a:rPr lang="en-US" dirty="0" err="1"/>
              <a:t>Klir</a:t>
            </a:r>
            <a:r>
              <a:rPr lang="en-US" dirty="0"/>
              <a:t>* gives a collection of 24 definitions one such definition is “ A system is a collection of components wherein individual components are constrained by connecting interrelationships such that the system as a whole fulfills some specific functions in response to varying demands”.</a:t>
            </a:r>
          </a:p>
          <a:p>
            <a:pPr fontAlgn="base"/>
            <a:r>
              <a:rPr lang="en-US" dirty="0"/>
              <a:t>Hence, system is a collection of entities that act and interact together toward the accomplishment of some logical end (computer, network, communication systems, queuing systems etc</a:t>
            </a:r>
            <a:r>
              <a:rPr lang="en-US" dirty="0" smtClean="0"/>
              <a:t>.)</a:t>
            </a:r>
          </a:p>
          <a:p>
            <a:pPr marL="0" indent="0" fontAlgn="base">
              <a:buNone/>
            </a:pPr>
            <a:endParaRPr lang="en-US" dirty="0" smtClean="0"/>
          </a:p>
          <a:p>
            <a:pPr marL="0" indent="0" fontAlgn="base">
              <a:buNone/>
            </a:pPr>
            <a:r>
              <a:rPr lang="en-US" dirty="0"/>
              <a:t>*</a:t>
            </a:r>
            <a:r>
              <a:rPr lang="en-US" dirty="0" err="1"/>
              <a:t>Klir</a:t>
            </a:r>
            <a:r>
              <a:rPr lang="en-US" dirty="0"/>
              <a:t>, George J. , an approach to general </a:t>
            </a:r>
            <a:r>
              <a:rPr lang="en-US" dirty="0" smtClean="0"/>
              <a:t>systems theory</a:t>
            </a:r>
            <a:r>
              <a:rPr lang="en-US" dirty="0"/>
              <a:t>, New York: Van </a:t>
            </a:r>
            <a:r>
              <a:rPr lang="en-US" dirty="0" err="1"/>
              <a:t>Nostrand</a:t>
            </a:r>
            <a:r>
              <a:rPr lang="en-US" dirty="0"/>
              <a:t> Reinhold </a:t>
            </a:r>
            <a:r>
              <a:rPr lang="en-US" dirty="0" smtClean="0"/>
              <a:t>Co,1969</a:t>
            </a:r>
            <a:endParaRPr lang="en-US" dirty="0"/>
          </a:p>
        </p:txBody>
      </p:sp>
    </p:spTree>
    <p:extLst>
      <p:ext uri="{BB962C8B-B14F-4D97-AF65-F5344CB8AC3E}">
        <p14:creationId xmlns:p14="http://schemas.microsoft.com/office/powerpoint/2010/main" val="1349690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1.1 System and system environment concepts </a:t>
            </a:r>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t>System Environment</a:t>
            </a:r>
          </a:p>
          <a:p>
            <a:r>
              <a:rPr lang="en-US" dirty="0" smtClean="0"/>
              <a:t>The </a:t>
            </a:r>
            <a:r>
              <a:rPr lang="en-US" b="1" dirty="0" smtClean="0"/>
              <a:t>system</a:t>
            </a:r>
            <a:r>
              <a:rPr lang="en-US" dirty="0" smtClean="0"/>
              <a:t> </a:t>
            </a:r>
            <a:r>
              <a:rPr lang="en-US" b="1" dirty="0" smtClean="0"/>
              <a:t>environment</a:t>
            </a:r>
            <a:r>
              <a:rPr lang="en-US" dirty="0" smtClean="0"/>
              <a:t> consists of external factors that influence the system but are not part of it.</a:t>
            </a:r>
            <a:endParaRPr lang="en-US" dirty="0"/>
          </a:p>
          <a:p>
            <a:pPr fontAlgn="base"/>
            <a:r>
              <a:rPr lang="en-US" dirty="0"/>
              <a:t>The changes occurring outside the system that affect the system is system environment.</a:t>
            </a:r>
          </a:p>
          <a:p>
            <a:pPr fontAlgn="base"/>
            <a:r>
              <a:rPr lang="en-US" dirty="0"/>
              <a:t>System may produce changes that do not react on the system but on the environment.</a:t>
            </a:r>
          </a:p>
          <a:p>
            <a:pPr fontAlgn="base"/>
            <a:r>
              <a:rPr lang="en-US" dirty="0"/>
              <a:t>A system is affected by the change in the environment.</a:t>
            </a:r>
          </a:p>
          <a:p>
            <a:pPr fontAlgn="base"/>
            <a:r>
              <a:rPr lang="en-US" dirty="0"/>
              <a:t>Example in a supermarket the factors controlling the arrival of the customers in the supermarket are outside the influence of supermarket and hence they are the part of environment.</a:t>
            </a:r>
          </a:p>
          <a:p>
            <a:pPr marL="0" indent="0">
              <a:buNone/>
            </a:pPr>
            <a:endParaRPr lang="en-US" b="1" dirty="0" smtClean="0"/>
          </a:p>
        </p:txBody>
      </p:sp>
    </p:spTree>
    <p:extLst>
      <p:ext uri="{BB962C8B-B14F-4D97-AF65-F5344CB8AC3E}">
        <p14:creationId xmlns:p14="http://schemas.microsoft.com/office/powerpoint/2010/main" val="2986102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26478"/>
            <a:ext cx="10515600" cy="5416060"/>
          </a:xfrm>
        </p:spPr>
        <p:txBody>
          <a:bodyPr>
            <a:normAutofit fontScale="92500" lnSpcReduction="20000"/>
          </a:bodyPr>
          <a:lstStyle/>
          <a:p>
            <a:pPr marL="0" indent="0" fontAlgn="base">
              <a:buNone/>
            </a:pPr>
            <a:r>
              <a:rPr lang="en-US" b="1" dirty="0" smtClean="0"/>
              <a:t>Types of Activities</a:t>
            </a:r>
          </a:p>
          <a:p>
            <a:pPr marL="0" indent="0" fontAlgn="base">
              <a:buNone/>
            </a:pPr>
            <a:r>
              <a:rPr lang="en-US" dirty="0" smtClean="0"/>
              <a:t>On </a:t>
            </a:r>
            <a:r>
              <a:rPr lang="en-US" dirty="0"/>
              <a:t>the basis of place of Occurrence:</a:t>
            </a:r>
          </a:p>
          <a:p>
            <a:pPr fontAlgn="base"/>
            <a:r>
              <a:rPr lang="en-US" b="1" dirty="0"/>
              <a:t>Endogenous Activities </a:t>
            </a:r>
            <a:r>
              <a:rPr lang="en-US" dirty="0"/>
              <a:t>– activities occurring within the system. Example: packaging, </a:t>
            </a:r>
            <a:r>
              <a:rPr lang="en-US" dirty="0" err="1"/>
              <a:t>cheque</a:t>
            </a:r>
            <a:r>
              <a:rPr lang="en-US" dirty="0"/>
              <a:t> clearing, etc.</a:t>
            </a:r>
          </a:p>
          <a:p>
            <a:pPr fontAlgn="base"/>
            <a:r>
              <a:rPr lang="en-US" b="1" dirty="0"/>
              <a:t>Exogenous Activities </a:t>
            </a:r>
            <a:r>
              <a:rPr lang="en-US" dirty="0"/>
              <a:t>– activities occurring between the system and the environment. Example: Arriving customers</a:t>
            </a:r>
          </a:p>
          <a:p>
            <a:pPr marL="0" indent="0" fontAlgn="base">
              <a:buNone/>
            </a:pPr>
            <a:endParaRPr lang="en-US" dirty="0" smtClean="0"/>
          </a:p>
          <a:p>
            <a:pPr marL="0" indent="0" fontAlgn="base">
              <a:buNone/>
            </a:pPr>
            <a:r>
              <a:rPr lang="en-US" dirty="0" smtClean="0"/>
              <a:t>On </a:t>
            </a:r>
            <a:r>
              <a:rPr lang="en-US" dirty="0"/>
              <a:t>the basis of its effect:</a:t>
            </a:r>
          </a:p>
          <a:p>
            <a:pPr fontAlgn="base"/>
            <a:r>
              <a:rPr lang="en-US" b="1" dirty="0"/>
              <a:t>Deterministic Activities </a:t>
            </a:r>
            <a:r>
              <a:rPr lang="en-US" dirty="0"/>
              <a:t>– the outcome of the activity can be described completely in terms of its input. Example: switch off = no lights</a:t>
            </a:r>
          </a:p>
          <a:p>
            <a:pPr fontAlgn="base"/>
            <a:r>
              <a:rPr lang="en-US" b="1" dirty="0"/>
              <a:t>Non- Deterministic (</a:t>
            </a:r>
            <a:r>
              <a:rPr lang="en-US" b="1" dirty="0" err="1"/>
              <a:t>Astochastic</a:t>
            </a:r>
            <a:r>
              <a:rPr lang="en-US" b="1" dirty="0"/>
              <a:t>) Activities</a:t>
            </a:r>
            <a:r>
              <a:rPr lang="en-US" dirty="0"/>
              <a:t> – the effect of the activity vary randomly over various possible outcomes. The random outcome can be measured and described in the form of probability distribution. Example: power </a:t>
            </a:r>
            <a:r>
              <a:rPr lang="en-US" dirty="0" smtClean="0"/>
              <a:t>failure</a:t>
            </a:r>
            <a:endParaRPr lang="en-US" dirty="0"/>
          </a:p>
        </p:txBody>
      </p:sp>
    </p:spTree>
    <p:extLst>
      <p:ext uri="{BB962C8B-B14F-4D97-AF65-F5344CB8AC3E}">
        <p14:creationId xmlns:p14="http://schemas.microsoft.com/office/powerpoint/2010/main" val="50272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1.2 Continuous and discrete systems </a:t>
            </a:r>
          </a:p>
        </p:txBody>
      </p:sp>
      <p:sp>
        <p:nvSpPr>
          <p:cNvPr id="3" name="Content Placeholder 2"/>
          <p:cNvSpPr>
            <a:spLocks noGrp="1"/>
          </p:cNvSpPr>
          <p:nvPr>
            <p:ph idx="1"/>
          </p:nvPr>
        </p:nvSpPr>
        <p:spPr>
          <a:xfrm>
            <a:off x="838200" y="1512276"/>
            <a:ext cx="10515600" cy="4818185"/>
          </a:xfrm>
        </p:spPr>
        <p:txBody>
          <a:bodyPr>
            <a:normAutofit fontScale="92500" lnSpcReduction="10000"/>
          </a:bodyPr>
          <a:lstStyle/>
          <a:p>
            <a:r>
              <a:rPr lang="en-US" dirty="0"/>
              <a:t>System is broadly categories into two </a:t>
            </a:r>
            <a:r>
              <a:rPr lang="en-US" dirty="0" smtClean="0"/>
              <a:t>types:</a:t>
            </a:r>
          </a:p>
          <a:p>
            <a:pPr marL="0" indent="0">
              <a:buNone/>
            </a:pPr>
            <a:r>
              <a:rPr lang="en-US" b="1" dirty="0" smtClean="0"/>
              <a:t>1. </a:t>
            </a:r>
            <a:r>
              <a:rPr lang="en-US" b="1" dirty="0"/>
              <a:t>Continuous System</a:t>
            </a:r>
            <a:endParaRPr lang="en-US" b="1" dirty="0" smtClean="0">
              <a:effectLst/>
            </a:endParaRPr>
          </a:p>
          <a:p>
            <a:pPr fontAlgn="base">
              <a:buFont typeface="Wingdings" panose="05000000000000000000" pitchFamily="2" charset="2"/>
              <a:buChar char="Ø"/>
            </a:pPr>
            <a:r>
              <a:rPr lang="en-US" dirty="0"/>
              <a:t>System for which the state variables change continuously with respect to time.</a:t>
            </a:r>
          </a:p>
          <a:p>
            <a:pPr fontAlgn="base">
              <a:buFont typeface="Wingdings" panose="05000000000000000000" pitchFamily="2" charset="2"/>
              <a:buChar char="Ø"/>
            </a:pPr>
            <a:r>
              <a:rPr lang="en-US" dirty="0"/>
              <a:t>Continuous simulation is appropriate for systems with a continuous state that changes continuously over time.</a:t>
            </a:r>
          </a:p>
          <a:p>
            <a:pPr>
              <a:buFont typeface="Wingdings" panose="05000000000000000000" pitchFamily="2" charset="2"/>
              <a:buChar char="Ø"/>
            </a:pPr>
            <a:r>
              <a:rPr lang="en-US" b="1" dirty="0" smtClean="0"/>
              <a:t>Examples:</a:t>
            </a:r>
            <a:endParaRPr lang="en-US" dirty="0" smtClean="0"/>
          </a:p>
          <a:p>
            <a:pPr lvl="1"/>
            <a:r>
              <a:rPr lang="en-US" b="1" dirty="0" smtClean="0"/>
              <a:t>Temperature in a room</a:t>
            </a:r>
            <a:r>
              <a:rPr lang="en-US" dirty="0" smtClean="0"/>
              <a:t>: Changes gradually based on heating/cooling</a:t>
            </a:r>
          </a:p>
          <a:p>
            <a:pPr lvl="1"/>
            <a:r>
              <a:rPr lang="en-US" b="1" dirty="0" smtClean="0"/>
              <a:t>Aircraft flight</a:t>
            </a:r>
            <a:r>
              <a:rPr lang="en-US" dirty="0" smtClean="0"/>
              <a:t>: Altitude, speed, position change continuously</a:t>
            </a:r>
          </a:p>
          <a:p>
            <a:pPr lvl="1"/>
            <a:r>
              <a:rPr lang="en-US" b="1" dirty="0" smtClean="0"/>
              <a:t>Chemical reactions</a:t>
            </a:r>
            <a:r>
              <a:rPr lang="en-US" dirty="0" smtClean="0"/>
              <a:t>: Concentration levels change smoothly</a:t>
            </a:r>
          </a:p>
          <a:p>
            <a:pPr lvl="1"/>
            <a:r>
              <a:rPr lang="en-US" b="1" dirty="0" smtClean="0"/>
              <a:t>Water tank drainage</a:t>
            </a:r>
            <a:r>
              <a:rPr lang="en-US" dirty="0" smtClean="0"/>
              <a:t>: Water level decreases continuously</a:t>
            </a:r>
          </a:p>
          <a:p>
            <a:pPr lvl="1"/>
            <a:r>
              <a:rPr lang="en-US" b="1" dirty="0" smtClean="0"/>
              <a:t>Vehicle motion</a:t>
            </a:r>
            <a:r>
              <a:rPr lang="en-US" dirty="0" smtClean="0"/>
              <a:t>: Speed and position change continuously</a:t>
            </a:r>
          </a:p>
          <a:p>
            <a:pPr marL="0" indent="0">
              <a:buNone/>
            </a:pPr>
            <a:endParaRPr lang="en-US" dirty="0"/>
          </a:p>
        </p:txBody>
      </p:sp>
    </p:spTree>
    <p:extLst>
      <p:ext uri="{BB962C8B-B14F-4D97-AF65-F5344CB8AC3E}">
        <p14:creationId xmlns:p14="http://schemas.microsoft.com/office/powerpoint/2010/main" val="2082054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1.2 Continuous and discrete systems </a:t>
            </a:r>
          </a:p>
        </p:txBody>
      </p:sp>
      <p:sp>
        <p:nvSpPr>
          <p:cNvPr id="3" name="Content Placeholder 2"/>
          <p:cNvSpPr>
            <a:spLocks noGrp="1"/>
          </p:cNvSpPr>
          <p:nvPr>
            <p:ph idx="1"/>
          </p:nvPr>
        </p:nvSpPr>
        <p:spPr>
          <a:xfrm>
            <a:off x="838200" y="1690688"/>
            <a:ext cx="10515600" cy="4486275"/>
          </a:xfrm>
        </p:spPr>
        <p:txBody>
          <a:bodyPr>
            <a:normAutofit fontScale="85000" lnSpcReduction="20000"/>
          </a:bodyPr>
          <a:lstStyle/>
          <a:p>
            <a:pPr marL="0" indent="0" fontAlgn="base">
              <a:buNone/>
            </a:pPr>
            <a:r>
              <a:rPr lang="en-US" b="1" dirty="0" smtClean="0"/>
              <a:t>2. </a:t>
            </a:r>
            <a:r>
              <a:rPr lang="en-US" b="1" dirty="0"/>
              <a:t>Discrete System</a:t>
            </a:r>
          </a:p>
          <a:p>
            <a:pPr fontAlgn="base">
              <a:buFont typeface="Wingdings" panose="05000000000000000000" pitchFamily="2" charset="2"/>
              <a:buChar char="Ø"/>
            </a:pPr>
            <a:r>
              <a:rPr lang="en-US" dirty="0"/>
              <a:t>system for which the state variables change instantaneously at separated points in time</a:t>
            </a:r>
          </a:p>
          <a:p>
            <a:pPr fontAlgn="base">
              <a:buFont typeface="Wingdings" panose="05000000000000000000" pitchFamily="2" charset="2"/>
              <a:buChar char="Ø"/>
            </a:pPr>
            <a:r>
              <a:rPr lang="en-US" dirty="0"/>
              <a:t>Discrete simulation is appropriate for systems whose state is discrete and changes at particular time point and then remains in that state for some time</a:t>
            </a:r>
            <a:r>
              <a:rPr lang="en-US" dirty="0" smtClean="0"/>
              <a:t>.</a:t>
            </a:r>
          </a:p>
          <a:p>
            <a:pPr fontAlgn="base">
              <a:buFont typeface="Wingdings" panose="05000000000000000000" pitchFamily="2" charset="2"/>
              <a:buChar char="Ø"/>
            </a:pPr>
            <a:r>
              <a:rPr lang="en-US" b="1" dirty="0" smtClean="0"/>
              <a:t>Examples</a:t>
            </a:r>
            <a:endParaRPr lang="en-US" b="1" dirty="0"/>
          </a:p>
          <a:p>
            <a:r>
              <a:rPr lang="en-US" b="1" dirty="0" smtClean="0"/>
              <a:t>Bank queue: </a:t>
            </a:r>
            <a:r>
              <a:rPr lang="en-US" dirty="0" smtClean="0"/>
              <a:t>Customers arrive/depart at specific times; queue length jumps from 5 to 6</a:t>
            </a:r>
          </a:p>
          <a:p>
            <a:r>
              <a:rPr lang="en-US" b="1" dirty="0" smtClean="0"/>
              <a:t>Traffic light:</a:t>
            </a:r>
            <a:r>
              <a:rPr lang="en-US" dirty="0" smtClean="0"/>
              <a:t> Changes from red → green → yellow at discrete moments</a:t>
            </a:r>
          </a:p>
          <a:p>
            <a:r>
              <a:rPr lang="en-US" b="1" dirty="0" smtClean="0"/>
              <a:t>Manufacturing</a:t>
            </a:r>
            <a:r>
              <a:rPr lang="en-US" dirty="0" smtClean="0"/>
              <a:t>: Parts are completed at specific times; inventory counts change suddenly</a:t>
            </a:r>
          </a:p>
          <a:p>
            <a:r>
              <a:rPr lang="en-US" b="1" dirty="0" smtClean="0"/>
              <a:t>Computer network: </a:t>
            </a:r>
            <a:r>
              <a:rPr lang="en-US" dirty="0" smtClean="0"/>
              <a:t>Packets arrive/depart at specific intervals</a:t>
            </a:r>
          </a:p>
          <a:p>
            <a:pPr marL="0" indent="0">
              <a:buNone/>
            </a:pPr>
            <a:endParaRPr lang="en-US" dirty="0"/>
          </a:p>
        </p:txBody>
      </p:sp>
    </p:spTree>
    <p:extLst>
      <p:ext uri="{BB962C8B-B14F-4D97-AF65-F5344CB8AC3E}">
        <p14:creationId xmlns:p14="http://schemas.microsoft.com/office/powerpoint/2010/main" val="4277241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1.3 Types of models </a:t>
            </a:r>
          </a:p>
        </p:txBody>
      </p:sp>
      <p:sp>
        <p:nvSpPr>
          <p:cNvPr id="3" name="Content Placeholder 2"/>
          <p:cNvSpPr>
            <a:spLocks noGrp="1"/>
          </p:cNvSpPr>
          <p:nvPr>
            <p:ph idx="1"/>
          </p:nvPr>
        </p:nvSpPr>
        <p:spPr>
          <a:xfrm>
            <a:off x="838200" y="1512277"/>
            <a:ext cx="10515600" cy="4664686"/>
          </a:xfrm>
        </p:spPr>
        <p:txBody>
          <a:bodyPr>
            <a:normAutofit fontScale="92500" lnSpcReduction="10000"/>
          </a:bodyPr>
          <a:lstStyle/>
          <a:p>
            <a:pPr marL="0" indent="0">
              <a:buNone/>
            </a:pPr>
            <a:r>
              <a:rPr lang="en-US" b="1" dirty="0"/>
              <a:t>Model</a:t>
            </a:r>
            <a:endParaRPr lang="en-US" b="0" dirty="0" smtClean="0">
              <a:effectLst/>
            </a:endParaRPr>
          </a:p>
          <a:p>
            <a:pPr fontAlgn="base"/>
            <a:r>
              <a:rPr lang="en-US" dirty="0"/>
              <a:t>It is a simplification of the reality.</a:t>
            </a:r>
          </a:p>
          <a:p>
            <a:pPr fontAlgn="base"/>
            <a:r>
              <a:rPr lang="en-US" dirty="0"/>
              <a:t> A (usually miniature) representation of something; an example for imitation or emulation.</a:t>
            </a:r>
          </a:p>
          <a:p>
            <a:pPr fontAlgn="base"/>
            <a:r>
              <a:rPr lang="en-US" dirty="0"/>
              <a:t>A model is a representation of the construction and working of some system of interest. </a:t>
            </a:r>
          </a:p>
          <a:p>
            <a:pPr fontAlgn="base"/>
            <a:r>
              <a:rPr lang="en-US" dirty="0"/>
              <a:t>A model is similar to but simpler than the system it represents. </a:t>
            </a:r>
          </a:p>
          <a:p>
            <a:pPr fontAlgn="base"/>
            <a:r>
              <a:rPr lang="en-US" dirty="0"/>
              <a:t>One purpose of a model is to enable the analyst to predict the effect of changes to the system.</a:t>
            </a:r>
          </a:p>
          <a:p>
            <a:pPr fontAlgn="base"/>
            <a:r>
              <a:rPr lang="en-US" dirty="0"/>
              <a:t>A model is a simplified representation of a system at some particular point in time or space intended to promote understanding of the real system.</a:t>
            </a:r>
          </a:p>
          <a:p>
            <a:endParaRPr lang="en-US" dirty="0"/>
          </a:p>
        </p:txBody>
      </p:sp>
    </p:spTree>
    <p:extLst>
      <p:ext uri="{BB962C8B-B14F-4D97-AF65-F5344CB8AC3E}">
        <p14:creationId xmlns:p14="http://schemas.microsoft.com/office/powerpoint/2010/main" val="24731053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39815" y="568753"/>
            <a:ext cx="7687390" cy="5804764"/>
          </a:xfrm>
          <a:prstGeom prst="rect">
            <a:avLst/>
          </a:prstGeom>
        </p:spPr>
      </p:pic>
    </p:spTree>
    <p:extLst>
      <p:ext uri="{BB962C8B-B14F-4D97-AF65-F5344CB8AC3E}">
        <p14:creationId xmlns:p14="http://schemas.microsoft.com/office/powerpoint/2010/main" val="3204633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05707" y="973952"/>
            <a:ext cx="8436764" cy="5015557"/>
          </a:xfrm>
          <a:prstGeom prst="rect">
            <a:avLst/>
          </a:prstGeom>
        </p:spPr>
      </p:pic>
    </p:spTree>
    <p:extLst>
      <p:ext uri="{BB962C8B-B14F-4D97-AF65-F5344CB8AC3E}">
        <p14:creationId xmlns:p14="http://schemas.microsoft.com/office/powerpoint/2010/main" val="3720871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Types of models </a:t>
            </a:r>
            <a:endParaRPr lang="en-US" dirty="0"/>
          </a:p>
        </p:txBody>
      </p:sp>
      <p:sp>
        <p:nvSpPr>
          <p:cNvPr id="3" name="Content Placeholder 2"/>
          <p:cNvSpPr>
            <a:spLocks noGrp="1"/>
          </p:cNvSpPr>
          <p:nvPr>
            <p:ph idx="1"/>
          </p:nvPr>
        </p:nvSpPr>
        <p:spPr/>
        <p:txBody>
          <a:bodyPr/>
          <a:lstStyle/>
          <a:p>
            <a:pPr marL="0" indent="0" fontAlgn="base">
              <a:buNone/>
            </a:pPr>
            <a:r>
              <a:rPr lang="en-US" b="1" dirty="0"/>
              <a:t>System Modeling</a:t>
            </a:r>
            <a:endParaRPr lang="en-US" dirty="0" smtClean="0"/>
          </a:p>
          <a:p>
            <a:pPr fontAlgn="base"/>
            <a:r>
              <a:rPr lang="en-US" dirty="0" smtClean="0"/>
              <a:t>The </a:t>
            </a:r>
            <a:r>
              <a:rPr lang="en-US" dirty="0"/>
              <a:t>model should be sufficiently detailed to permit valid conclusions to be drawn about the real system</a:t>
            </a:r>
          </a:p>
          <a:p>
            <a:pPr fontAlgn="base"/>
            <a:r>
              <a:rPr lang="en-US" dirty="0"/>
              <a:t>Modeling is the process of producing a model; On the one hand, a model should be a close approximation to the real system and incorporate most of its salient/relevant features.</a:t>
            </a:r>
          </a:p>
          <a:p>
            <a:pPr fontAlgn="base"/>
            <a:r>
              <a:rPr lang="en-US" dirty="0"/>
              <a:t>On the other hand, it should not be so complex that it is impossible to understand and experiment with it.</a:t>
            </a:r>
          </a:p>
          <a:p>
            <a:pPr fontAlgn="base"/>
            <a:r>
              <a:rPr lang="en-US" dirty="0"/>
              <a:t>A good model is a judicious tradeoff between realism and simplicity.</a:t>
            </a:r>
          </a:p>
        </p:txBody>
      </p:sp>
    </p:spTree>
    <p:extLst>
      <p:ext uri="{BB962C8B-B14F-4D97-AF65-F5344CB8AC3E}">
        <p14:creationId xmlns:p14="http://schemas.microsoft.com/office/powerpoint/2010/main" val="738695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Types of models </a:t>
            </a:r>
            <a:endParaRPr lang="en-US" dirty="0"/>
          </a:p>
        </p:txBody>
      </p:sp>
      <p:sp>
        <p:nvSpPr>
          <p:cNvPr id="3" name="Content Placeholder 2"/>
          <p:cNvSpPr>
            <a:spLocks noGrp="1"/>
          </p:cNvSpPr>
          <p:nvPr>
            <p:ph idx="1"/>
          </p:nvPr>
        </p:nvSpPr>
        <p:spPr/>
        <p:txBody>
          <a:bodyPr>
            <a:normAutofit/>
          </a:bodyPr>
          <a:lstStyle/>
          <a:p>
            <a:pPr marL="0" indent="0" fontAlgn="base">
              <a:buNone/>
            </a:pPr>
            <a:r>
              <a:rPr lang="en-US" b="1" dirty="0"/>
              <a:t>System Modeling</a:t>
            </a:r>
            <a:endParaRPr lang="en-US" dirty="0" smtClean="0"/>
          </a:p>
          <a:p>
            <a:pPr fontAlgn="base"/>
            <a:r>
              <a:rPr lang="en-US" dirty="0" smtClean="0"/>
              <a:t>“Modeling is the use of mathematical techniques, specialized hardware and engineering judgment to create a representative stand for a real world environment, device, system or behavior.”</a:t>
            </a:r>
          </a:p>
          <a:p>
            <a:pPr fontAlgn="base"/>
            <a:r>
              <a:rPr lang="en-US" dirty="0" smtClean="0"/>
              <a:t>Modeling of system could be categorized into 2 main tasks:</a:t>
            </a:r>
          </a:p>
          <a:p>
            <a:pPr marL="514350" indent="-514350" fontAlgn="base">
              <a:buFont typeface="+mj-lt"/>
              <a:buAutoNum type="arabicPeriod"/>
            </a:pPr>
            <a:r>
              <a:rPr lang="en-US" dirty="0" smtClean="0"/>
              <a:t>Establishing model structure: determines system boundaries, identify attributes, entities and activities of system.</a:t>
            </a:r>
          </a:p>
          <a:p>
            <a:pPr marL="514350" indent="-514350" fontAlgn="base">
              <a:buFont typeface="+mj-lt"/>
              <a:buAutoNum type="arabicPeriod"/>
            </a:pPr>
            <a:r>
              <a:rPr lang="en-US" dirty="0" smtClean="0"/>
              <a:t>Supplying the data: provide the values for the attributes and define relationship involved in the activities.</a:t>
            </a:r>
            <a:endParaRPr lang="en-US" dirty="0"/>
          </a:p>
        </p:txBody>
      </p:sp>
    </p:spTree>
    <p:extLst>
      <p:ext uri="{BB962C8B-B14F-4D97-AF65-F5344CB8AC3E}">
        <p14:creationId xmlns:p14="http://schemas.microsoft.com/office/powerpoint/2010/main" val="2909701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Types of models </a:t>
            </a:r>
            <a:endParaRPr lang="en-US" dirty="0"/>
          </a:p>
        </p:txBody>
      </p:sp>
      <p:sp>
        <p:nvSpPr>
          <p:cNvPr id="3" name="Content Placeholder 2"/>
          <p:cNvSpPr>
            <a:spLocks noGrp="1"/>
          </p:cNvSpPr>
          <p:nvPr>
            <p:ph idx="1"/>
          </p:nvPr>
        </p:nvSpPr>
        <p:spPr>
          <a:xfrm>
            <a:off x="838200" y="1594132"/>
            <a:ext cx="10515600" cy="4351338"/>
          </a:xfrm>
        </p:spPr>
        <p:txBody>
          <a:bodyPr>
            <a:normAutofit/>
          </a:bodyPr>
          <a:lstStyle/>
          <a:p>
            <a:pPr marL="0" indent="0" fontAlgn="base">
              <a:buNone/>
            </a:pPr>
            <a:r>
              <a:rPr lang="en-US" dirty="0" smtClean="0"/>
              <a:t>On </a:t>
            </a:r>
            <a:r>
              <a:rPr lang="en-US" dirty="0"/>
              <a:t>the basis of the nature of the system, Model of a system can be classified </a:t>
            </a:r>
            <a:r>
              <a:rPr lang="en-US" dirty="0" smtClean="0"/>
              <a:t>as:</a:t>
            </a:r>
          </a:p>
          <a:p>
            <a:pPr marL="0" indent="0" fontAlgn="base">
              <a:buNone/>
            </a:pPr>
            <a:endParaRPr lang="en-US" dirty="0"/>
          </a:p>
        </p:txBody>
      </p:sp>
      <p:pic>
        <p:nvPicPr>
          <p:cNvPr id="4" name="Picture 3"/>
          <p:cNvPicPr>
            <a:picLocks noChangeAspect="1"/>
          </p:cNvPicPr>
          <p:nvPr/>
        </p:nvPicPr>
        <p:blipFill>
          <a:blip r:embed="rId2"/>
          <a:stretch>
            <a:fillRect/>
          </a:stretch>
        </p:blipFill>
        <p:spPr>
          <a:xfrm>
            <a:off x="3002012" y="2404591"/>
            <a:ext cx="6187976" cy="3368332"/>
          </a:xfrm>
          <a:prstGeom prst="rect">
            <a:avLst/>
          </a:prstGeom>
        </p:spPr>
      </p:pic>
    </p:spTree>
    <p:extLst>
      <p:ext uri="{BB962C8B-B14F-4D97-AF65-F5344CB8AC3E}">
        <p14:creationId xmlns:p14="http://schemas.microsoft.com/office/powerpoint/2010/main" val="4179004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Types of models </a:t>
            </a:r>
            <a:endParaRPr lang="en-US" dirty="0"/>
          </a:p>
        </p:txBody>
      </p:sp>
      <p:sp>
        <p:nvSpPr>
          <p:cNvPr id="3" name="Content Placeholder 2"/>
          <p:cNvSpPr>
            <a:spLocks noGrp="1"/>
          </p:cNvSpPr>
          <p:nvPr>
            <p:ph idx="1"/>
          </p:nvPr>
        </p:nvSpPr>
        <p:spPr>
          <a:xfrm>
            <a:off x="838200" y="1594132"/>
            <a:ext cx="10515600" cy="4351338"/>
          </a:xfrm>
        </p:spPr>
        <p:txBody>
          <a:bodyPr>
            <a:normAutofit fontScale="92500" lnSpcReduction="20000"/>
          </a:bodyPr>
          <a:lstStyle/>
          <a:p>
            <a:pPr fontAlgn="base"/>
            <a:r>
              <a:rPr lang="en-US" dirty="0"/>
              <a:t>Simulation models can be classified as being static or dynamic, deterministic or stochastic and discrete or continuous.</a:t>
            </a:r>
          </a:p>
          <a:p>
            <a:pPr fontAlgn="base"/>
            <a:r>
              <a:rPr lang="en-US" b="1" dirty="0"/>
              <a:t>Deterministic models </a:t>
            </a:r>
            <a:r>
              <a:rPr lang="en-US" dirty="0"/>
              <a:t>have a known set of inputs, which result into unique set of outputs.</a:t>
            </a:r>
            <a:endParaRPr lang="en-US" b="1" dirty="0"/>
          </a:p>
          <a:p>
            <a:pPr fontAlgn="base"/>
            <a:r>
              <a:rPr lang="en-US" dirty="0" smtClean="0"/>
              <a:t>In </a:t>
            </a:r>
            <a:r>
              <a:rPr lang="en-US" b="1" dirty="0"/>
              <a:t>stochastic model</a:t>
            </a:r>
            <a:r>
              <a:rPr lang="en-US" dirty="0"/>
              <a:t>, there are one or more random input variables, which lead to random outputs.</a:t>
            </a:r>
          </a:p>
          <a:p>
            <a:pPr fontAlgn="base"/>
            <a:r>
              <a:rPr lang="en-US" dirty="0"/>
              <a:t>A </a:t>
            </a:r>
            <a:r>
              <a:rPr lang="en-US" b="1" dirty="0"/>
              <a:t>static simulation </a:t>
            </a:r>
            <a:r>
              <a:rPr lang="en-US" dirty="0"/>
              <a:t>model represents a system, which does not change with time or represents the system at a particular point in time.</a:t>
            </a:r>
          </a:p>
          <a:p>
            <a:pPr fontAlgn="base"/>
            <a:r>
              <a:rPr lang="en-US" dirty="0"/>
              <a:t> </a:t>
            </a:r>
            <a:r>
              <a:rPr lang="en-US" b="1" dirty="0"/>
              <a:t>Dynamic simulation </a:t>
            </a:r>
            <a:r>
              <a:rPr lang="en-US" dirty="0"/>
              <a:t>models represent systems as they change over time.</a:t>
            </a:r>
          </a:p>
          <a:p>
            <a:pPr fontAlgn="base"/>
            <a:r>
              <a:rPr lang="en-US" dirty="0"/>
              <a:t>System in which the state of the system changes continuously with time are called </a:t>
            </a:r>
            <a:r>
              <a:rPr lang="en-US" b="1" dirty="0"/>
              <a:t>continuous systems </a:t>
            </a:r>
            <a:r>
              <a:rPr lang="en-US" dirty="0"/>
              <a:t>while the systems in which the state changes abruptly at discrete points in time called </a:t>
            </a:r>
            <a:r>
              <a:rPr lang="en-US" b="1" dirty="0"/>
              <a:t>discrete systems</a:t>
            </a:r>
            <a:r>
              <a:rPr lang="en-US" dirty="0"/>
              <a:t>.</a:t>
            </a:r>
          </a:p>
        </p:txBody>
      </p:sp>
    </p:spTree>
    <p:extLst>
      <p:ext uri="{BB962C8B-B14F-4D97-AF65-F5344CB8AC3E}">
        <p14:creationId xmlns:p14="http://schemas.microsoft.com/office/powerpoint/2010/main" val="3110727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Types of models </a:t>
            </a:r>
            <a:endParaRPr lang="en-US" dirty="0"/>
          </a:p>
        </p:txBody>
      </p:sp>
      <p:sp>
        <p:nvSpPr>
          <p:cNvPr id="3" name="Content Placeholder 2"/>
          <p:cNvSpPr>
            <a:spLocks noGrp="1"/>
          </p:cNvSpPr>
          <p:nvPr>
            <p:ph idx="1"/>
          </p:nvPr>
        </p:nvSpPr>
        <p:spPr>
          <a:xfrm>
            <a:off x="838200" y="1594131"/>
            <a:ext cx="10515600" cy="4621473"/>
          </a:xfrm>
        </p:spPr>
        <p:txBody>
          <a:bodyPr>
            <a:normAutofit fontScale="85000" lnSpcReduction="20000"/>
          </a:bodyPr>
          <a:lstStyle/>
          <a:p>
            <a:pPr fontAlgn="base"/>
            <a:r>
              <a:rPr lang="en-US" b="1" dirty="0"/>
              <a:t>Stochastic vs. Deterministic</a:t>
            </a:r>
          </a:p>
          <a:p>
            <a:pPr marL="0" indent="0">
              <a:buNone/>
            </a:pPr>
            <a:r>
              <a:rPr lang="en-US" dirty="0" smtClean="0"/>
              <a:t>Stochastic </a:t>
            </a:r>
            <a:r>
              <a:rPr lang="en-US" dirty="0"/>
              <a:t>simulation</a:t>
            </a:r>
            <a:endParaRPr lang="en-US" b="0" dirty="0" smtClean="0">
              <a:effectLst/>
            </a:endParaRPr>
          </a:p>
          <a:p>
            <a:pPr fontAlgn="base"/>
            <a:r>
              <a:rPr lang="en-US" dirty="0"/>
              <a:t>There are one or more random input variables which leads to random outputs.</a:t>
            </a:r>
          </a:p>
          <a:p>
            <a:pPr fontAlgn="base"/>
            <a:r>
              <a:rPr lang="en-US" dirty="0"/>
              <a:t>a simulation that contains random (probabilistic) elements.  Examples:-  Inter-arrival time or service time of customers at a restaurant or store,  Amount of time required to service a customer.</a:t>
            </a:r>
          </a:p>
          <a:p>
            <a:pPr fontAlgn="base"/>
            <a:r>
              <a:rPr lang="en-US" dirty="0"/>
              <a:t>Output is a random quantity (multiple runs required analyze </a:t>
            </a:r>
            <a:r>
              <a:rPr lang="en-US" dirty="0" smtClean="0"/>
              <a:t>output)</a:t>
            </a:r>
          </a:p>
          <a:p>
            <a:pPr marL="0" indent="0" fontAlgn="base">
              <a:buNone/>
            </a:pPr>
            <a:endParaRPr lang="en-US" dirty="0" smtClean="0"/>
          </a:p>
          <a:p>
            <a:pPr marL="0" indent="0" fontAlgn="base">
              <a:buNone/>
            </a:pPr>
            <a:r>
              <a:rPr lang="en-US" dirty="0" smtClean="0"/>
              <a:t>Deterministic </a:t>
            </a:r>
            <a:r>
              <a:rPr lang="en-US" dirty="0"/>
              <a:t>simulation</a:t>
            </a:r>
            <a:endParaRPr lang="en-US" b="0" dirty="0" smtClean="0">
              <a:effectLst/>
            </a:endParaRPr>
          </a:p>
          <a:p>
            <a:pPr fontAlgn="base"/>
            <a:r>
              <a:rPr lang="en-US" dirty="0"/>
              <a:t>Models have a known set of inputs which result into unique set of outputs. </a:t>
            </a:r>
          </a:p>
          <a:p>
            <a:pPr fontAlgn="base"/>
            <a:r>
              <a:rPr lang="en-US" dirty="0"/>
              <a:t>a simulation containing no random elements. Examples:-  Simulation of a digital circuit,  Simulation of a chemical reaction based on differential equations</a:t>
            </a:r>
          </a:p>
          <a:p>
            <a:pPr fontAlgn="base"/>
            <a:r>
              <a:rPr lang="en-US" dirty="0"/>
              <a:t> Output is deterministic for a given set of inputs.</a:t>
            </a:r>
          </a:p>
        </p:txBody>
      </p:sp>
    </p:spTree>
    <p:extLst>
      <p:ext uri="{BB962C8B-B14F-4D97-AF65-F5344CB8AC3E}">
        <p14:creationId xmlns:p14="http://schemas.microsoft.com/office/powerpoint/2010/main" val="509658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Types of models </a:t>
            </a:r>
            <a:endParaRPr lang="en-US" dirty="0"/>
          </a:p>
        </p:txBody>
      </p:sp>
      <p:sp>
        <p:nvSpPr>
          <p:cNvPr id="3" name="Content Placeholder 2"/>
          <p:cNvSpPr>
            <a:spLocks noGrp="1"/>
          </p:cNvSpPr>
          <p:nvPr>
            <p:ph idx="1"/>
          </p:nvPr>
        </p:nvSpPr>
        <p:spPr>
          <a:xfrm>
            <a:off x="838200" y="1594131"/>
            <a:ext cx="10515600" cy="4517301"/>
          </a:xfrm>
        </p:spPr>
        <p:txBody>
          <a:bodyPr>
            <a:normAutofit fontScale="85000" lnSpcReduction="10000"/>
          </a:bodyPr>
          <a:lstStyle/>
          <a:p>
            <a:pPr fontAlgn="base"/>
            <a:r>
              <a:rPr lang="en-US" b="1" dirty="0"/>
              <a:t>Static vs. Dynamic Models</a:t>
            </a:r>
          </a:p>
          <a:p>
            <a:pPr marL="0" indent="0">
              <a:buNone/>
            </a:pPr>
            <a:r>
              <a:rPr lang="en-US" dirty="0" smtClean="0"/>
              <a:t>Static </a:t>
            </a:r>
            <a:r>
              <a:rPr lang="en-US" dirty="0"/>
              <a:t>models</a:t>
            </a:r>
            <a:endParaRPr lang="en-US" b="0" dirty="0" smtClean="0">
              <a:effectLst/>
            </a:endParaRPr>
          </a:p>
          <a:p>
            <a:pPr fontAlgn="base"/>
            <a:r>
              <a:rPr lang="en-US" dirty="0"/>
              <a:t>Model where time is not a significant variable.</a:t>
            </a:r>
          </a:p>
          <a:p>
            <a:pPr fontAlgn="base"/>
            <a:r>
              <a:rPr lang="en-US" dirty="0"/>
              <a:t>This model represents a system, which does not change with time or represents a system at a particular point in time.</a:t>
            </a:r>
          </a:p>
          <a:p>
            <a:pPr fontAlgn="base"/>
            <a:r>
              <a:rPr lang="en-US" dirty="0"/>
              <a:t>Examples:-  Determine the probability of a winning solitaire hand</a:t>
            </a:r>
          </a:p>
          <a:p>
            <a:pPr marL="0" indent="0">
              <a:buNone/>
            </a:pPr>
            <a:endParaRPr lang="en-US" dirty="0" smtClean="0"/>
          </a:p>
          <a:p>
            <a:pPr marL="0" indent="0">
              <a:buNone/>
            </a:pPr>
            <a:r>
              <a:rPr lang="en-US" dirty="0" smtClean="0"/>
              <a:t>Dynamic </a:t>
            </a:r>
            <a:r>
              <a:rPr lang="en-US" dirty="0"/>
              <a:t>models</a:t>
            </a:r>
            <a:endParaRPr lang="en-US" b="0" dirty="0" smtClean="0">
              <a:effectLst/>
            </a:endParaRPr>
          </a:p>
          <a:p>
            <a:pPr fontAlgn="base"/>
            <a:r>
              <a:rPr lang="en-US" dirty="0"/>
              <a:t>Represents a system that changes over time. </a:t>
            </a:r>
          </a:p>
          <a:p>
            <a:pPr fontAlgn="base"/>
            <a:r>
              <a:rPr lang="en-US" dirty="0"/>
              <a:t>Model focusing on the evolution of the system under investigation over </a:t>
            </a:r>
            <a:r>
              <a:rPr lang="en-US" dirty="0" smtClean="0"/>
              <a:t>time</a:t>
            </a:r>
          </a:p>
          <a:p>
            <a:pPr fontAlgn="base"/>
            <a:r>
              <a:rPr lang="en-US" dirty="0" smtClean="0"/>
              <a:t>Example: Traffic simulation</a:t>
            </a:r>
            <a:endParaRPr lang="en-US" dirty="0"/>
          </a:p>
        </p:txBody>
      </p:sp>
    </p:spTree>
    <p:extLst>
      <p:ext uri="{BB962C8B-B14F-4D97-AF65-F5344CB8AC3E}">
        <p14:creationId xmlns:p14="http://schemas.microsoft.com/office/powerpoint/2010/main" val="1886874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Types of models </a:t>
            </a:r>
            <a:endParaRPr lang="en-US" dirty="0"/>
          </a:p>
        </p:txBody>
      </p:sp>
      <p:sp>
        <p:nvSpPr>
          <p:cNvPr id="3" name="Content Placeholder 2"/>
          <p:cNvSpPr>
            <a:spLocks noGrp="1"/>
          </p:cNvSpPr>
          <p:nvPr>
            <p:ph idx="1"/>
          </p:nvPr>
        </p:nvSpPr>
        <p:spPr>
          <a:xfrm>
            <a:off x="838200" y="1594132"/>
            <a:ext cx="10515600" cy="4528876"/>
          </a:xfrm>
        </p:spPr>
        <p:txBody>
          <a:bodyPr>
            <a:normAutofit fontScale="85000" lnSpcReduction="20000"/>
          </a:bodyPr>
          <a:lstStyle/>
          <a:p>
            <a:pPr fontAlgn="base"/>
            <a:r>
              <a:rPr lang="en-US" b="1" dirty="0"/>
              <a:t>Continuous vs. Discrete</a:t>
            </a:r>
          </a:p>
          <a:p>
            <a:pPr marL="0" indent="0">
              <a:buNone/>
            </a:pPr>
            <a:r>
              <a:rPr lang="en-US" dirty="0"/>
              <a:t>Discrete</a:t>
            </a:r>
            <a:endParaRPr lang="en-US" b="0" dirty="0" smtClean="0">
              <a:effectLst/>
            </a:endParaRPr>
          </a:p>
          <a:p>
            <a:pPr fontAlgn="base"/>
            <a:r>
              <a:rPr lang="en-US" dirty="0"/>
              <a:t>Model represents the system in which state changes abruptly at discrete points of time. </a:t>
            </a:r>
          </a:p>
          <a:p>
            <a:pPr fontAlgn="base"/>
            <a:r>
              <a:rPr lang="en-US" dirty="0"/>
              <a:t>State of the system is viewed as changing at discrete points in time.</a:t>
            </a:r>
          </a:p>
          <a:p>
            <a:pPr fontAlgn="base"/>
            <a:r>
              <a:rPr lang="en-US" dirty="0"/>
              <a:t> An event is associated with each state transition.</a:t>
            </a:r>
          </a:p>
          <a:p>
            <a:pPr fontAlgn="base"/>
            <a:r>
              <a:rPr lang="en-US" dirty="0"/>
              <a:t> Events contain time stamp.</a:t>
            </a:r>
          </a:p>
          <a:p>
            <a:pPr marL="0" indent="0">
              <a:buNone/>
            </a:pPr>
            <a:endParaRPr lang="en-US" dirty="0" smtClean="0"/>
          </a:p>
          <a:p>
            <a:pPr marL="0" indent="0">
              <a:buNone/>
            </a:pPr>
            <a:r>
              <a:rPr lang="en-US" dirty="0" smtClean="0"/>
              <a:t>Continuous</a:t>
            </a:r>
            <a:endParaRPr lang="en-US" b="0" dirty="0" smtClean="0">
              <a:effectLst/>
            </a:endParaRPr>
          </a:p>
          <a:p>
            <a:pPr fontAlgn="base"/>
            <a:r>
              <a:rPr lang="en-US" dirty="0"/>
              <a:t> Model represents the system in which state changes continuously with time. </a:t>
            </a:r>
          </a:p>
          <a:p>
            <a:pPr fontAlgn="base"/>
            <a:r>
              <a:rPr lang="en-US" dirty="0"/>
              <a:t>State of the system is viewed as changing continuously across time.</a:t>
            </a:r>
          </a:p>
          <a:p>
            <a:pPr fontAlgn="base"/>
            <a:r>
              <a:rPr lang="en-US" dirty="0"/>
              <a:t> System typically described by a set of differential equations.</a:t>
            </a:r>
          </a:p>
        </p:txBody>
      </p:sp>
    </p:spTree>
    <p:extLst>
      <p:ext uri="{BB962C8B-B14F-4D97-AF65-F5344CB8AC3E}">
        <p14:creationId xmlns:p14="http://schemas.microsoft.com/office/powerpoint/2010/main" val="96407548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Types of models </a:t>
            </a:r>
            <a:endParaRPr lang="en-US" dirty="0"/>
          </a:p>
        </p:txBody>
      </p:sp>
      <p:sp>
        <p:nvSpPr>
          <p:cNvPr id="3" name="Content Placeholder 2"/>
          <p:cNvSpPr>
            <a:spLocks noGrp="1"/>
          </p:cNvSpPr>
          <p:nvPr>
            <p:ph idx="1"/>
          </p:nvPr>
        </p:nvSpPr>
        <p:spPr>
          <a:xfrm>
            <a:off x="838200" y="1594132"/>
            <a:ext cx="10515600" cy="4528876"/>
          </a:xfrm>
        </p:spPr>
        <p:txBody>
          <a:bodyPr>
            <a:normAutofit/>
          </a:bodyPr>
          <a:lstStyle/>
          <a:p>
            <a:pPr fontAlgn="base"/>
            <a:r>
              <a:rPr lang="en-US" dirty="0"/>
              <a:t>On the basis of the representation, Models used in system can be classified as:</a:t>
            </a:r>
          </a:p>
          <a:p>
            <a:pPr marL="0" indent="0">
              <a:buNone/>
            </a:pPr>
            <a:endParaRPr lang="en-US" dirty="0"/>
          </a:p>
        </p:txBody>
      </p:sp>
      <p:pic>
        <p:nvPicPr>
          <p:cNvPr id="4" name="Picture 3"/>
          <p:cNvPicPr>
            <a:picLocks noChangeAspect="1"/>
          </p:cNvPicPr>
          <p:nvPr/>
        </p:nvPicPr>
        <p:blipFill>
          <a:blip r:embed="rId2"/>
          <a:stretch>
            <a:fillRect/>
          </a:stretch>
        </p:blipFill>
        <p:spPr>
          <a:xfrm>
            <a:off x="3163793" y="2253343"/>
            <a:ext cx="6346251" cy="3869665"/>
          </a:xfrm>
          <a:prstGeom prst="rect">
            <a:avLst/>
          </a:prstGeom>
        </p:spPr>
      </p:pic>
    </p:spTree>
    <p:extLst>
      <p:ext uri="{BB962C8B-B14F-4D97-AF65-F5344CB8AC3E}">
        <p14:creationId xmlns:p14="http://schemas.microsoft.com/office/powerpoint/2010/main" val="171049918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Types of models </a:t>
            </a:r>
            <a:endParaRPr lang="en-US" dirty="0"/>
          </a:p>
        </p:txBody>
      </p:sp>
      <p:sp>
        <p:nvSpPr>
          <p:cNvPr id="3" name="Content Placeholder 2"/>
          <p:cNvSpPr>
            <a:spLocks noGrp="1"/>
          </p:cNvSpPr>
          <p:nvPr>
            <p:ph idx="1"/>
          </p:nvPr>
        </p:nvSpPr>
        <p:spPr>
          <a:xfrm>
            <a:off x="838200" y="1594132"/>
            <a:ext cx="10515600" cy="4528876"/>
          </a:xfrm>
        </p:spPr>
        <p:txBody>
          <a:bodyPr>
            <a:normAutofit fontScale="77500" lnSpcReduction="20000"/>
          </a:bodyPr>
          <a:lstStyle/>
          <a:p>
            <a:pPr marL="0" indent="0" fontAlgn="base">
              <a:buNone/>
            </a:pPr>
            <a:r>
              <a:rPr lang="en-US" dirty="0" smtClean="0"/>
              <a:t>1. Physical </a:t>
            </a:r>
            <a:r>
              <a:rPr lang="en-US" dirty="0"/>
              <a:t>Model</a:t>
            </a:r>
          </a:p>
          <a:p>
            <a:pPr fontAlgn="base">
              <a:buFont typeface="Wingdings" panose="05000000000000000000" pitchFamily="2" charset="2"/>
              <a:buChar char="Ø"/>
            </a:pPr>
            <a:r>
              <a:rPr lang="en-US" dirty="0"/>
              <a:t>Physical models are based on some analogy between such systems as mechanical and electrical or electrical and hydraulic.</a:t>
            </a:r>
          </a:p>
          <a:p>
            <a:pPr fontAlgn="base">
              <a:buFont typeface="Wingdings" panose="05000000000000000000" pitchFamily="2" charset="2"/>
              <a:buChar char="Ø"/>
            </a:pPr>
            <a:r>
              <a:rPr lang="en-US" dirty="0"/>
              <a:t>In a physical model of a system, the system attributes are represented by such measurements as a voltage or the position of a shaft.</a:t>
            </a:r>
          </a:p>
          <a:p>
            <a:pPr fontAlgn="base">
              <a:buFont typeface="Wingdings" panose="05000000000000000000" pitchFamily="2" charset="2"/>
              <a:buChar char="Ø"/>
            </a:pPr>
            <a:r>
              <a:rPr lang="en-US" dirty="0"/>
              <a:t>The system activities are reflected in the physical laws that drive the model.</a:t>
            </a:r>
          </a:p>
          <a:p>
            <a:pPr fontAlgn="base">
              <a:buFont typeface="Wingdings" panose="05000000000000000000" pitchFamily="2" charset="2"/>
              <a:buChar char="Ø"/>
            </a:pPr>
            <a:r>
              <a:rPr lang="en-US" dirty="0"/>
              <a:t>These models are known as iconic models.</a:t>
            </a:r>
          </a:p>
          <a:p>
            <a:pPr fontAlgn="base">
              <a:buFont typeface="Wingdings" panose="05000000000000000000" pitchFamily="2" charset="2"/>
              <a:buChar char="Ø"/>
            </a:pPr>
            <a:r>
              <a:rPr lang="en-US" dirty="0"/>
              <a:t>Example: Architect Modelling</a:t>
            </a:r>
          </a:p>
          <a:p>
            <a:pPr marL="0" indent="0">
              <a:buNone/>
            </a:pPr>
            <a:endParaRPr lang="en-US" dirty="0" smtClean="0"/>
          </a:p>
          <a:p>
            <a:pPr marL="0" indent="0">
              <a:buNone/>
            </a:pPr>
            <a:r>
              <a:rPr lang="en-US" dirty="0" smtClean="0"/>
              <a:t>2</a:t>
            </a:r>
            <a:r>
              <a:rPr lang="en-US" dirty="0"/>
              <a:t>. Mathematical Models</a:t>
            </a:r>
            <a:endParaRPr lang="en-US" b="0" dirty="0" smtClean="0">
              <a:effectLst/>
            </a:endParaRPr>
          </a:p>
          <a:p>
            <a:pPr fontAlgn="base">
              <a:buFont typeface="Wingdings" panose="05000000000000000000" pitchFamily="2" charset="2"/>
              <a:buChar char="Ø"/>
            </a:pPr>
            <a:r>
              <a:rPr lang="en-US" dirty="0"/>
              <a:t>Mathematical models use symbolic notation and mathematical equation to represent a system.</a:t>
            </a:r>
          </a:p>
          <a:p>
            <a:pPr fontAlgn="base">
              <a:buFont typeface="Wingdings" panose="05000000000000000000" pitchFamily="2" charset="2"/>
              <a:buChar char="Ø"/>
            </a:pPr>
            <a:r>
              <a:rPr lang="en-US" dirty="0"/>
              <a:t> The system attributes are represented by variables, and the activities are represented by mathematical functions that interrelate the variables.</a:t>
            </a:r>
          </a:p>
          <a:p>
            <a:pPr marL="0" indent="0">
              <a:buNone/>
            </a:pPr>
            <a:endParaRPr lang="en-US" dirty="0"/>
          </a:p>
        </p:txBody>
      </p:sp>
    </p:spTree>
    <p:extLst>
      <p:ext uri="{BB962C8B-B14F-4D97-AF65-F5344CB8AC3E}">
        <p14:creationId xmlns:p14="http://schemas.microsoft.com/office/powerpoint/2010/main" val="30224909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Types of models </a:t>
            </a:r>
            <a:endParaRPr lang="en-US" dirty="0"/>
          </a:p>
        </p:txBody>
      </p:sp>
      <p:sp>
        <p:nvSpPr>
          <p:cNvPr id="3" name="Content Placeholder 2"/>
          <p:cNvSpPr>
            <a:spLocks noGrp="1"/>
          </p:cNvSpPr>
          <p:nvPr>
            <p:ph idx="1"/>
          </p:nvPr>
        </p:nvSpPr>
        <p:spPr>
          <a:xfrm>
            <a:off x="838200" y="1594132"/>
            <a:ext cx="10515600" cy="4528876"/>
          </a:xfrm>
        </p:spPr>
        <p:txBody>
          <a:bodyPr>
            <a:normAutofit/>
          </a:bodyPr>
          <a:lstStyle/>
          <a:p>
            <a:pPr marL="0" indent="0">
              <a:buNone/>
            </a:pPr>
            <a:r>
              <a:rPr lang="en-US" dirty="0"/>
              <a:t>3. Static Models</a:t>
            </a:r>
            <a:endParaRPr lang="en-US" b="0" dirty="0" smtClean="0">
              <a:effectLst/>
            </a:endParaRPr>
          </a:p>
          <a:p>
            <a:pPr fontAlgn="base">
              <a:buFont typeface="Wingdings" panose="05000000000000000000" pitchFamily="2" charset="2"/>
              <a:buChar char="Ø"/>
            </a:pPr>
            <a:r>
              <a:rPr lang="en-US" dirty="0"/>
              <a:t>These models can only show the values that system attributes take when the system is in balance i.e. representation of a system at a particular time or that may be used to represent the system in which time simply play no role.</a:t>
            </a:r>
          </a:p>
          <a:p>
            <a:pPr fontAlgn="base">
              <a:buFont typeface="Wingdings" panose="05000000000000000000" pitchFamily="2" charset="2"/>
              <a:buChar char="Ø"/>
            </a:pPr>
            <a:r>
              <a:rPr lang="en-US" dirty="0"/>
              <a:t>Static modeling includes class diagram and object diagrams and helps in depicting static constituents of the system.</a:t>
            </a:r>
          </a:p>
          <a:p>
            <a:pPr fontAlgn="base">
              <a:buFont typeface="Wingdings" panose="05000000000000000000" pitchFamily="2" charset="2"/>
              <a:buChar char="Ø"/>
            </a:pPr>
            <a:r>
              <a:rPr lang="en-US" dirty="0"/>
              <a:t>These models are rigid in nature as it is a time-independent view of the system.</a:t>
            </a:r>
          </a:p>
        </p:txBody>
      </p:sp>
    </p:spTree>
    <p:extLst>
      <p:ext uri="{BB962C8B-B14F-4D97-AF65-F5344CB8AC3E}">
        <p14:creationId xmlns:p14="http://schemas.microsoft.com/office/powerpoint/2010/main" val="8628040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Types of models </a:t>
            </a:r>
            <a:endParaRPr lang="en-US" dirty="0"/>
          </a:p>
        </p:txBody>
      </p:sp>
      <p:sp>
        <p:nvSpPr>
          <p:cNvPr id="3" name="Content Placeholder 2"/>
          <p:cNvSpPr>
            <a:spLocks noGrp="1"/>
          </p:cNvSpPr>
          <p:nvPr>
            <p:ph idx="1"/>
          </p:nvPr>
        </p:nvSpPr>
        <p:spPr>
          <a:xfrm>
            <a:off x="838200" y="1594132"/>
            <a:ext cx="10515600" cy="4528876"/>
          </a:xfrm>
        </p:spPr>
        <p:txBody>
          <a:bodyPr>
            <a:normAutofit/>
          </a:bodyPr>
          <a:lstStyle/>
          <a:p>
            <a:pPr marL="0" indent="0">
              <a:buNone/>
            </a:pPr>
            <a:r>
              <a:rPr lang="en-US" dirty="0"/>
              <a:t>4. Dynamic Model</a:t>
            </a:r>
            <a:endParaRPr lang="en-US" b="0" dirty="0" smtClean="0">
              <a:effectLst/>
            </a:endParaRPr>
          </a:p>
          <a:p>
            <a:pPr fontAlgn="base">
              <a:buFont typeface="Wingdings" panose="05000000000000000000" pitchFamily="2" charset="2"/>
              <a:buChar char="Ø"/>
            </a:pPr>
            <a:r>
              <a:rPr lang="en-US" dirty="0"/>
              <a:t>These models represents the system that evolves over time which is resulted from system activity.</a:t>
            </a:r>
          </a:p>
          <a:p>
            <a:pPr fontAlgn="base">
              <a:buFont typeface="Wingdings" panose="05000000000000000000" pitchFamily="2" charset="2"/>
              <a:buChar char="Ø"/>
            </a:pPr>
            <a:r>
              <a:rPr lang="en-US" dirty="0"/>
              <a:t>It is the runtime model of the system.</a:t>
            </a:r>
          </a:p>
          <a:p>
            <a:pPr fontAlgn="base">
              <a:buFont typeface="Wingdings" panose="05000000000000000000" pitchFamily="2" charset="2"/>
              <a:buChar char="Ø"/>
            </a:pPr>
            <a:r>
              <a:rPr lang="en-US" dirty="0"/>
              <a:t>These models consists of sequence of operations, state changes, activities, interactions and memory.</a:t>
            </a:r>
          </a:p>
          <a:p>
            <a:pPr fontAlgn="base">
              <a:buFont typeface="Wingdings" panose="05000000000000000000" pitchFamily="2" charset="2"/>
              <a:buChar char="Ø"/>
            </a:pPr>
            <a:r>
              <a:rPr lang="en-US" dirty="0"/>
              <a:t>Dynamic models are flexible as it can be changed in real time</a:t>
            </a:r>
            <a:r>
              <a:rPr lang="en-US" dirty="0" smtClean="0"/>
              <a:t>.</a:t>
            </a:r>
            <a:endParaRPr lang="en-US" dirty="0"/>
          </a:p>
        </p:txBody>
      </p:sp>
    </p:spTree>
    <p:extLst>
      <p:ext uri="{BB962C8B-B14F-4D97-AF65-F5344CB8AC3E}">
        <p14:creationId xmlns:p14="http://schemas.microsoft.com/office/powerpoint/2010/main" val="32609423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Types of models </a:t>
            </a:r>
            <a:endParaRPr lang="en-US" dirty="0"/>
          </a:p>
        </p:txBody>
      </p:sp>
      <p:sp>
        <p:nvSpPr>
          <p:cNvPr id="3" name="Content Placeholder 2"/>
          <p:cNvSpPr>
            <a:spLocks noGrp="1"/>
          </p:cNvSpPr>
          <p:nvPr>
            <p:ph idx="1"/>
          </p:nvPr>
        </p:nvSpPr>
        <p:spPr>
          <a:xfrm>
            <a:off x="838200" y="1594131"/>
            <a:ext cx="10515600" cy="4714071"/>
          </a:xfrm>
        </p:spPr>
        <p:txBody>
          <a:bodyPr>
            <a:normAutofit fontScale="70000" lnSpcReduction="20000"/>
          </a:bodyPr>
          <a:lstStyle/>
          <a:p>
            <a:pPr marL="0" indent="0">
              <a:buNone/>
            </a:pPr>
            <a:r>
              <a:rPr lang="en-US" dirty="0"/>
              <a:t>5. Numerical Model</a:t>
            </a:r>
            <a:endParaRPr lang="en-US" b="0" dirty="0" smtClean="0">
              <a:effectLst/>
            </a:endParaRPr>
          </a:p>
          <a:p>
            <a:pPr fontAlgn="base">
              <a:buFont typeface="Wingdings" panose="05000000000000000000" pitchFamily="2" charset="2"/>
              <a:buChar char="Ø"/>
            </a:pPr>
            <a:r>
              <a:rPr lang="en-US" dirty="0"/>
              <a:t>The model apply computational procedure to solve equations.</a:t>
            </a:r>
          </a:p>
          <a:p>
            <a:pPr fontAlgn="base">
              <a:buFont typeface="Wingdings" panose="05000000000000000000" pitchFamily="2" charset="2"/>
              <a:buChar char="Ø"/>
            </a:pPr>
            <a:r>
              <a:rPr lang="en-US" dirty="0"/>
              <a:t>Some analytical solution can become very complex requiring huge computing resources.</a:t>
            </a:r>
          </a:p>
          <a:p>
            <a:pPr fontAlgn="base">
              <a:buFont typeface="Wingdings" panose="05000000000000000000" pitchFamily="2" charset="2"/>
              <a:buChar char="Ø"/>
            </a:pPr>
            <a:r>
              <a:rPr lang="en-US" dirty="0"/>
              <a:t>In such case, the model must be studied using numerical model.</a:t>
            </a:r>
          </a:p>
          <a:p>
            <a:pPr fontAlgn="base">
              <a:buFont typeface="Wingdings" panose="05000000000000000000" pitchFamily="2" charset="2"/>
              <a:buChar char="Ø"/>
            </a:pPr>
            <a:r>
              <a:rPr lang="en-US" dirty="0"/>
              <a:t>Any assignment of numerical values that uses mathematical tables involves the numerical methods.</a:t>
            </a:r>
          </a:p>
          <a:p>
            <a:pPr marL="0" indent="0">
              <a:buNone/>
            </a:pPr>
            <a:endParaRPr lang="en-US" dirty="0" smtClean="0"/>
          </a:p>
          <a:p>
            <a:pPr marL="0" indent="0">
              <a:buNone/>
            </a:pPr>
            <a:r>
              <a:rPr lang="en-US" dirty="0" smtClean="0"/>
              <a:t>6</a:t>
            </a:r>
            <a:r>
              <a:rPr lang="en-US" dirty="0"/>
              <a:t>. Analytical Model</a:t>
            </a:r>
            <a:endParaRPr lang="en-US" b="0" dirty="0" smtClean="0">
              <a:effectLst/>
            </a:endParaRPr>
          </a:p>
          <a:p>
            <a:pPr fontAlgn="base">
              <a:buFont typeface="Wingdings" panose="05000000000000000000" pitchFamily="2" charset="2"/>
              <a:buChar char="Ø"/>
            </a:pPr>
            <a:r>
              <a:rPr lang="en-US" dirty="0"/>
              <a:t>These model used the deductive reasoning of mathematical theory to solve a problem.</a:t>
            </a:r>
          </a:p>
          <a:p>
            <a:pPr fontAlgn="base">
              <a:buFont typeface="Wingdings" panose="05000000000000000000" pitchFamily="2" charset="2"/>
              <a:buChar char="Ø"/>
            </a:pPr>
            <a:r>
              <a:rPr lang="en-US" dirty="0"/>
              <a:t>Once we build mathematical model, it must then be examined to see how it can be used to answer the question of interest about the system it is supposed to represent.</a:t>
            </a:r>
          </a:p>
          <a:p>
            <a:pPr fontAlgn="base">
              <a:buFont typeface="Wingdings" panose="05000000000000000000" pitchFamily="2" charset="2"/>
              <a:buChar char="Ø"/>
            </a:pPr>
            <a:r>
              <a:rPr lang="en-US" dirty="0"/>
              <a:t>If a model is simple enough, it may be possible to work with its relationship and quantities to get an exact analytical solutions.</a:t>
            </a:r>
          </a:p>
          <a:p>
            <a:pPr fontAlgn="base">
              <a:buFont typeface="Wingdings" panose="05000000000000000000" pitchFamily="2" charset="2"/>
              <a:buChar char="Ø"/>
            </a:pPr>
            <a:r>
              <a:rPr lang="en-US" dirty="0"/>
              <a:t>In practice, only a certain form of equation can be solved analytically.</a:t>
            </a:r>
          </a:p>
          <a:p>
            <a:pPr fontAlgn="base">
              <a:buFont typeface="Wingdings" panose="05000000000000000000" pitchFamily="2" charset="2"/>
              <a:buChar char="Ø"/>
            </a:pPr>
            <a:r>
              <a:rPr lang="en-US" dirty="0"/>
              <a:t>Example: Boolean </a:t>
            </a:r>
            <a:r>
              <a:rPr lang="en-US" dirty="0" smtClean="0"/>
              <a:t>Equation</a:t>
            </a:r>
            <a:endParaRPr lang="en-US" dirty="0"/>
          </a:p>
        </p:txBody>
      </p:sp>
    </p:spTree>
    <p:extLst>
      <p:ext uri="{BB962C8B-B14F-4D97-AF65-F5344CB8AC3E}">
        <p14:creationId xmlns:p14="http://schemas.microsoft.com/office/powerpoint/2010/main" val="342651464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Differences</a:t>
            </a:r>
            <a:r>
              <a:rPr lang="en-US" sz="3200" b="1" dirty="0"/>
              <a:t> </a:t>
            </a:r>
            <a:r>
              <a:rPr lang="en-US" sz="3200" dirty="0"/>
              <a:t>between static modeling and dynamic </a:t>
            </a:r>
            <a:r>
              <a:rPr lang="en-US" sz="3200" dirty="0" smtClean="0"/>
              <a:t>modeling</a:t>
            </a:r>
            <a:endParaRPr lang="en-US" sz="3200" dirty="0"/>
          </a:p>
        </p:txBody>
      </p:sp>
      <p:sp>
        <p:nvSpPr>
          <p:cNvPr id="3" name="Content Placeholder 2"/>
          <p:cNvSpPr>
            <a:spLocks noGrp="1"/>
          </p:cNvSpPr>
          <p:nvPr>
            <p:ph idx="1"/>
          </p:nvPr>
        </p:nvSpPr>
        <p:spPr>
          <a:xfrm>
            <a:off x="838200" y="1385786"/>
            <a:ext cx="10515600" cy="4949699"/>
          </a:xfrm>
        </p:spPr>
        <p:txBody>
          <a:bodyPr>
            <a:normAutofit fontScale="92500" lnSpcReduction="20000"/>
          </a:bodyPr>
          <a:lstStyle/>
          <a:p>
            <a:pPr fontAlgn="base"/>
            <a:r>
              <a:rPr lang="en-US" dirty="0"/>
              <a:t>The most notable difference between static and dynamic models of a system is that while a dynamic model refers to runtime model of the system, static model is the model of the system not during runtime.</a:t>
            </a:r>
          </a:p>
          <a:p>
            <a:pPr fontAlgn="base"/>
            <a:r>
              <a:rPr lang="en-US" dirty="0"/>
              <a:t> Another difference lies in the use of differential equations in dynamic model. Dynamic models keep changing with reference to time whereas static models are at equilibrium of in a steady state</a:t>
            </a:r>
            <a:r>
              <a:rPr lang="en-US" dirty="0" smtClean="0"/>
              <a:t>.</a:t>
            </a:r>
          </a:p>
          <a:p>
            <a:pPr fontAlgn="base"/>
            <a:r>
              <a:rPr lang="en-US" dirty="0"/>
              <a:t>Static modeling includes class diagram and object diagrams and help in depicting static constituents of the system.</a:t>
            </a:r>
          </a:p>
          <a:p>
            <a:pPr fontAlgn="base"/>
            <a:r>
              <a:rPr lang="en-US" dirty="0"/>
              <a:t> Dynamic modeling on the other hand consists of sequence of operations, state changes, activities, interactions and memory.</a:t>
            </a:r>
          </a:p>
          <a:p>
            <a:pPr fontAlgn="base"/>
            <a:r>
              <a:rPr lang="en-US" dirty="0"/>
              <a:t> Static modeling is more rigid than dynamic modeling as it is a time independent view of a system.  It cannot be changed in real time and this is why it is referred to as static modeling.</a:t>
            </a:r>
          </a:p>
          <a:p>
            <a:pPr fontAlgn="base"/>
            <a:r>
              <a:rPr lang="en-US" dirty="0"/>
              <a:t>Dynamic modeling is flexible as it can be changed in real time</a:t>
            </a:r>
            <a:r>
              <a:rPr lang="en-US" dirty="0" smtClean="0"/>
              <a:t>.</a:t>
            </a:r>
            <a:endParaRPr lang="en-US" dirty="0"/>
          </a:p>
        </p:txBody>
      </p:sp>
    </p:spTree>
    <p:extLst>
      <p:ext uri="{BB962C8B-B14F-4D97-AF65-F5344CB8AC3E}">
        <p14:creationId xmlns:p14="http://schemas.microsoft.com/office/powerpoint/2010/main" val="42906022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1.4 Model development life cycle </a:t>
            </a:r>
          </a:p>
        </p:txBody>
      </p:sp>
      <p:pic>
        <p:nvPicPr>
          <p:cNvPr id="4" name="Content Placeholder 3"/>
          <p:cNvPicPr>
            <a:picLocks noGrp="1" noChangeAspect="1"/>
          </p:cNvPicPr>
          <p:nvPr>
            <p:ph idx="1"/>
          </p:nvPr>
        </p:nvPicPr>
        <p:blipFill rotWithShape="1">
          <a:blip r:embed="rId2"/>
          <a:srcRect t="9663"/>
          <a:stretch/>
        </p:blipFill>
        <p:spPr>
          <a:xfrm>
            <a:off x="5274129" y="1690688"/>
            <a:ext cx="4214225" cy="4027300"/>
          </a:xfrm>
          <a:prstGeom prst="rect">
            <a:avLst/>
          </a:prstGeom>
        </p:spPr>
      </p:pic>
      <p:sp>
        <p:nvSpPr>
          <p:cNvPr id="5" name="TextBox 4"/>
          <p:cNvSpPr txBox="1"/>
          <p:nvPr/>
        </p:nvSpPr>
        <p:spPr>
          <a:xfrm>
            <a:off x="9483488" y="3279755"/>
            <a:ext cx="1901587" cy="646331"/>
          </a:xfrm>
          <a:prstGeom prst="rect">
            <a:avLst/>
          </a:prstGeom>
          <a:noFill/>
        </p:spPr>
        <p:txBody>
          <a:bodyPr wrap="square" rtlCol="0">
            <a:spAutoFit/>
          </a:bodyPr>
          <a:lstStyle/>
          <a:p>
            <a:r>
              <a:rPr lang="en-US" dirty="0" smtClean="0"/>
              <a:t>Fundamentally  an iterative process</a:t>
            </a:r>
            <a:endParaRPr lang="en-US" dirty="0"/>
          </a:p>
        </p:txBody>
      </p:sp>
      <p:sp>
        <p:nvSpPr>
          <p:cNvPr id="3" name="Rectangle 2"/>
          <p:cNvSpPr/>
          <p:nvPr/>
        </p:nvSpPr>
        <p:spPr>
          <a:xfrm>
            <a:off x="1064770" y="1575613"/>
            <a:ext cx="4209359" cy="3939540"/>
          </a:xfrm>
          <a:prstGeom prst="rect">
            <a:avLst/>
          </a:prstGeom>
        </p:spPr>
        <p:txBody>
          <a:bodyPr wrap="square">
            <a:spAutoFit/>
          </a:bodyPr>
          <a:lstStyle/>
          <a:p>
            <a:r>
              <a:rPr lang="en-US" sz="2500" dirty="0"/>
              <a:t>The </a:t>
            </a:r>
            <a:r>
              <a:rPr lang="en-US" sz="2500" b="1" dirty="0"/>
              <a:t>Model Development Life Cycle</a:t>
            </a:r>
            <a:r>
              <a:rPr lang="en-US" sz="2500" dirty="0"/>
              <a:t> is the step-by-step process used to create a simulation model of a real system.</a:t>
            </a:r>
          </a:p>
          <a:p>
            <a:r>
              <a:rPr lang="en-US" sz="2500" dirty="0"/>
              <a:t>It helps us:</a:t>
            </a:r>
          </a:p>
          <a:p>
            <a:pPr marL="342900" indent="-342900">
              <a:buFont typeface="Wingdings" panose="05000000000000000000" pitchFamily="2" charset="2"/>
              <a:buChar char="Ø"/>
            </a:pPr>
            <a:r>
              <a:rPr lang="en-US" sz="2500" dirty="0"/>
              <a:t>understand the system, </a:t>
            </a:r>
          </a:p>
          <a:p>
            <a:pPr marL="342900" indent="-342900">
              <a:buFont typeface="Wingdings" panose="05000000000000000000" pitchFamily="2" charset="2"/>
              <a:buChar char="Ø"/>
            </a:pPr>
            <a:r>
              <a:rPr lang="en-US" sz="2500" dirty="0"/>
              <a:t>build the model, </a:t>
            </a:r>
          </a:p>
          <a:p>
            <a:pPr marL="342900" indent="-342900">
              <a:buFont typeface="Wingdings" panose="05000000000000000000" pitchFamily="2" charset="2"/>
              <a:buChar char="Ø"/>
            </a:pPr>
            <a:r>
              <a:rPr lang="en-US" sz="2500" dirty="0"/>
              <a:t>and test how the system behaves.</a:t>
            </a:r>
          </a:p>
        </p:txBody>
      </p:sp>
    </p:spTree>
    <p:extLst>
      <p:ext uri="{BB962C8B-B14F-4D97-AF65-F5344CB8AC3E}">
        <p14:creationId xmlns:p14="http://schemas.microsoft.com/office/powerpoint/2010/main" val="2353811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1.4 Model development life cycle </a:t>
            </a:r>
          </a:p>
        </p:txBody>
      </p:sp>
      <p:sp>
        <p:nvSpPr>
          <p:cNvPr id="6" name="Content Placeholder 5"/>
          <p:cNvSpPr>
            <a:spLocks noGrp="1"/>
          </p:cNvSpPr>
          <p:nvPr>
            <p:ph idx="1"/>
          </p:nvPr>
        </p:nvSpPr>
        <p:spPr/>
        <p:txBody>
          <a:bodyPr>
            <a:normAutofit fontScale="85000" lnSpcReduction="20000"/>
          </a:bodyPr>
          <a:lstStyle/>
          <a:p>
            <a:pPr marL="0" indent="0">
              <a:buNone/>
            </a:pPr>
            <a:r>
              <a:rPr lang="en-US" dirty="0"/>
              <a:t>1. Define goals, objectives of Study</a:t>
            </a:r>
            <a:endParaRPr lang="en-US" b="0" dirty="0" smtClean="0">
              <a:effectLst/>
            </a:endParaRPr>
          </a:p>
          <a:p>
            <a:pPr fontAlgn="base">
              <a:buFont typeface="Wingdings" panose="05000000000000000000" pitchFamily="2" charset="2"/>
              <a:buChar char="Ø"/>
            </a:pPr>
            <a:r>
              <a:rPr lang="en-US" dirty="0"/>
              <a:t> </a:t>
            </a:r>
            <a:r>
              <a:rPr lang="en-US" dirty="0" smtClean="0"/>
              <a:t>Define </a:t>
            </a:r>
            <a:r>
              <a:rPr lang="en-US" dirty="0"/>
              <a:t>the objective of simulation of the system of your choice.</a:t>
            </a:r>
          </a:p>
          <a:p>
            <a:pPr marL="0" indent="0">
              <a:buNone/>
            </a:pPr>
            <a:r>
              <a:rPr lang="en-US" b="0" dirty="0" smtClean="0">
                <a:effectLst/>
              </a:rPr>
              <a:t/>
            </a:r>
            <a:br>
              <a:rPr lang="en-US" b="0" dirty="0" smtClean="0">
                <a:effectLst/>
              </a:rPr>
            </a:br>
            <a:r>
              <a:rPr lang="en-US" dirty="0"/>
              <a:t>2. Develop Conceptual Model</a:t>
            </a:r>
            <a:endParaRPr lang="en-US" b="0" dirty="0" smtClean="0">
              <a:effectLst/>
            </a:endParaRPr>
          </a:p>
          <a:p>
            <a:pPr fontAlgn="base">
              <a:buFont typeface="Wingdings" panose="05000000000000000000" pitchFamily="2" charset="2"/>
              <a:buChar char="Ø"/>
            </a:pPr>
            <a:r>
              <a:rPr lang="en-US" dirty="0"/>
              <a:t>Study the existing </a:t>
            </a:r>
            <a:r>
              <a:rPr lang="en-US" dirty="0" smtClean="0"/>
              <a:t>real system</a:t>
            </a:r>
            <a:r>
              <a:rPr lang="en-US" dirty="0"/>
              <a:t>, its entities and attributes and develop its conceptual model</a:t>
            </a:r>
            <a:r>
              <a:rPr lang="en-US" dirty="0" smtClean="0"/>
              <a:t>.</a:t>
            </a:r>
          </a:p>
          <a:p>
            <a:pPr marL="0" indent="0" fontAlgn="base">
              <a:buNone/>
            </a:pPr>
            <a:endParaRPr lang="en-US" dirty="0"/>
          </a:p>
          <a:p>
            <a:pPr marL="0" indent="0">
              <a:buNone/>
            </a:pPr>
            <a:r>
              <a:rPr lang="en-US" dirty="0"/>
              <a:t>3. Develop Specification of Model</a:t>
            </a:r>
            <a:endParaRPr lang="en-US" b="0" dirty="0" smtClean="0">
              <a:effectLst/>
            </a:endParaRPr>
          </a:p>
          <a:p>
            <a:pPr fontAlgn="base">
              <a:buFont typeface="Wingdings" panose="05000000000000000000" pitchFamily="2" charset="2"/>
              <a:buChar char="Ø"/>
            </a:pPr>
            <a:r>
              <a:rPr lang="en-US" dirty="0"/>
              <a:t>A more detailed information of the model including more specific attributes, required data, necessary algorithm, empirical data are collected.</a:t>
            </a:r>
          </a:p>
          <a:p>
            <a:pPr fontAlgn="base">
              <a:buFont typeface="Wingdings" panose="05000000000000000000" pitchFamily="2" charset="2"/>
              <a:buChar char="Ø"/>
            </a:pPr>
            <a:r>
              <a:rPr lang="en-US" dirty="0"/>
              <a:t>E.g. for traffic system: road geometry, signal timing, expected traffic demand, driver behavior, path planning for vehicles, etc</a:t>
            </a:r>
            <a:r>
              <a:rPr lang="en-US" dirty="0" smtClean="0"/>
              <a:t>.</a:t>
            </a:r>
            <a:r>
              <a:rPr lang="en-US" b="0" dirty="0" smtClean="0">
                <a:effectLst/>
              </a:rPr>
              <a:t/>
            </a:r>
            <a:br>
              <a:rPr lang="en-US" b="0" dirty="0" smtClean="0">
                <a:effectLst/>
              </a:rPr>
            </a:br>
            <a:endParaRPr lang="en-US" dirty="0"/>
          </a:p>
        </p:txBody>
      </p:sp>
    </p:spTree>
    <p:extLst>
      <p:ext uri="{BB962C8B-B14F-4D97-AF65-F5344CB8AC3E}">
        <p14:creationId xmlns:p14="http://schemas.microsoft.com/office/powerpoint/2010/main" val="22967524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1.4 Model development life cycle </a:t>
            </a:r>
          </a:p>
        </p:txBody>
      </p:sp>
      <p:sp>
        <p:nvSpPr>
          <p:cNvPr id="6" name="Content Placeholder 5"/>
          <p:cNvSpPr>
            <a:spLocks noGrp="1"/>
          </p:cNvSpPr>
          <p:nvPr>
            <p:ph idx="1"/>
          </p:nvPr>
        </p:nvSpPr>
        <p:spPr>
          <a:xfrm>
            <a:off x="838200" y="1504708"/>
            <a:ext cx="10515600" cy="4826643"/>
          </a:xfrm>
        </p:spPr>
        <p:txBody>
          <a:bodyPr>
            <a:normAutofit fontScale="92500" lnSpcReduction="20000"/>
          </a:bodyPr>
          <a:lstStyle/>
          <a:p>
            <a:pPr marL="0" indent="0">
              <a:buNone/>
            </a:pPr>
            <a:r>
              <a:rPr lang="en-US" dirty="0"/>
              <a:t>4. Develop Computational Model</a:t>
            </a:r>
            <a:endParaRPr lang="en-US" b="0" dirty="0" smtClean="0">
              <a:effectLst/>
            </a:endParaRPr>
          </a:p>
          <a:p>
            <a:pPr fontAlgn="base">
              <a:buFont typeface="Wingdings" panose="05000000000000000000" pitchFamily="2" charset="2"/>
              <a:buChar char="Ø"/>
            </a:pPr>
            <a:r>
              <a:rPr lang="en-US" dirty="0"/>
              <a:t>Executable simulation model follows software approach using either general purpose programming language, special purpose simulation language or simulation package.</a:t>
            </a:r>
          </a:p>
          <a:p>
            <a:pPr fontAlgn="base">
              <a:buFont typeface="Wingdings" panose="05000000000000000000" pitchFamily="2" charset="2"/>
              <a:buChar char="Ø"/>
            </a:pPr>
            <a:r>
              <a:rPr lang="en-US" dirty="0" smtClean="0"/>
              <a:t>While developing computational model, other non-functional requirement like performance, inter-operability with other tools/data are also considered.</a:t>
            </a:r>
          </a:p>
          <a:p>
            <a:pPr fontAlgn="base"/>
            <a:endParaRPr lang="en-US" dirty="0"/>
          </a:p>
          <a:p>
            <a:pPr marL="0" indent="0">
              <a:buNone/>
            </a:pPr>
            <a:r>
              <a:rPr lang="en-US" dirty="0"/>
              <a:t>5. Verification</a:t>
            </a:r>
            <a:endParaRPr lang="en-US" b="0" dirty="0" smtClean="0">
              <a:effectLst/>
            </a:endParaRPr>
          </a:p>
          <a:p>
            <a:pPr fontAlgn="base">
              <a:buFont typeface="Wingdings" panose="05000000000000000000" pitchFamily="2" charset="2"/>
              <a:buChar char="Ø"/>
            </a:pPr>
            <a:r>
              <a:rPr lang="en-US" dirty="0"/>
              <a:t>Deals with following question: “Did I build the model right?”</a:t>
            </a:r>
          </a:p>
          <a:p>
            <a:pPr fontAlgn="base">
              <a:buFont typeface="Wingdings" panose="05000000000000000000" pitchFamily="2" charset="2"/>
              <a:buChar char="Ø"/>
            </a:pPr>
            <a:r>
              <a:rPr lang="en-US" dirty="0"/>
              <a:t>Does the computational model match the specification model?</a:t>
            </a:r>
          </a:p>
          <a:p>
            <a:pPr fontAlgn="base">
              <a:buFont typeface="Wingdings" panose="05000000000000000000" pitchFamily="2" charset="2"/>
              <a:buChar char="Ø"/>
            </a:pPr>
            <a:r>
              <a:rPr lang="en-US" dirty="0"/>
              <a:t>Largely a software engineering activity (debugging</a:t>
            </a:r>
            <a:r>
              <a:rPr lang="en-US" dirty="0" smtClean="0"/>
              <a:t>)</a:t>
            </a:r>
            <a:r>
              <a:rPr lang="en-US" b="0" dirty="0" smtClean="0">
                <a:effectLst/>
              </a:rPr>
              <a:t/>
            </a:r>
            <a:br>
              <a:rPr lang="en-US" b="0" dirty="0" smtClean="0">
                <a:effectLst/>
              </a:rPr>
            </a:br>
            <a:endParaRPr lang="en-US" dirty="0"/>
          </a:p>
        </p:txBody>
      </p:sp>
    </p:spTree>
    <p:extLst>
      <p:ext uri="{BB962C8B-B14F-4D97-AF65-F5344CB8AC3E}">
        <p14:creationId xmlns:p14="http://schemas.microsoft.com/office/powerpoint/2010/main" val="5712755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1.4 Model development life cycle </a:t>
            </a:r>
          </a:p>
        </p:txBody>
      </p:sp>
      <p:sp>
        <p:nvSpPr>
          <p:cNvPr id="6" name="Content Placeholder 5"/>
          <p:cNvSpPr>
            <a:spLocks noGrp="1"/>
          </p:cNvSpPr>
          <p:nvPr>
            <p:ph idx="1"/>
          </p:nvPr>
        </p:nvSpPr>
        <p:spPr>
          <a:xfrm>
            <a:off x="838200" y="1504708"/>
            <a:ext cx="10515600" cy="4826643"/>
          </a:xfrm>
        </p:spPr>
        <p:txBody>
          <a:bodyPr>
            <a:normAutofit/>
          </a:bodyPr>
          <a:lstStyle/>
          <a:p>
            <a:pPr marL="0" indent="0">
              <a:buNone/>
            </a:pPr>
            <a:r>
              <a:rPr lang="en-US" dirty="0" smtClean="0"/>
              <a:t>6. Validation </a:t>
            </a:r>
            <a:endParaRPr lang="en-US" b="0" dirty="0" smtClean="0">
              <a:effectLst/>
            </a:endParaRPr>
          </a:p>
          <a:p>
            <a:pPr fontAlgn="base">
              <a:buFont typeface="Wingdings" panose="05000000000000000000" pitchFamily="2" charset="2"/>
              <a:buChar char="Ø"/>
            </a:pPr>
            <a:r>
              <a:rPr lang="en-US" dirty="0" smtClean="0"/>
              <a:t>Did I build the right model?</a:t>
            </a:r>
          </a:p>
          <a:p>
            <a:pPr fontAlgn="base">
              <a:buFont typeface="Wingdings" panose="05000000000000000000" pitchFamily="2" charset="2"/>
              <a:buChar char="Ø"/>
            </a:pPr>
            <a:r>
              <a:rPr lang="en-US" dirty="0" smtClean="0"/>
              <a:t>Does the computational model match the actual (or envisioned) system?</a:t>
            </a:r>
          </a:p>
          <a:p>
            <a:pPr fontAlgn="base">
              <a:buFont typeface="Wingdings" panose="05000000000000000000" pitchFamily="2" charset="2"/>
              <a:buChar char="Ø"/>
            </a:pPr>
            <a:r>
              <a:rPr lang="en-US" dirty="0" smtClean="0"/>
              <a:t>Typically, compare against: </a:t>
            </a:r>
          </a:p>
          <a:p>
            <a:pPr lvl="1" fontAlgn="base">
              <a:buFont typeface="Wingdings" panose="05000000000000000000" pitchFamily="2" charset="2"/>
              <a:buChar char="§"/>
            </a:pPr>
            <a:r>
              <a:rPr lang="en-US" dirty="0" smtClean="0"/>
              <a:t>measurement of actual system</a:t>
            </a:r>
          </a:p>
          <a:p>
            <a:pPr lvl="1" fontAlgn="base">
              <a:buFont typeface="Wingdings" panose="05000000000000000000" pitchFamily="2" charset="2"/>
              <a:buChar char="§"/>
            </a:pPr>
            <a:r>
              <a:rPr lang="en-US" dirty="0"/>
              <a:t>a</a:t>
            </a:r>
            <a:r>
              <a:rPr lang="en-US" dirty="0" smtClean="0"/>
              <a:t>n analytical (mathematical) model of the system.</a:t>
            </a:r>
          </a:p>
          <a:p>
            <a:pPr fontAlgn="base">
              <a:buFont typeface="Wingdings" panose="05000000000000000000" pitchFamily="2" charset="2"/>
              <a:buChar char="Ø"/>
            </a:pPr>
            <a:r>
              <a:rPr lang="en-US" dirty="0" smtClean="0"/>
              <a:t>By necessity always an incomplete activity.</a:t>
            </a:r>
            <a:endParaRPr lang="en-US" dirty="0"/>
          </a:p>
        </p:txBody>
      </p:sp>
    </p:spTree>
    <p:extLst>
      <p:ext uri="{BB962C8B-B14F-4D97-AF65-F5344CB8AC3E}">
        <p14:creationId xmlns:p14="http://schemas.microsoft.com/office/powerpoint/2010/main" val="3326617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1.5 Simulation and steps in simulation study </a:t>
            </a:r>
          </a:p>
        </p:txBody>
      </p:sp>
      <p:sp>
        <p:nvSpPr>
          <p:cNvPr id="3" name="Content Placeholder 2"/>
          <p:cNvSpPr>
            <a:spLocks noGrp="1"/>
          </p:cNvSpPr>
          <p:nvPr>
            <p:ph idx="1"/>
          </p:nvPr>
        </p:nvSpPr>
        <p:spPr>
          <a:xfrm>
            <a:off x="838200" y="1539433"/>
            <a:ext cx="10515600" cy="4637530"/>
          </a:xfrm>
        </p:spPr>
        <p:txBody>
          <a:bodyPr>
            <a:normAutofit fontScale="92500" lnSpcReduction="10000"/>
          </a:bodyPr>
          <a:lstStyle/>
          <a:p>
            <a:pPr marL="0" indent="0">
              <a:buNone/>
            </a:pPr>
            <a:r>
              <a:rPr lang="en-US" b="1" dirty="0"/>
              <a:t>Simulation</a:t>
            </a:r>
            <a:endParaRPr lang="en-US" b="0" dirty="0" smtClean="0">
              <a:effectLst/>
            </a:endParaRPr>
          </a:p>
          <a:p>
            <a:pPr fontAlgn="base"/>
            <a:r>
              <a:rPr lang="en-US" dirty="0"/>
              <a:t>A simulation of a system is the operation of a model of the system.</a:t>
            </a:r>
          </a:p>
          <a:p>
            <a:pPr fontAlgn="base"/>
            <a:r>
              <a:rPr lang="en-US" dirty="0"/>
              <a:t>It is an experiment in a computer where the real system is replaced by the execution of the program.</a:t>
            </a:r>
          </a:p>
          <a:p>
            <a:pPr fontAlgn="base"/>
            <a:r>
              <a:rPr lang="en-US" dirty="0"/>
              <a:t>It is a program that mimics (imitate) the behavior of the real system.</a:t>
            </a:r>
          </a:p>
          <a:p>
            <a:pPr fontAlgn="base"/>
            <a:r>
              <a:rPr lang="en-US" dirty="0"/>
              <a:t>Simulation is a tool to evaluate the performance of a system, existing or proposed, under different configurations of interest and over long periods of real time.</a:t>
            </a:r>
          </a:p>
          <a:p>
            <a:pPr fontAlgn="base"/>
            <a:r>
              <a:rPr lang="en-US" dirty="0"/>
              <a:t>A simulation is the manipulation of a model in such a way that it operates on time or space to compress it, thus enabling one to perceive the interactions that would not otherwise be apparent because of their separation in time or space.</a:t>
            </a:r>
          </a:p>
          <a:p>
            <a:pPr marL="0" indent="0">
              <a:buNone/>
            </a:pPr>
            <a:endParaRPr lang="en-US" dirty="0"/>
          </a:p>
        </p:txBody>
      </p:sp>
    </p:spTree>
    <p:extLst>
      <p:ext uri="{BB962C8B-B14F-4D97-AF65-F5344CB8AC3E}">
        <p14:creationId xmlns:p14="http://schemas.microsoft.com/office/powerpoint/2010/main" val="19009213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1.5 Simulation and steps in simulation study </a:t>
            </a:r>
          </a:p>
        </p:txBody>
      </p:sp>
      <p:sp>
        <p:nvSpPr>
          <p:cNvPr id="3" name="Content Placeholder 2"/>
          <p:cNvSpPr>
            <a:spLocks noGrp="1"/>
          </p:cNvSpPr>
          <p:nvPr>
            <p:ph idx="1"/>
          </p:nvPr>
        </p:nvSpPr>
        <p:spPr>
          <a:xfrm>
            <a:off x="838200" y="1539433"/>
            <a:ext cx="10515600" cy="4637530"/>
          </a:xfrm>
        </p:spPr>
        <p:txBody>
          <a:bodyPr>
            <a:normAutofit/>
          </a:bodyPr>
          <a:lstStyle/>
          <a:p>
            <a:pPr marL="0" indent="0">
              <a:buNone/>
            </a:pPr>
            <a:r>
              <a:rPr lang="en-US" b="1" dirty="0"/>
              <a:t>Simulation</a:t>
            </a:r>
            <a:endParaRPr lang="en-US" b="0" dirty="0" smtClean="0">
              <a:effectLst/>
            </a:endParaRPr>
          </a:p>
          <a:p>
            <a:pPr fontAlgn="base"/>
            <a:r>
              <a:rPr lang="en-US" dirty="0"/>
              <a:t>Simulation is used before an existing system is altered or a new system built, to reduce the chances of failure to meet specifications, to eliminate unforeseen bottlenecks, to prevent under or over-utilization of resources, and to optimize system performance</a:t>
            </a:r>
          </a:p>
          <a:p>
            <a:pPr fontAlgn="base"/>
            <a:r>
              <a:rPr lang="en-US" dirty="0"/>
              <a:t>Can be used to study simple models but should not use it if an analytical solution is available. Real power of simulation is in studying complex models.</a:t>
            </a:r>
          </a:p>
          <a:p>
            <a:pPr marL="0" indent="0">
              <a:buNone/>
            </a:pPr>
            <a:endParaRPr lang="en-US" dirty="0"/>
          </a:p>
        </p:txBody>
      </p:sp>
    </p:spTree>
    <p:extLst>
      <p:ext uri="{BB962C8B-B14F-4D97-AF65-F5344CB8AC3E}">
        <p14:creationId xmlns:p14="http://schemas.microsoft.com/office/powerpoint/2010/main" val="20837125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1.5 Simulation and steps in simulation study </a:t>
            </a:r>
          </a:p>
        </p:txBody>
      </p:sp>
      <p:sp>
        <p:nvSpPr>
          <p:cNvPr id="3" name="Content Placeholder 2"/>
          <p:cNvSpPr>
            <a:spLocks noGrp="1"/>
          </p:cNvSpPr>
          <p:nvPr>
            <p:ph idx="1"/>
          </p:nvPr>
        </p:nvSpPr>
        <p:spPr>
          <a:xfrm>
            <a:off x="838200" y="1539433"/>
            <a:ext cx="10515600" cy="4637530"/>
          </a:xfrm>
        </p:spPr>
        <p:txBody>
          <a:bodyPr>
            <a:normAutofit fontScale="92500" lnSpcReduction="20000"/>
          </a:bodyPr>
          <a:lstStyle/>
          <a:p>
            <a:pPr marL="0" indent="0">
              <a:buNone/>
            </a:pPr>
            <a:r>
              <a:rPr lang="en-US" b="1" dirty="0"/>
              <a:t>Why Simulate?</a:t>
            </a:r>
            <a:endParaRPr lang="en-US" b="0" dirty="0" smtClean="0">
              <a:effectLst/>
            </a:endParaRPr>
          </a:p>
          <a:p>
            <a:pPr fontAlgn="base"/>
            <a:r>
              <a:rPr lang="en-US" dirty="0"/>
              <a:t> It may be too difficult, hazardous, or expensive to observe a real, operational system</a:t>
            </a:r>
          </a:p>
          <a:p>
            <a:pPr fontAlgn="base"/>
            <a:r>
              <a:rPr lang="en-US" dirty="0"/>
              <a:t> Parts of the system may not be observable (e.g., internals of a silicon chip or biological system)</a:t>
            </a:r>
          </a:p>
          <a:p>
            <a:pPr marL="0" indent="0">
              <a:buNone/>
            </a:pPr>
            <a:endParaRPr lang="en-US" b="1" dirty="0" smtClean="0"/>
          </a:p>
          <a:p>
            <a:pPr marL="0" indent="0">
              <a:buNone/>
            </a:pPr>
            <a:r>
              <a:rPr lang="en-US" b="1" dirty="0" smtClean="0"/>
              <a:t>Uses </a:t>
            </a:r>
            <a:r>
              <a:rPr lang="en-US" b="1" dirty="0"/>
              <a:t>of simulations</a:t>
            </a:r>
            <a:endParaRPr lang="en-US" b="0" dirty="0" smtClean="0">
              <a:effectLst/>
            </a:endParaRPr>
          </a:p>
          <a:p>
            <a:pPr fontAlgn="base"/>
            <a:r>
              <a:rPr lang="en-US" dirty="0"/>
              <a:t> Analyze systems before they are built</a:t>
            </a:r>
          </a:p>
          <a:p>
            <a:pPr fontAlgn="base"/>
            <a:r>
              <a:rPr lang="en-US" dirty="0"/>
              <a:t> Reduce number of design mistakes</a:t>
            </a:r>
          </a:p>
          <a:p>
            <a:pPr fontAlgn="base"/>
            <a:r>
              <a:rPr lang="en-US" dirty="0"/>
              <a:t> Optimize design</a:t>
            </a:r>
          </a:p>
          <a:p>
            <a:pPr fontAlgn="base"/>
            <a:r>
              <a:rPr lang="en-US" dirty="0"/>
              <a:t> Analyze operational systems</a:t>
            </a:r>
          </a:p>
          <a:p>
            <a:pPr fontAlgn="base"/>
            <a:r>
              <a:rPr lang="en-US" dirty="0"/>
              <a:t> Create virtual environments for training, entertainment</a:t>
            </a:r>
          </a:p>
        </p:txBody>
      </p:sp>
    </p:spTree>
    <p:extLst>
      <p:ext uri="{BB962C8B-B14F-4D97-AF65-F5344CB8AC3E}">
        <p14:creationId xmlns:p14="http://schemas.microsoft.com/office/powerpoint/2010/main" val="33532405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24832"/>
          </a:xfrm>
        </p:spPr>
        <p:txBody>
          <a:bodyPr/>
          <a:lstStyle/>
          <a:p>
            <a:pPr marL="0" indent="0"/>
            <a:r>
              <a:rPr lang="en-US" dirty="0" smtClean="0"/>
              <a:t>1.5 Simulation and steps in simulation study </a:t>
            </a:r>
          </a:p>
        </p:txBody>
      </p:sp>
      <p:sp>
        <p:nvSpPr>
          <p:cNvPr id="3" name="Content Placeholder 2"/>
          <p:cNvSpPr>
            <a:spLocks noGrp="1"/>
          </p:cNvSpPr>
          <p:nvPr>
            <p:ph idx="1"/>
          </p:nvPr>
        </p:nvSpPr>
        <p:spPr>
          <a:xfrm>
            <a:off x="838200" y="1289958"/>
            <a:ext cx="10515600" cy="5208813"/>
          </a:xfrm>
        </p:spPr>
        <p:txBody>
          <a:bodyPr>
            <a:normAutofit fontScale="70000" lnSpcReduction="20000"/>
          </a:bodyPr>
          <a:lstStyle/>
          <a:p>
            <a:pPr marL="0" indent="0">
              <a:buNone/>
            </a:pPr>
            <a:r>
              <a:rPr lang="en-US" b="1" dirty="0"/>
              <a:t>When to use Simulation?</a:t>
            </a:r>
            <a:endParaRPr lang="en-US" b="0" dirty="0" smtClean="0">
              <a:effectLst/>
            </a:endParaRPr>
          </a:p>
          <a:p>
            <a:pPr marL="0" indent="0" fontAlgn="base">
              <a:buNone/>
            </a:pPr>
            <a:r>
              <a:rPr lang="en-US" dirty="0"/>
              <a:t>Over the years tremendous developments have taken place in computing capabilities and in special purpose simulation languages, and in simulation methodologies.  The use of simulation techniques has also become widespread.  Following are some of the purposes for which simulation may be used.</a:t>
            </a:r>
          </a:p>
          <a:p>
            <a:pPr marL="514350" indent="-514350">
              <a:buFont typeface="+mj-lt"/>
              <a:buAutoNum type="arabicPeriod"/>
            </a:pPr>
            <a:r>
              <a:rPr lang="en-US" dirty="0" smtClean="0"/>
              <a:t>Simulation </a:t>
            </a:r>
            <a:r>
              <a:rPr lang="en-US" dirty="0"/>
              <a:t>is very useful for experiments with the internal interactions of a complex system, or of a subsystem within a complex system</a:t>
            </a:r>
            <a:r>
              <a:rPr lang="en-US" dirty="0" smtClean="0"/>
              <a:t>.</a:t>
            </a:r>
            <a:endParaRPr lang="en-US" dirty="0"/>
          </a:p>
          <a:p>
            <a:pPr marL="514350" indent="-514350">
              <a:buFont typeface="+mj-lt"/>
              <a:buAutoNum type="arabicPeriod"/>
            </a:pPr>
            <a:r>
              <a:rPr lang="en-US" dirty="0" smtClean="0"/>
              <a:t>Simulation </a:t>
            </a:r>
            <a:r>
              <a:rPr lang="en-US" dirty="0"/>
              <a:t>can be employed to experiment with new designs and policies, before implementing</a:t>
            </a:r>
            <a:r>
              <a:rPr lang="en-US" dirty="0" smtClean="0"/>
              <a:t>.</a:t>
            </a:r>
            <a:endParaRPr lang="en-US" dirty="0"/>
          </a:p>
          <a:p>
            <a:pPr marL="514350" indent="-514350">
              <a:buFont typeface="+mj-lt"/>
              <a:buAutoNum type="arabicPeriod"/>
            </a:pPr>
            <a:r>
              <a:rPr lang="en-US" dirty="0" smtClean="0"/>
              <a:t>Simulation </a:t>
            </a:r>
            <a:r>
              <a:rPr lang="en-US" dirty="0"/>
              <a:t>can be used to verify the results obtained by analytical methods and reinforce the analytical techniques.</a:t>
            </a:r>
            <a:endParaRPr lang="en-US" b="0" dirty="0" smtClean="0">
              <a:effectLst/>
            </a:endParaRPr>
          </a:p>
          <a:p>
            <a:pPr marL="514350" indent="-514350">
              <a:buFont typeface="+mj-lt"/>
              <a:buAutoNum type="arabicPeriod"/>
            </a:pPr>
            <a:r>
              <a:rPr lang="en-US" dirty="0" smtClean="0"/>
              <a:t>Simulation </a:t>
            </a:r>
            <a:r>
              <a:rPr lang="en-US" dirty="0"/>
              <a:t>is very useful in determining the influence of changes in input variables on the output of the </a:t>
            </a:r>
            <a:r>
              <a:rPr lang="en-US" dirty="0" smtClean="0"/>
              <a:t>system.</a:t>
            </a:r>
            <a:endParaRPr lang="en-US" dirty="0"/>
          </a:p>
          <a:p>
            <a:pPr marL="514350" indent="-514350">
              <a:buFont typeface="+mj-lt"/>
              <a:buAutoNum type="arabicPeriod"/>
            </a:pPr>
            <a:r>
              <a:rPr lang="en-US" dirty="0" smtClean="0"/>
              <a:t>Simulation </a:t>
            </a:r>
            <a:r>
              <a:rPr lang="en-US" dirty="0"/>
              <a:t>helps in suggesting modifications in the system under investigation for its optimal performance.</a:t>
            </a:r>
            <a:endParaRPr lang="en-US" b="0" dirty="0" smtClean="0">
              <a:effectLst/>
            </a:endParaRPr>
          </a:p>
          <a:p>
            <a:pPr marL="514350" indent="-514350">
              <a:buFont typeface="+mj-lt"/>
              <a:buAutoNum type="arabicPeriod"/>
            </a:pPr>
            <a:r>
              <a:rPr lang="en-US" dirty="0" smtClean="0"/>
              <a:t>By </a:t>
            </a:r>
            <a:r>
              <a:rPr lang="en-US" dirty="0"/>
              <a:t>simulating different capabilities for a machine, requirement can be </a:t>
            </a:r>
            <a:r>
              <a:rPr lang="en-US" dirty="0" smtClean="0"/>
              <a:t>determined.</a:t>
            </a:r>
          </a:p>
          <a:p>
            <a:pPr marL="514350" indent="-514350">
              <a:buFont typeface="+mj-lt"/>
              <a:buAutoNum type="arabicPeriod"/>
            </a:pPr>
            <a:r>
              <a:rPr lang="en-US" dirty="0" smtClean="0"/>
              <a:t>By </a:t>
            </a:r>
            <a:r>
              <a:rPr lang="en-US" dirty="0"/>
              <a:t>changing simulation inputs and observing the result outputs valuable information can be </a:t>
            </a:r>
            <a:r>
              <a:rPr lang="en-US" dirty="0" smtClean="0"/>
              <a:t>analyzed</a:t>
            </a:r>
            <a:r>
              <a:rPr lang="en-US" dirty="0"/>
              <a:t>.</a:t>
            </a:r>
            <a:endParaRPr lang="en-US" b="0" dirty="0" smtClean="0">
              <a:effectLst/>
            </a:endParaRPr>
          </a:p>
        </p:txBody>
      </p:sp>
    </p:spTree>
    <p:extLst>
      <p:ext uri="{BB962C8B-B14F-4D97-AF65-F5344CB8AC3E}">
        <p14:creationId xmlns:p14="http://schemas.microsoft.com/office/powerpoint/2010/main" val="12441189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smtClean="0"/>
              <a:t>1.5 Simulation and steps in simulation study </a:t>
            </a:r>
          </a:p>
        </p:txBody>
      </p:sp>
      <p:sp>
        <p:nvSpPr>
          <p:cNvPr id="3" name="Content Placeholder 2"/>
          <p:cNvSpPr>
            <a:spLocks noGrp="1"/>
          </p:cNvSpPr>
          <p:nvPr>
            <p:ph idx="1"/>
          </p:nvPr>
        </p:nvSpPr>
        <p:spPr>
          <a:xfrm>
            <a:off x="838200" y="1539433"/>
            <a:ext cx="10515600" cy="4637530"/>
          </a:xfrm>
        </p:spPr>
        <p:txBody>
          <a:bodyPr>
            <a:normAutofit/>
          </a:bodyPr>
          <a:lstStyle/>
          <a:p>
            <a:pPr marL="0" indent="0">
              <a:buNone/>
            </a:pPr>
            <a:r>
              <a:rPr lang="en-US" b="1" dirty="0"/>
              <a:t>Simulation not as an Appropriate </a:t>
            </a:r>
            <a:r>
              <a:rPr lang="en-US" b="1" dirty="0" smtClean="0"/>
              <a:t>Tool</a:t>
            </a:r>
            <a:endParaRPr lang="en-US" b="1" dirty="0"/>
          </a:p>
          <a:p>
            <a:pPr marL="0" indent="0" fontAlgn="base">
              <a:buNone/>
            </a:pPr>
            <a:r>
              <a:rPr lang="en-US" dirty="0"/>
              <a:t>Simulation should not be used when the problem can be solve by using common sense. Example: Customer care</a:t>
            </a:r>
          </a:p>
          <a:p>
            <a:pPr marL="0" indent="0" fontAlgn="base">
              <a:buNone/>
            </a:pPr>
            <a:r>
              <a:rPr lang="en-US" dirty="0"/>
              <a:t>It should not be used:</a:t>
            </a:r>
          </a:p>
          <a:p>
            <a:pPr fontAlgn="base">
              <a:buFont typeface="Wingdings" panose="05000000000000000000" pitchFamily="2" charset="2"/>
              <a:buChar char="Ø"/>
            </a:pPr>
            <a:r>
              <a:rPr lang="en-US" dirty="0"/>
              <a:t>If the system problem can be solved analytically.</a:t>
            </a:r>
          </a:p>
          <a:p>
            <a:pPr fontAlgn="base">
              <a:buFont typeface="Wingdings" panose="05000000000000000000" pitchFamily="2" charset="2"/>
              <a:buChar char="Ø"/>
            </a:pPr>
            <a:r>
              <a:rPr lang="en-US" dirty="0"/>
              <a:t>If it is easier to perform direct experiment.</a:t>
            </a:r>
          </a:p>
          <a:p>
            <a:pPr fontAlgn="base">
              <a:buFont typeface="Wingdings" panose="05000000000000000000" pitchFamily="2" charset="2"/>
              <a:buChar char="Ø"/>
            </a:pPr>
            <a:r>
              <a:rPr lang="en-US" dirty="0"/>
              <a:t>If the resource or time is not available.</a:t>
            </a:r>
          </a:p>
          <a:p>
            <a:pPr fontAlgn="base">
              <a:buFont typeface="Wingdings" panose="05000000000000000000" pitchFamily="2" charset="2"/>
              <a:buChar char="Ø"/>
            </a:pPr>
            <a:r>
              <a:rPr lang="en-US" dirty="0"/>
              <a:t>If there is unavailability of verification and validation.</a:t>
            </a:r>
          </a:p>
          <a:p>
            <a:pPr fontAlgn="base">
              <a:buFont typeface="Wingdings" panose="05000000000000000000" pitchFamily="2" charset="2"/>
              <a:buChar char="Ø"/>
            </a:pPr>
            <a:r>
              <a:rPr lang="en-US" dirty="0"/>
              <a:t>If no data is available.</a:t>
            </a:r>
          </a:p>
          <a:p>
            <a:endParaRPr lang="en-US" b="1" dirty="0" smtClean="0">
              <a:effectLst/>
            </a:endParaRPr>
          </a:p>
        </p:txBody>
      </p:sp>
    </p:spTree>
    <p:extLst>
      <p:ext uri="{BB962C8B-B14F-4D97-AF65-F5344CB8AC3E}">
        <p14:creationId xmlns:p14="http://schemas.microsoft.com/office/powerpoint/2010/main" val="27995437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61791"/>
          </a:xfrm>
        </p:spPr>
        <p:txBody>
          <a:bodyPr/>
          <a:lstStyle/>
          <a:p>
            <a:pPr marL="0" indent="0"/>
            <a:r>
              <a:rPr lang="en-US" dirty="0" smtClean="0"/>
              <a:t>1.5 Simulation and steps in simulation study </a:t>
            </a:r>
          </a:p>
        </p:txBody>
      </p:sp>
      <p:pic>
        <p:nvPicPr>
          <p:cNvPr id="4" name="Content Placeholder 3"/>
          <p:cNvPicPr>
            <a:picLocks noGrp="1" noChangeAspect="1"/>
          </p:cNvPicPr>
          <p:nvPr>
            <p:ph idx="1"/>
          </p:nvPr>
        </p:nvPicPr>
        <p:blipFill>
          <a:blip r:embed="rId2"/>
          <a:stretch>
            <a:fillRect/>
          </a:stretch>
        </p:blipFill>
        <p:spPr>
          <a:xfrm>
            <a:off x="1807223" y="1854480"/>
            <a:ext cx="8230313" cy="4069433"/>
          </a:xfrm>
          <a:prstGeom prst="rect">
            <a:avLst/>
          </a:prstGeom>
        </p:spPr>
      </p:pic>
      <p:sp>
        <p:nvSpPr>
          <p:cNvPr id="5" name="Rectangle 4"/>
          <p:cNvSpPr/>
          <p:nvPr/>
        </p:nvSpPr>
        <p:spPr>
          <a:xfrm>
            <a:off x="1161287" y="1340643"/>
            <a:ext cx="2901692" cy="400110"/>
          </a:xfrm>
          <a:prstGeom prst="rect">
            <a:avLst/>
          </a:prstGeom>
        </p:spPr>
        <p:txBody>
          <a:bodyPr wrap="none">
            <a:spAutoFit/>
          </a:bodyPr>
          <a:lstStyle/>
          <a:p>
            <a:r>
              <a:rPr lang="en-US" sz="2000" b="1" dirty="0"/>
              <a:t>S</a:t>
            </a:r>
            <a:r>
              <a:rPr lang="en-US" sz="2000" b="1" dirty="0" smtClean="0"/>
              <a:t>teps in simulation study </a:t>
            </a:r>
            <a:endParaRPr lang="en-US" sz="2000" b="1" dirty="0"/>
          </a:p>
        </p:txBody>
      </p:sp>
    </p:spTree>
    <p:extLst>
      <p:ext uri="{BB962C8B-B14F-4D97-AF65-F5344CB8AC3E}">
        <p14:creationId xmlns:p14="http://schemas.microsoft.com/office/powerpoint/2010/main" val="37872146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4941"/>
          </a:xfrm>
        </p:spPr>
        <p:txBody>
          <a:bodyPr/>
          <a:lstStyle/>
          <a:p>
            <a:r>
              <a:rPr lang="en-US" dirty="0" smtClean="0"/>
              <a:t>1.5 Simulation and steps in simulation study </a:t>
            </a:r>
            <a:endParaRPr lang="en-US" dirty="0"/>
          </a:p>
        </p:txBody>
      </p:sp>
      <p:sp>
        <p:nvSpPr>
          <p:cNvPr id="3" name="Content Placeholder 2"/>
          <p:cNvSpPr>
            <a:spLocks noGrp="1"/>
          </p:cNvSpPr>
          <p:nvPr>
            <p:ph idx="1"/>
          </p:nvPr>
        </p:nvSpPr>
        <p:spPr>
          <a:xfrm>
            <a:off x="757177" y="1446835"/>
            <a:ext cx="10515600" cy="4826643"/>
          </a:xfrm>
        </p:spPr>
        <p:txBody>
          <a:bodyPr>
            <a:normAutofit fontScale="70000" lnSpcReduction="20000"/>
          </a:bodyPr>
          <a:lstStyle/>
          <a:p>
            <a:pPr marL="0" indent="0">
              <a:buNone/>
            </a:pPr>
            <a:r>
              <a:rPr lang="en-US" dirty="0"/>
              <a:t>Simulation is a very general method of studying problems. No formal procedure can be given for showing how a simulation study will proceed. Above figure shows the general steps involved.</a:t>
            </a:r>
            <a:endParaRPr lang="en-US" b="0" dirty="0" smtClean="0">
              <a:effectLst/>
            </a:endParaRPr>
          </a:p>
          <a:p>
            <a:pPr marL="514350" indent="-514350" fontAlgn="base">
              <a:buFont typeface="+mj-lt"/>
              <a:buAutoNum type="arabicPeriod"/>
            </a:pPr>
            <a:r>
              <a:rPr lang="en-US" dirty="0"/>
              <a:t>Problem Formulation</a:t>
            </a:r>
          </a:p>
          <a:p>
            <a:pPr fontAlgn="base">
              <a:buFont typeface="Wingdings" panose="05000000000000000000" pitchFamily="2" charset="2"/>
              <a:buChar char="Ø"/>
            </a:pPr>
            <a:r>
              <a:rPr lang="en-US" dirty="0"/>
              <a:t>Initial step is to describe the problem to be solved. It should be a clear statement of what questions are being asked and what measurements need to be taken in order to answer these questions</a:t>
            </a:r>
            <a:r>
              <a:rPr lang="en-US" dirty="0" smtClean="0"/>
              <a:t>.</a:t>
            </a:r>
          </a:p>
          <a:p>
            <a:pPr marL="0" indent="0" fontAlgn="base">
              <a:buNone/>
            </a:pPr>
            <a:endParaRPr lang="en-US" sz="1700" dirty="0"/>
          </a:p>
          <a:p>
            <a:pPr marL="514350" indent="-514350">
              <a:buFont typeface="+mj-lt"/>
              <a:buAutoNum type="arabicPeriod" startAt="2"/>
            </a:pPr>
            <a:r>
              <a:rPr lang="en-US" dirty="0" smtClean="0"/>
              <a:t>Setting </a:t>
            </a:r>
            <a:r>
              <a:rPr lang="en-US" dirty="0"/>
              <a:t>of Objectives</a:t>
            </a:r>
            <a:endParaRPr lang="en-US" b="0" dirty="0" smtClean="0">
              <a:effectLst/>
            </a:endParaRPr>
          </a:p>
          <a:p>
            <a:pPr fontAlgn="base">
              <a:buFont typeface="Wingdings" panose="05000000000000000000" pitchFamily="2" charset="2"/>
              <a:buChar char="Ø"/>
            </a:pPr>
            <a:r>
              <a:rPr lang="en-US" dirty="0"/>
              <a:t>The objectives indicate the questions to be answered by simulation. Assuming that the simulation is appropriate, the overall project plan should include a statement of the alternative system to be considered, the cost of study, number of days required, etc</a:t>
            </a:r>
            <a:r>
              <a:rPr lang="en-US" dirty="0" smtClean="0"/>
              <a:t>.</a:t>
            </a:r>
          </a:p>
          <a:p>
            <a:pPr marL="0" indent="0" fontAlgn="base">
              <a:buNone/>
            </a:pPr>
            <a:endParaRPr lang="en-US" sz="1700" dirty="0"/>
          </a:p>
          <a:p>
            <a:pPr marL="514350" indent="-514350">
              <a:buFont typeface="+mj-lt"/>
              <a:buAutoNum type="arabicPeriod" startAt="3"/>
            </a:pPr>
            <a:r>
              <a:rPr lang="en-US" dirty="0" smtClean="0"/>
              <a:t> </a:t>
            </a:r>
            <a:r>
              <a:rPr lang="en-US" dirty="0"/>
              <a:t>Model Conceptualization</a:t>
            </a:r>
            <a:endParaRPr lang="en-US" b="0" dirty="0" smtClean="0">
              <a:effectLst/>
            </a:endParaRPr>
          </a:p>
          <a:p>
            <a:pPr fontAlgn="base">
              <a:buFont typeface="Wingdings" panose="05000000000000000000" pitchFamily="2" charset="2"/>
              <a:buChar char="Ø"/>
            </a:pPr>
            <a:r>
              <a:rPr lang="en-US" dirty="0"/>
              <a:t>It is best to start with a simple model and build towards greater complexity. The art of modeling is enhanced by an ability to abstract the essential features of a problem, to select and modify basic assumptions that characterize the system and then to enrich and elaborate the model until an useful approximations  results</a:t>
            </a:r>
            <a:r>
              <a:rPr lang="en-US" dirty="0" smtClean="0"/>
              <a:t>.</a:t>
            </a:r>
            <a:endParaRPr lang="en-US" dirty="0"/>
          </a:p>
        </p:txBody>
      </p:sp>
    </p:spTree>
    <p:extLst>
      <p:ext uri="{BB962C8B-B14F-4D97-AF65-F5344CB8AC3E}">
        <p14:creationId xmlns:p14="http://schemas.microsoft.com/office/powerpoint/2010/main" val="369057996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4941"/>
          </a:xfrm>
        </p:spPr>
        <p:txBody>
          <a:bodyPr/>
          <a:lstStyle/>
          <a:p>
            <a:r>
              <a:rPr lang="en-US" dirty="0" smtClean="0"/>
              <a:t>1.5 Simulation and steps in simulation study </a:t>
            </a:r>
            <a:endParaRPr lang="en-US" dirty="0"/>
          </a:p>
        </p:txBody>
      </p:sp>
      <p:sp>
        <p:nvSpPr>
          <p:cNvPr id="3" name="Content Placeholder 2"/>
          <p:cNvSpPr>
            <a:spLocks noGrp="1"/>
          </p:cNvSpPr>
          <p:nvPr>
            <p:ph idx="1"/>
          </p:nvPr>
        </p:nvSpPr>
        <p:spPr>
          <a:xfrm>
            <a:off x="757177" y="1446835"/>
            <a:ext cx="10515600" cy="4826643"/>
          </a:xfrm>
        </p:spPr>
        <p:txBody>
          <a:bodyPr>
            <a:normAutofit fontScale="85000" lnSpcReduction="20000"/>
          </a:bodyPr>
          <a:lstStyle/>
          <a:p>
            <a:pPr marL="0" indent="0">
              <a:buNone/>
            </a:pPr>
            <a:r>
              <a:rPr lang="en-US" dirty="0"/>
              <a:t>4. Data Collection</a:t>
            </a:r>
            <a:endParaRPr lang="en-US" b="0" dirty="0" smtClean="0">
              <a:effectLst/>
            </a:endParaRPr>
          </a:p>
          <a:p>
            <a:pPr fontAlgn="base">
              <a:buFont typeface="Wingdings" panose="05000000000000000000" pitchFamily="2" charset="2"/>
              <a:buChar char="Ø"/>
            </a:pPr>
            <a:r>
              <a:rPr lang="en-US" dirty="0"/>
              <a:t>Begins usually together with the early stages of model building. As the complexity of model changes, the required data elements can also change.</a:t>
            </a:r>
          </a:p>
          <a:p>
            <a:pPr marL="0" indent="0">
              <a:buNone/>
            </a:pPr>
            <a:endParaRPr lang="en-US" dirty="0" smtClean="0"/>
          </a:p>
          <a:p>
            <a:pPr marL="0" indent="0">
              <a:buNone/>
            </a:pPr>
            <a:r>
              <a:rPr lang="en-US" dirty="0" smtClean="0"/>
              <a:t>5</a:t>
            </a:r>
            <a:r>
              <a:rPr lang="en-US" dirty="0"/>
              <a:t>. Model Translation</a:t>
            </a:r>
            <a:endParaRPr lang="en-US" b="0" dirty="0" smtClean="0">
              <a:effectLst/>
            </a:endParaRPr>
          </a:p>
          <a:p>
            <a:pPr fontAlgn="base">
              <a:buFont typeface="Wingdings" panose="05000000000000000000" pitchFamily="2" charset="2"/>
              <a:buChar char="Ø"/>
            </a:pPr>
            <a:r>
              <a:rPr lang="en-US" dirty="0"/>
              <a:t>Most real world system result in models that require a great deal of information storage and computation, so the model must be entered into a computer recognizable format. The modeler must decide whether to program the model in a simulation language or to use special-purpose simulation software.</a:t>
            </a:r>
          </a:p>
          <a:p>
            <a:pPr marL="0" indent="0">
              <a:buNone/>
            </a:pPr>
            <a:endParaRPr lang="en-US" dirty="0" smtClean="0"/>
          </a:p>
          <a:p>
            <a:pPr marL="0" indent="0">
              <a:buNone/>
            </a:pPr>
            <a:r>
              <a:rPr lang="en-US" dirty="0" smtClean="0"/>
              <a:t>6</a:t>
            </a:r>
            <a:r>
              <a:rPr lang="en-US" dirty="0"/>
              <a:t>. Verified?</a:t>
            </a:r>
            <a:endParaRPr lang="en-US" b="0" dirty="0" smtClean="0">
              <a:effectLst/>
            </a:endParaRPr>
          </a:p>
          <a:p>
            <a:pPr fontAlgn="base">
              <a:buFont typeface="Wingdings" panose="05000000000000000000" pitchFamily="2" charset="2"/>
              <a:buChar char="Ø"/>
            </a:pPr>
            <a:r>
              <a:rPr lang="en-US" dirty="0"/>
              <a:t>Is this computer program performing properly? With complex models, it is difficult to translate a model successfully without a good deal of debugging. If the input parameters and logical structure of the model are correctly represented, verification has been completed</a:t>
            </a:r>
            <a:r>
              <a:rPr lang="en-US" dirty="0" smtClean="0"/>
              <a:t>.</a:t>
            </a:r>
            <a:endParaRPr lang="en-US" dirty="0"/>
          </a:p>
        </p:txBody>
      </p:sp>
    </p:spTree>
    <p:extLst>
      <p:ext uri="{BB962C8B-B14F-4D97-AF65-F5344CB8AC3E}">
        <p14:creationId xmlns:p14="http://schemas.microsoft.com/office/powerpoint/2010/main" val="377822766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4941"/>
          </a:xfrm>
        </p:spPr>
        <p:txBody>
          <a:bodyPr/>
          <a:lstStyle/>
          <a:p>
            <a:r>
              <a:rPr lang="en-US" dirty="0" smtClean="0"/>
              <a:t>1.5 Simulation and steps in simulation study </a:t>
            </a:r>
            <a:endParaRPr lang="en-US" dirty="0"/>
          </a:p>
        </p:txBody>
      </p:sp>
      <p:sp>
        <p:nvSpPr>
          <p:cNvPr id="3" name="Content Placeholder 2"/>
          <p:cNvSpPr>
            <a:spLocks noGrp="1"/>
          </p:cNvSpPr>
          <p:nvPr>
            <p:ph idx="1"/>
          </p:nvPr>
        </p:nvSpPr>
        <p:spPr>
          <a:xfrm>
            <a:off x="757177" y="1446835"/>
            <a:ext cx="10515600" cy="4826643"/>
          </a:xfrm>
        </p:spPr>
        <p:txBody>
          <a:bodyPr>
            <a:normAutofit fontScale="92500" lnSpcReduction="10000"/>
          </a:bodyPr>
          <a:lstStyle/>
          <a:p>
            <a:pPr marL="0" indent="0">
              <a:buNone/>
            </a:pPr>
            <a:r>
              <a:rPr lang="en-US" dirty="0"/>
              <a:t>7. Validated?</a:t>
            </a:r>
            <a:endParaRPr lang="en-US" b="0" dirty="0" smtClean="0">
              <a:effectLst/>
            </a:endParaRPr>
          </a:p>
          <a:p>
            <a:pPr fontAlgn="base">
              <a:buFont typeface="Wingdings" panose="05000000000000000000" pitchFamily="2" charset="2"/>
              <a:buChar char="Ø"/>
            </a:pPr>
            <a:r>
              <a:rPr lang="en-US" dirty="0"/>
              <a:t>It is usually achieved through the calibration of the model.</a:t>
            </a:r>
          </a:p>
          <a:p>
            <a:pPr marL="0" indent="0">
              <a:buNone/>
            </a:pPr>
            <a:endParaRPr lang="en-US" dirty="0" smtClean="0"/>
          </a:p>
          <a:p>
            <a:pPr marL="0" indent="0">
              <a:buNone/>
            </a:pPr>
            <a:r>
              <a:rPr lang="en-US" dirty="0" smtClean="0"/>
              <a:t>8</a:t>
            </a:r>
            <a:r>
              <a:rPr lang="en-US" dirty="0"/>
              <a:t>. Experimental Design</a:t>
            </a:r>
            <a:endParaRPr lang="en-US" b="0" dirty="0" smtClean="0">
              <a:effectLst/>
            </a:endParaRPr>
          </a:p>
          <a:p>
            <a:pPr fontAlgn="base">
              <a:buFont typeface="Wingdings" panose="05000000000000000000" pitchFamily="2" charset="2"/>
              <a:buChar char="Ø"/>
            </a:pPr>
            <a:r>
              <a:rPr lang="en-US" dirty="0"/>
              <a:t>The alternatives that are to be simulated must be determined. The decision concerning which alternatives to simulate will be a function of runs that have been completed and analyzed.</a:t>
            </a:r>
          </a:p>
          <a:p>
            <a:pPr marL="0" indent="0">
              <a:buNone/>
            </a:pPr>
            <a:endParaRPr lang="en-US" dirty="0" smtClean="0"/>
          </a:p>
          <a:p>
            <a:pPr marL="0" indent="0">
              <a:buNone/>
            </a:pPr>
            <a:r>
              <a:rPr lang="en-US" dirty="0" smtClean="0"/>
              <a:t>9</a:t>
            </a:r>
            <a:r>
              <a:rPr lang="en-US" dirty="0"/>
              <a:t>. Production Runs and Analysis</a:t>
            </a:r>
            <a:endParaRPr lang="en-US" b="0" dirty="0" smtClean="0">
              <a:effectLst/>
            </a:endParaRPr>
          </a:p>
          <a:p>
            <a:pPr fontAlgn="base">
              <a:buFont typeface="Wingdings" panose="05000000000000000000" pitchFamily="2" charset="2"/>
              <a:buChar char="Ø"/>
            </a:pPr>
            <a:r>
              <a:rPr lang="en-US" dirty="0"/>
              <a:t>Production runs and their subsequent analysis are used to estimate measures of performance for the system design that are being simulated.</a:t>
            </a:r>
          </a:p>
        </p:txBody>
      </p:sp>
    </p:spTree>
    <p:extLst>
      <p:ext uri="{BB962C8B-B14F-4D97-AF65-F5344CB8AC3E}">
        <p14:creationId xmlns:p14="http://schemas.microsoft.com/office/powerpoint/2010/main" val="126894900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4941"/>
          </a:xfrm>
        </p:spPr>
        <p:txBody>
          <a:bodyPr/>
          <a:lstStyle/>
          <a:p>
            <a:r>
              <a:rPr lang="en-US" dirty="0" smtClean="0"/>
              <a:t>1.5 Simulation and steps in simulation study </a:t>
            </a:r>
            <a:endParaRPr lang="en-US" dirty="0"/>
          </a:p>
        </p:txBody>
      </p:sp>
      <p:sp>
        <p:nvSpPr>
          <p:cNvPr id="3" name="Content Placeholder 2"/>
          <p:cNvSpPr>
            <a:spLocks noGrp="1"/>
          </p:cNvSpPr>
          <p:nvPr>
            <p:ph idx="1"/>
          </p:nvPr>
        </p:nvSpPr>
        <p:spPr>
          <a:xfrm>
            <a:off x="757177" y="1446835"/>
            <a:ext cx="10515600" cy="4826643"/>
          </a:xfrm>
        </p:spPr>
        <p:txBody>
          <a:bodyPr>
            <a:normAutofit fontScale="92500" lnSpcReduction="20000"/>
          </a:bodyPr>
          <a:lstStyle/>
          <a:p>
            <a:pPr marL="0" indent="0">
              <a:buNone/>
            </a:pPr>
            <a:r>
              <a:rPr lang="en-US" dirty="0"/>
              <a:t>10. More Runs?</a:t>
            </a:r>
            <a:endParaRPr lang="en-US" b="0" dirty="0" smtClean="0">
              <a:effectLst/>
            </a:endParaRPr>
          </a:p>
          <a:p>
            <a:pPr fontAlgn="base">
              <a:buFont typeface="Wingdings" panose="05000000000000000000" pitchFamily="2" charset="2"/>
              <a:buChar char="Ø"/>
            </a:pPr>
            <a:r>
              <a:rPr lang="en-US" dirty="0"/>
              <a:t>Given the analysis of runs that have been completed, the analyst determines whether additional runs are needed and what design these additional experiments should follow.</a:t>
            </a:r>
          </a:p>
          <a:p>
            <a:pPr marL="0" indent="0">
              <a:buNone/>
            </a:pPr>
            <a:endParaRPr lang="en-US" dirty="0" smtClean="0"/>
          </a:p>
          <a:p>
            <a:pPr marL="0" indent="0">
              <a:buNone/>
            </a:pPr>
            <a:r>
              <a:rPr lang="en-US" dirty="0" smtClean="0"/>
              <a:t>11</a:t>
            </a:r>
            <a:r>
              <a:rPr lang="en-US" dirty="0"/>
              <a:t>. Documentation and Reporting</a:t>
            </a:r>
            <a:endParaRPr lang="en-US" b="0" dirty="0" smtClean="0">
              <a:effectLst/>
            </a:endParaRPr>
          </a:p>
          <a:p>
            <a:pPr fontAlgn="base">
              <a:buFont typeface="Wingdings" panose="05000000000000000000" pitchFamily="2" charset="2"/>
              <a:buChar char="Ø"/>
            </a:pPr>
            <a:r>
              <a:rPr lang="en-US" dirty="0"/>
              <a:t>There are two types of documentation: Program and Progress.</a:t>
            </a:r>
          </a:p>
          <a:p>
            <a:pPr fontAlgn="base">
              <a:buFont typeface="Wingdings" panose="05000000000000000000" pitchFamily="2" charset="2"/>
              <a:buChar char="Ø"/>
            </a:pPr>
            <a:r>
              <a:rPr lang="en-US" dirty="0"/>
              <a:t>Program documentation is necessary for numerous reasons. It helps to make decisions and helps to modify the program.</a:t>
            </a:r>
          </a:p>
          <a:p>
            <a:pPr fontAlgn="base">
              <a:buFont typeface="Wingdings" panose="05000000000000000000" pitchFamily="2" charset="2"/>
              <a:buChar char="Ø"/>
            </a:pPr>
            <a:r>
              <a:rPr lang="en-US" dirty="0"/>
              <a:t>Progress report provides important written history of a simulation project.</a:t>
            </a:r>
          </a:p>
          <a:p>
            <a:pPr fontAlgn="base">
              <a:buFont typeface="Wingdings" panose="05000000000000000000" pitchFamily="2" charset="2"/>
              <a:buChar char="Ø"/>
            </a:pPr>
            <a:r>
              <a:rPr lang="en-US" dirty="0"/>
              <a:t>The final report should include: a model specification, prototype demonstrations, animations, program documentation, progress report and presentations</a:t>
            </a:r>
            <a:r>
              <a:rPr lang="en-US" dirty="0" smtClean="0"/>
              <a:t>.</a:t>
            </a:r>
            <a:endParaRPr lang="en-US" dirty="0"/>
          </a:p>
        </p:txBody>
      </p:sp>
    </p:spTree>
    <p:extLst>
      <p:ext uri="{BB962C8B-B14F-4D97-AF65-F5344CB8AC3E}">
        <p14:creationId xmlns:p14="http://schemas.microsoft.com/office/powerpoint/2010/main" val="234500780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7729" y="446149"/>
            <a:ext cx="10515600" cy="838642"/>
          </a:xfrm>
        </p:spPr>
        <p:txBody>
          <a:bodyPr>
            <a:normAutofit/>
          </a:bodyPr>
          <a:lstStyle/>
          <a:p>
            <a:r>
              <a:rPr lang="en-US" sz="4000" dirty="0" smtClean="0"/>
              <a:t>1.6 Advantages and disadvantages of simulation</a:t>
            </a:r>
            <a:endParaRPr lang="en-US" sz="4000" dirty="0"/>
          </a:p>
        </p:txBody>
      </p:sp>
      <p:sp>
        <p:nvSpPr>
          <p:cNvPr id="3" name="Content Placeholder 2"/>
          <p:cNvSpPr>
            <a:spLocks noGrp="1"/>
          </p:cNvSpPr>
          <p:nvPr>
            <p:ph idx="1"/>
          </p:nvPr>
        </p:nvSpPr>
        <p:spPr>
          <a:xfrm>
            <a:off x="838200" y="1493134"/>
            <a:ext cx="10515600" cy="4683829"/>
          </a:xfrm>
        </p:spPr>
        <p:txBody>
          <a:bodyPr>
            <a:normAutofit fontScale="92500" lnSpcReduction="10000"/>
          </a:bodyPr>
          <a:lstStyle/>
          <a:p>
            <a:pPr marL="0" indent="0">
              <a:buNone/>
            </a:pPr>
            <a:r>
              <a:rPr lang="en-US" b="1" dirty="0"/>
              <a:t>Advantages of Simulation</a:t>
            </a:r>
            <a:endParaRPr lang="en-US" b="0" dirty="0" smtClean="0">
              <a:effectLst/>
            </a:endParaRPr>
          </a:p>
          <a:p>
            <a:pPr fontAlgn="base"/>
            <a:r>
              <a:rPr lang="en-US" dirty="0"/>
              <a:t> Simulation helps to learn about real system, without having the system at all. For example the wind tunnel testing of the model of an </a:t>
            </a:r>
            <a:r>
              <a:rPr lang="en-US" dirty="0" err="1"/>
              <a:t>aeroplane</a:t>
            </a:r>
            <a:r>
              <a:rPr lang="en-US" dirty="0"/>
              <a:t> does not require a full sized plane.</a:t>
            </a:r>
          </a:p>
          <a:p>
            <a:pPr fontAlgn="base"/>
            <a:r>
              <a:rPr lang="en-US" dirty="0"/>
              <a:t>In many situations experimenting with actual system may not be possible at all. For example, it is not possible to conduct  experiment, to study the behavior of a man on the surface of moon. In some other situations, even if experimentation is possible, it may be too costly and risky,</a:t>
            </a:r>
          </a:p>
          <a:p>
            <a:pPr fontAlgn="base"/>
            <a:r>
              <a:rPr lang="en-US" dirty="0"/>
              <a:t> In the real system, the changes we want to study may take place too slowly or too fast to be observed conveniently. Computer simulation can compress the performance of a system over years into a few minutes of computer running time.</a:t>
            </a:r>
          </a:p>
        </p:txBody>
      </p:sp>
    </p:spTree>
    <p:extLst>
      <p:ext uri="{BB962C8B-B14F-4D97-AF65-F5344CB8AC3E}">
        <p14:creationId xmlns:p14="http://schemas.microsoft.com/office/powerpoint/2010/main" val="19372416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7729" y="446149"/>
            <a:ext cx="10515600" cy="838642"/>
          </a:xfrm>
        </p:spPr>
        <p:txBody>
          <a:bodyPr>
            <a:normAutofit/>
          </a:bodyPr>
          <a:lstStyle/>
          <a:p>
            <a:r>
              <a:rPr lang="en-US" sz="4000" dirty="0" smtClean="0"/>
              <a:t>1.6 Advantages and disadvantages of simulation</a:t>
            </a:r>
            <a:endParaRPr lang="en-US" sz="4000" dirty="0"/>
          </a:p>
        </p:txBody>
      </p:sp>
      <p:sp>
        <p:nvSpPr>
          <p:cNvPr id="3" name="Content Placeholder 2"/>
          <p:cNvSpPr>
            <a:spLocks noGrp="1"/>
          </p:cNvSpPr>
          <p:nvPr>
            <p:ph idx="1"/>
          </p:nvPr>
        </p:nvSpPr>
        <p:spPr>
          <a:xfrm>
            <a:off x="838200" y="1493134"/>
            <a:ext cx="10515600" cy="4683829"/>
          </a:xfrm>
        </p:spPr>
        <p:txBody>
          <a:bodyPr>
            <a:normAutofit/>
          </a:bodyPr>
          <a:lstStyle/>
          <a:p>
            <a:pPr marL="0" indent="0">
              <a:buNone/>
            </a:pPr>
            <a:r>
              <a:rPr lang="en-US" b="1" dirty="0"/>
              <a:t>Advantages of Simulation</a:t>
            </a:r>
            <a:endParaRPr lang="en-US" b="0" dirty="0" smtClean="0">
              <a:effectLst/>
            </a:endParaRPr>
          </a:p>
          <a:p>
            <a:pPr fontAlgn="base"/>
            <a:r>
              <a:rPr lang="en-US" dirty="0"/>
              <a:t> Conversely, in systems like nuclear reactors where millions of events take place per second, simulation can expand the time to required level.</a:t>
            </a:r>
          </a:p>
          <a:p>
            <a:pPr fontAlgn="base"/>
            <a:r>
              <a:rPr lang="en-US" dirty="0"/>
              <a:t> Through simulation, management can foresee the difficulties and bottlenecks, which may come up due to the introduction of new machines, equipment and processes. It thus eliminates the need of costly trial and error method of trying out the new concepts.</a:t>
            </a:r>
          </a:p>
          <a:p>
            <a:pPr fontAlgn="base"/>
            <a:r>
              <a:rPr lang="en-US" dirty="0"/>
              <a:t>Simulation Models are comparatively flexible and can be modified to accommodate the changing environment to the real situation.</a:t>
            </a:r>
          </a:p>
        </p:txBody>
      </p:sp>
    </p:spTree>
    <p:extLst>
      <p:ext uri="{BB962C8B-B14F-4D97-AF65-F5344CB8AC3E}">
        <p14:creationId xmlns:p14="http://schemas.microsoft.com/office/powerpoint/2010/main" val="28717821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7729" y="446149"/>
            <a:ext cx="10515600" cy="838642"/>
          </a:xfrm>
        </p:spPr>
        <p:txBody>
          <a:bodyPr>
            <a:normAutofit/>
          </a:bodyPr>
          <a:lstStyle/>
          <a:p>
            <a:r>
              <a:rPr lang="en-US" sz="4000" dirty="0" smtClean="0"/>
              <a:t>1.6 Advantages and disadvantages of simulation</a:t>
            </a:r>
            <a:endParaRPr lang="en-US" sz="4000" dirty="0"/>
          </a:p>
        </p:txBody>
      </p:sp>
      <p:sp>
        <p:nvSpPr>
          <p:cNvPr id="3" name="Content Placeholder 2"/>
          <p:cNvSpPr>
            <a:spLocks noGrp="1"/>
          </p:cNvSpPr>
          <p:nvPr>
            <p:ph idx="1"/>
          </p:nvPr>
        </p:nvSpPr>
        <p:spPr>
          <a:xfrm>
            <a:off x="838200" y="1493134"/>
            <a:ext cx="10515600" cy="4683829"/>
          </a:xfrm>
        </p:spPr>
        <p:txBody>
          <a:bodyPr>
            <a:normAutofit/>
          </a:bodyPr>
          <a:lstStyle/>
          <a:p>
            <a:pPr marL="0" indent="0">
              <a:buNone/>
            </a:pPr>
            <a:r>
              <a:rPr lang="en-US" b="1" dirty="0"/>
              <a:t>Advantages of Simulation</a:t>
            </a:r>
            <a:endParaRPr lang="en-US" b="0" dirty="0" smtClean="0">
              <a:effectLst/>
            </a:endParaRPr>
          </a:p>
          <a:p>
            <a:pPr fontAlgn="base"/>
            <a:r>
              <a:rPr lang="en-US" dirty="0"/>
              <a:t>Extensive computer software packages are available, making it very convenient to use fairly sophisticated simulation models.</a:t>
            </a:r>
          </a:p>
          <a:p>
            <a:pPr fontAlgn="base"/>
            <a:r>
              <a:rPr lang="en-US" dirty="0"/>
              <a:t>Simulation is a very good tool of training and has advantageously been used for training the operating and managerial staff in the operation of complex system. Space engineers simulate space flights in laboratories to train the future astronauts for working in weightless environment.</a:t>
            </a:r>
          </a:p>
          <a:p>
            <a:pPr fontAlgn="base"/>
            <a:r>
              <a:rPr lang="en-US" dirty="0"/>
              <a:t>Airline pilots are given extensive training on flight simulators, before they are allowed to handle real planes.</a:t>
            </a:r>
          </a:p>
        </p:txBody>
      </p:sp>
    </p:spTree>
    <p:extLst>
      <p:ext uri="{BB962C8B-B14F-4D97-AF65-F5344CB8AC3E}">
        <p14:creationId xmlns:p14="http://schemas.microsoft.com/office/powerpoint/2010/main" val="17861397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7729" y="446149"/>
            <a:ext cx="10515600" cy="838642"/>
          </a:xfrm>
        </p:spPr>
        <p:txBody>
          <a:bodyPr>
            <a:normAutofit/>
          </a:bodyPr>
          <a:lstStyle/>
          <a:p>
            <a:r>
              <a:rPr lang="en-US" sz="4000" dirty="0" smtClean="0"/>
              <a:t>1.6 Advantages and disadvantages of simulation</a:t>
            </a:r>
            <a:endParaRPr lang="en-US" sz="4000" dirty="0"/>
          </a:p>
        </p:txBody>
      </p:sp>
      <p:sp>
        <p:nvSpPr>
          <p:cNvPr id="3" name="Content Placeholder 2"/>
          <p:cNvSpPr>
            <a:spLocks noGrp="1"/>
          </p:cNvSpPr>
          <p:nvPr>
            <p:ph idx="1"/>
          </p:nvPr>
        </p:nvSpPr>
        <p:spPr>
          <a:xfrm>
            <a:off x="838200" y="1493134"/>
            <a:ext cx="10515600" cy="4683829"/>
          </a:xfrm>
        </p:spPr>
        <p:txBody>
          <a:bodyPr>
            <a:normAutofit fontScale="92500"/>
          </a:bodyPr>
          <a:lstStyle/>
          <a:p>
            <a:pPr marL="0" indent="0">
              <a:buNone/>
            </a:pPr>
            <a:r>
              <a:rPr lang="en-US" b="1" dirty="0"/>
              <a:t>Disadvantages of Simulation</a:t>
            </a:r>
            <a:endParaRPr lang="en-US" b="0" dirty="0" smtClean="0">
              <a:effectLst/>
            </a:endParaRPr>
          </a:p>
          <a:p>
            <a:pPr fontAlgn="base"/>
            <a:r>
              <a:rPr lang="en-US" dirty="0"/>
              <a:t>Model building requires special training. It is an art that is learned over time and through experience. Furthermore, if two models are constructed by two competent individuals, they may have similarities, but it is highly unlike that they will be the same.</a:t>
            </a:r>
          </a:p>
          <a:p>
            <a:pPr fontAlgn="base"/>
            <a:r>
              <a:rPr lang="en-US" dirty="0"/>
              <a:t>Simulation results may be difficult to interpret. Since most  simulation outputs are essentially random variables, it may be hard to determine whether an observation is a result of system interrelations or randomness.</a:t>
            </a:r>
          </a:p>
          <a:p>
            <a:pPr fontAlgn="base"/>
            <a:r>
              <a:rPr lang="en-US" dirty="0"/>
              <a:t>Simulation is used in some cases when an analytical solution is possible, or even preferable.</a:t>
            </a:r>
          </a:p>
          <a:p>
            <a:pPr fontAlgn="base"/>
            <a:r>
              <a:rPr lang="en-US" dirty="0"/>
              <a:t>Simulation modeling and analysis can be time consuming and expensive.</a:t>
            </a:r>
          </a:p>
        </p:txBody>
      </p:sp>
    </p:spTree>
    <p:extLst>
      <p:ext uri="{BB962C8B-B14F-4D97-AF65-F5344CB8AC3E}">
        <p14:creationId xmlns:p14="http://schemas.microsoft.com/office/powerpoint/2010/main" val="29899419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1243" y="747938"/>
            <a:ext cx="10515600" cy="5603875"/>
          </a:xfrm>
        </p:spPr>
        <p:txBody>
          <a:bodyPr>
            <a:normAutofit/>
          </a:bodyPr>
          <a:lstStyle/>
          <a:p>
            <a:pPr marL="0" indent="0" algn="just" fontAlgn="base">
              <a:buNone/>
            </a:pPr>
            <a:r>
              <a:rPr lang="en-US" b="1" dirty="0" smtClean="0"/>
              <a:t>Limitations of Simulation</a:t>
            </a:r>
          </a:p>
          <a:p>
            <a:pPr algn="just" fontAlgn="base"/>
            <a:r>
              <a:rPr lang="en-US" dirty="0" smtClean="0"/>
              <a:t>Simulation </a:t>
            </a:r>
            <a:r>
              <a:rPr lang="en-US" dirty="0"/>
              <a:t>generates a way of evaluating solutions but does not generate solution themselves.</a:t>
            </a:r>
          </a:p>
          <a:p>
            <a:pPr algn="just" fontAlgn="base"/>
            <a:r>
              <a:rPr lang="en-US" dirty="0"/>
              <a:t>Simulation is not precise. It does not yield an answer but merely provides a set of the system’s responses to different operating conditions. In many cases, this lack of precision is difficult to measure.</a:t>
            </a:r>
          </a:p>
          <a:p>
            <a:pPr algn="just" fontAlgn="base"/>
            <a:r>
              <a:rPr lang="en-US" dirty="0"/>
              <a:t>It is a trial and error method that may produce different solutions in repeated runs.</a:t>
            </a:r>
          </a:p>
          <a:p>
            <a:pPr algn="just" fontAlgn="base"/>
            <a:r>
              <a:rPr lang="en-US" dirty="0"/>
              <a:t>A good simulation model  may be very expensive. Simulation often requires a significant amount of computer time and is therefore expensive.</a:t>
            </a:r>
          </a:p>
        </p:txBody>
      </p:sp>
    </p:spTree>
    <p:extLst>
      <p:ext uri="{BB962C8B-B14F-4D97-AF65-F5344CB8AC3E}">
        <p14:creationId xmlns:p14="http://schemas.microsoft.com/office/powerpoint/2010/main" val="5024530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2757"/>
            <a:ext cx="10515600" cy="5344206"/>
          </a:xfrm>
        </p:spPr>
        <p:txBody>
          <a:bodyPr>
            <a:normAutofit lnSpcReduction="10000"/>
          </a:bodyPr>
          <a:lstStyle/>
          <a:p>
            <a:pPr marL="0" indent="0" algn="just">
              <a:buNone/>
            </a:pPr>
            <a:r>
              <a:rPr lang="en-US" dirty="0"/>
              <a:t>Areas of </a:t>
            </a:r>
            <a:r>
              <a:rPr lang="en-US" dirty="0" smtClean="0"/>
              <a:t>Application</a:t>
            </a:r>
          </a:p>
          <a:p>
            <a:pPr algn="just" fontAlgn="base"/>
            <a:r>
              <a:rPr lang="en-US" b="1" dirty="0"/>
              <a:t>Manufacturing:</a:t>
            </a:r>
            <a:r>
              <a:rPr lang="en-US" dirty="0"/>
              <a:t> Design analysis and optimization of production system, materials management, capacity planning, layout planning, and performance evaluation, evaluation of process quality.</a:t>
            </a:r>
          </a:p>
          <a:p>
            <a:pPr algn="just" fontAlgn="base"/>
            <a:r>
              <a:rPr lang="en-US" b="1" dirty="0"/>
              <a:t>Business:</a:t>
            </a:r>
            <a:r>
              <a:rPr lang="en-US" dirty="0"/>
              <a:t> Market analysis, prediction of consumer behavior, and optimization of marketing strategy and logistics, comparative evaluation of marketing campaigns.</a:t>
            </a:r>
          </a:p>
          <a:p>
            <a:pPr algn="just" fontAlgn="base"/>
            <a:r>
              <a:rPr lang="en-US" b="1" dirty="0"/>
              <a:t>Military</a:t>
            </a:r>
            <a:r>
              <a:rPr lang="en-US" dirty="0"/>
              <a:t>: Testing of alternative combat strategies, air operations, sea operations, simulated war exercises, practicing ordinance effectiveness, inventory management.</a:t>
            </a:r>
          </a:p>
          <a:p>
            <a:pPr algn="just" fontAlgn="base"/>
            <a:r>
              <a:rPr lang="en-US" dirty="0"/>
              <a:t> </a:t>
            </a:r>
            <a:r>
              <a:rPr lang="en-US" b="1" dirty="0"/>
              <a:t>Healthcare </a:t>
            </a:r>
            <a:r>
              <a:rPr lang="en-US" b="1" dirty="0" smtClean="0"/>
              <a:t>applications</a:t>
            </a:r>
            <a:r>
              <a:rPr lang="en-US" dirty="0" smtClean="0"/>
              <a:t>: such </a:t>
            </a:r>
            <a:r>
              <a:rPr lang="en-US" dirty="0"/>
              <a:t>as planning of health services, expected patient density, facilities requirement, hospital staffing , estimating the effectiveness of a health care program.</a:t>
            </a:r>
          </a:p>
          <a:p>
            <a:pPr marL="0" indent="0" algn="just">
              <a:buNone/>
            </a:pPr>
            <a:endParaRPr lang="en-US" dirty="0"/>
          </a:p>
        </p:txBody>
      </p:sp>
    </p:spTree>
    <p:extLst>
      <p:ext uri="{BB962C8B-B14F-4D97-AF65-F5344CB8AC3E}">
        <p14:creationId xmlns:p14="http://schemas.microsoft.com/office/powerpoint/2010/main" val="8979311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2757"/>
            <a:ext cx="10515600" cy="5344206"/>
          </a:xfrm>
        </p:spPr>
        <p:txBody>
          <a:bodyPr>
            <a:normAutofit lnSpcReduction="10000"/>
          </a:bodyPr>
          <a:lstStyle/>
          <a:p>
            <a:pPr marL="0" indent="0" algn="just">
              <a:buNone/>
            </a:pPr>
            <a:r>
              <a:rPr lang="en-US" dirty="0"/>
              <a:t>Areas of </a:t>
            </a:r>
            <a:r>
              <a:rPr lang="en-US" dirty="0" smtClean="0"/>
              <a:t>Application</a:t>
            </a:r>
          </a:p>
          <a:p>
            <a:pPr algn="just" fontAlgn="base"/>
            <a:r>
              <a:rPr lang="en-US" b="1" dirty="0"/>
              <a:t>Communication Applications</a:t>
            </a:r>
            <a:r>
              <a:rPr lang="en-US" dirty="0"/>
              <a:t>: Such as network design, and optimization, evaluating network reliability, manpower planning, sizing of message buffers.</a:t>
            </a:r>
          </a:p>
          <a:p>
            <a:pPr algn="just" fontAlgn="base"/>
            <a:r>
              <a:rPr lang="en-US" dirty="0"/>
              <a:t> </a:t>
            </a:r>
            <a:r>
              <a:rPr lang="en-US" b="1" dirty="0"/>
              <a:t>Computer Applications</a:t>
            </a:r>
            <a:r>
              <a:rPr lang="en-US" dirty="0"/>
              <a:t>: Such as designing hardware configurations and operating system protocols, sharing networking. Client/Server system architecture</a:t>
            </a:r>
          </a:p>
          <a:p>
            <a:pPr algn="just" fontAlgn="base"/>
            <a:r>
              <a:rPr lang="en-US" dirty="0"/>
              <a:t> </a:t>
            </a:r>
            <a:r>
              <a:rPr lang="en-US" b="1" dirty="0"/>
              <a:t>Economic applications</a:t>
            </a:r>
            <a:r>
              <a:rPr lang="en-US" dirty="0"/>
              <a:t>: such as portfolio management, forecasting impact of Govt. Policies and international market fluctuations on the economy. Budgeting and forecasting market fluctuations.</a:t>
            </a:r>
          </a:p>
          <a:p>
            <a:pPr algn="just"/>
            <a:r>
              <a:rPr lang="en-US" b="1" dirty="0"/>
              <a:t>Transportation applications</a:t>
            </a:r>
            <a:r>
              <a:rPr lang="en-US" dirty="0"/>
              <a:t>: Design and testing of alternative transportation policies,  transportation networks-roads, railways, airways etc. Evaluation of timetables, traffic planning.</a:t>
            </a:r>
          </a:p>
        </p:txBody>
      </p:sp>
    </p:spTree>
    <p:extLst>
      <p:ext uri="{BB962C8B-B14F-4D97-AF65-F5344CB8AC3E}">
        <p14:creationId xmlns:p14="http://schemas.microsoft.com/office/powerpoint/2010/main" val="13330784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2757"/>
            <a:ext cx="10515600" cy="5344206"/>
          </a:xfrm>
        </p:spPr>
        <p:txBody>
          <a:bodyPr>
            <a:normAutofit/>
          </a:bodyPr>
          <a:lstStyle/>
          <a:p>
            <a:pPr marL="0" indent="0" algn="just">
              <a:buNone/>
            </a:pPr>
            <a:r>
              <a:rPr lang="en-US" dirty="0"/>
              <a:t>Areas of </a:t>
            </a:r>
            <a:r>
              <a:rPr lang="en-US" dirty="0" smtClean="0"/>
              <a:t>Application</a:t>
            </a:r>
          </a:p>
          <a:p>
            <a:pPr algn="just" fontAlgn="base"/>
            <a:r>
              <a:rPr lang="en-US" b="1" dirty="0"/>
              <a:t>Environment application: </a:t>
            </a:r>
            <a:r>
              <a:rPr lang="en-US" dirty="0"/>
              <a:t>Solid waste management, performance evaluation of environmental programs, valuation of pollution control systems.</a:t>
            </a:r>
          </a:p>
          <a:p>
            <a:pPr algn="just" fontAlgn="base"/>
            <a:r>
              <a:rPr lang="en-US" dirty="0"/>
              <a:t> </a:t>
            </a:r>
            <a:r>
              <a:rPr lang="en-US" b="1" dirty="0"/>
              <a:t>Biological </a:t>
            </a:r>
            <a:r>
              <a:rPr lang="en-US" b="1" dirty="0" smtClean="0"/>
              <a:t>applications</a:t>
            </a:r>
            <a:r>
              <a:rPr lang="en-US" dirty="0"/>
              <a:t>:</a:t>
            </a:r>
            <a:r>
              <a:rPr lang="en-US" dirty="0" smtClean="0"/>
              <a:t> </a:t>
            </a:r>
            <a:r>
              <a:rPr lang="en-US" dirty="0"/>
              <a:t>Such as population genetics and spread of epidemics.</a:t>
            </a:r>
          </a:p>
          <a:p>
            <a:pPr algn="just" fontAlgn="base"/>
            <a:r>
              <a:rPr lang="en-US" dirty="0"/>
              <a:t> </a:t>
            </a:r>
            <a:r>
              <a:rPr lang="en-US" b="1" dirty="0"/>
              <a:t>Business process Re-engineering</a:t>
            </a:r>
            <a:r>
              <a:rPr lang="en-US" dirty="0"/>
              <a:t>: Integrating business process re-engineering with image –based work flow, using process modeling and analysis tool.</a:t>
            </a:r>
          </a:p>
        </p:txBody>
      </p:sp>
    </p:spTree>
    <p:extLst>
      <p:ext uri="{BB962C8B-B14F-4D97-AF65-F5344CB8AC3E}">
        <p14:creationId xmlns:p14="http://schemas.microsoft.com/office/powerpoint/2010/main" val="31685352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0217"/>
          </a:xfrm>
        </p:spPr>
        <p:txBody>
          <a:bodyPr/>
          <a:lstStyle/>
          <a:p>
            <a:pPr marL="0" indent="0"/>
            <a:r>
              <a:rPr lang="en-US" dirty="0" smtClean="0"/>
              <a:t>1.7 Monte-Carlo simulation </a:t>
            </a:r>
          </a:p>
        </p:txBody>
      </p:sp>
      <p:sp>
        <p:nvSpPr>
          <p:cNvPr id="3" name="Content Placeholder 2"/>
          <p:cNvSpPr>
            <a:spLocks noGrp="1"/>
          </p:cNvSpPr>
          <p:nvPr>
            <p:ph idx="1"/>
          </p:nvPr>
        </p:nvSpPr>
        <p:spPr>
          <a:xfrm>
            <a:off x="838200" y="1481559"/>
            <a:ext cx="10515600" cy="4695404"/>
          </a:xfrm>
        </p:spPr>
        <p:txBody>
          <a:bodyPr>
            <a:normAutofit fontScale="92500"/>
          </a:bodyPr>
          <a:lstStyle/>
          <a:p>
            <a:r>
              <a:rPr lang="en-US" dirty="0" smtClean="0"/>
              <a:t>Simulation can also be defined as a technique of performing sampling experiments on the model of the system. </a:t>
            </a:r>
          </a:p>
          <a:p>
            <a:r>
              <a:rPr lang="en-US" dirty="0" smtClean="0"/>
              <a:t>This is called stochastic simulation and is a part of simulation techniques. </a:t>
            </a:r>
          </a:p>
          <a:p>
            <a:r>
              <a:rPr lang="en-US" dirty="0" smtClean="0"/>
              <a:t>Because sampling from a particular probability distribution involves the use of random numbers, stochastic simulation is sometimes called Monte Carlo Simulation</a:t>
            </a:r>
          </a:p>
          <a:p>
            <a:r>
              <a:rPr lang="en-US" b="1" dirty="0" smtClean="0"/>
              <a:t>Monte Carlo simulation</a:t>
            </a:r>
            <a:r>
              <a:rPr lang="en-US" dirty="0" smtClean="0"/>
              <a:t> is a computational technique that uses random sampling to solve problems and estimate numerical results. </a:t>
            </a:r>
          </a:p>
          <a:p>
            <a:r>
              <a:rPr lang="en-US" dirty="0" smtClean="0"/>
              <a:t>It works by running many random simulations to approximate the behavior of a system when analytical solutions are difficult or impossible.</a:t>
            </a:r>
            <a:endParaRPr lang="en-US" dirty="0"/>
          </a:p>
        </p:txBody>
      </p:sp>
    </p:spTree>
    <p:extLst>
      <p:ext uri="{BB962C8B-B14F-4D97-AF65-F5344CB8AC3E}">
        <p14:creationId xmlns:p14="http://schemas.microsoft.com/office/powerpoint/2010/main" val="16838135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0217"/>
          </a:xfrm>
        </p:spPr>
        <p:txBody>
          <a:bodyPr/>
          <a:lstStyle/>
          <a:p>
            <a:pPr marL="0" indent="0"/>
            <a:r>
              <a:rPr lang="en-US" dirty="0" smtClean="0"/>
              <a:t>1.7 Monte-Carlo simulation </a:t>
            </a:r>
          </a:p>
        </p:txBody>
      </p:sp>
      <p:sp>
        <p:nvSpPr>
          <p:cNvPr id="3" name="Content Placeholder 2"/>
          <p:cNvSpPr>
            <a:spLocks noGrp="1"/>
          </p:cNvSpPr>
          <p:nvPr>
            <p:ph idx="1"/>
          </p:nvPr>
        </p:nvSpPr>
        <p:spPr>
          <a:xfrm>
            <a:off x="838200" y="1481559"/>
            <a:ext cx="10515600" cy="4695404"/>
          </a:xfrm>
        </p:spPr>
        <p:txBody>
          <a:bodyPr>
            <a:normAutofit fontScale="85000" lnSpcReduction="20000"/>
          </a:bodyPr>
          <a:lstStyle/>
          <a:p>
            <a:pPr marL="0" indent="0">
              <a:buNone/>
            </a:pPr>
            <a:r>
              <a:rPr lang="en-US" b="1" dirty="0"/>
              <a:t>How Monte Carlo Simulation </a:t>
            </a:r>
            <a:r>
              <a:rPr lang="en-US" b="1" dirty="0" smtClean="0"/>
              <a:t>Works?</a:t>
            </a:r>
            <a:endParaRPr lang="en-US" b="1" dirty="0"/>
          </a:p>
          <a:p>
            <a:pPr marL="0" indent="0">
              <a:buNone/>
            </a:pPr>
            <a:r>
              <a:rPr lang="en-US" b="1" dirty="0" smtClean="0"/>
              <a:t>1. Define </a:t>
            </a:r>
            <a:r>
              <a:rPr lang="en-US" b="1" dirty="0"/>
              <a:t>the Problem</a:t>
            </a:r>
            <a:r>
              <a:rPr lang="en-US" dirty="0"/>
              <a:t> </a:t>
            </a:r>
          </a:p>
          <a:p>
            <a:pPr lvl="1"/>
            <a:r>
              <a:rPr lang="en-US" dirty="0"/>
              <a:t>Identify variables with uncertainty</a:t>
            </a:r>
          </a:p>
          <a:p>
            <a:pPr lvl="1"/>
            <a:r>
              <a:rPr lang="en-US" dirty="0"/>
              <a:t>Determine their probability </a:t>
            </a:r>
            <a:r>
              <a:rPr lang="en-US" dirty="0" smtClean="0"/>
              <a:t>distributions</a:t>
            </a:r>
          </a:p>
          <a:p>
            <a:pPr marL="0" indent="0">
              <a:buNone/>
            </a:pPr>
            <a:r>
              <a:rPr lang="en-US" b="1" dirty="0" smtClean="0"/>
              <a:t>2. Generate Random Values</a:t>
            </a:r>
            <a:r>
              <a:rPr lang="en-US" dirty="0" smtClean="0"/>
              <a:t> </a:t>
            </a:r>
          </a:p>
          <a:p>
            <a:pPr lvl="1"/>
            <a:r>
              <a:rPr lang="en-US" dirty="0" smtClean="0"/>
              <a:t>Create </a:t>
            </a:r>
            <a:r>
              <a:rPr lang="en-US" dirty="0"/>
              <a:t>random samples from each variable's distribution</a:t>
            </a:r>
          </a:p>
          <a:p>
            <a:pPr lvl="1"/>
            <a:r>
              <a:rPr lang="en-US" dirty="0"/>
              <a:t>Use random number generators</a:t>
            </a:r>
          </a:p>
          <a:p>
            <a:pPr marL="0" indent="0">
              <a:buNone/>
            </a:pPr>
            <a:r>
              <a:rPr lang="en-US" b="1" dirty="0" smtClean="0"/>
              <a:t>3. Run </a:t>
            </a:r>
            <a:r>
              <a:rPr lang="en-US" b="1" dirty="0"/>
              <a:t>Simulation</a:t>
            </a:r>
            <a:r>
              <a:rPr lang="en-US" dirty="0"/>
              <a:t> </a:t>
            </a:r>
          </a:p>
          <a:p>
            <a:pPr lvl="1"/>
            <a:r>
              <a:rPr lang="en-US" dirty="0"/>
              <a:t>Calculate outcomes using the random values</a:t>
            </a:r>
          </a:p>
          <a:p>
            <a:pPr lvl="1"/>
            <a:r>
              <a:rPr lang="en-US" dirty="0"/>
              <a:t>Repeat thousands or millions of times</a:t>
            </a:r>
          </a:p>
          <a:p>
            <a:pPr lvl="1"/>
            <a:r>
              <a:rPr lang="en-US" dirty="0"/>
              <a:t>Each iteration uses a different random sample</a:t>
            </a:r>
          </a:p>
          <a:p>
            <a:pPr marL="0" indent="0">
              <a:buNone/>
            </a:pPr>
            <a:r>
              <a:rPr lang="en-US" b="1" dirty="0" smtClean="0"/>
              <a:t>4. Analyze </a:t>
            </a:r>
            <a:r>
              <a:rPr lang="en-US" b="1" dirty="0"/>
              <a:t>Results</a:t>
            </a:r>
            <a:r>
              <a:rPr lang="en-US" dirty="0"/>
              <a:t> </a:t>
            </a:r>
          </a:p>
          <a:p>
            <a:pPr lvl="1"/>
            <a:r>
              <a:rPr lang="en-US" dirty="0"/>
              <a:t>Collect all outcomes</a:t>
            </a:r>
          </a:p>
          <a:p>
            <a:pPr lvl="1"/>
            <a:r>
              <a:rPr lang="en-US" dirty="0"/>
              <a:t>Calculate statistics (average, standard deviation, percentiles)</a:t>
            </a:r>
          </a:p>
          <a:p>
            <a:pPr lvl="1"/>
            <a:r>
              <a:rPr lang="en-US" dirty="0"/>
              <a:t>Visualize distribution of results</a:t>
            </a:r>
          </a:p>
        </p:txBody>
      </p:sp>
    </p:spTree>
    <p:extLst>
      <p:ext uri="{BB962C8B-B14F-4D97-AF65-F5344CB8AC3E}">
        <p14:creationId xmlns:p14="http://schemas.microsoft.com/office/powerpoint/2010/main" val="13958368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0217"/>
          </a:xfrm>
        </p:spPr>
        <p:txBody>
          <a:bodyPr/>
          <a:lstStyle/>
          <a:p>
            <a:pPr marL="0" indent="0"/>
            <a:r>
              <a:rPr lang="en-US" dirty="0" smtClean="0"/>
              <a:t>1.7 Monte-Carlo simulation </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481559"/>
                <a:ext cx="10515600" cy="4695404"/>
              </a:xfrm>
            </p:spPr>
            <p:txBody>
              <a:bodyPr>
                <a:normAutofit fontScale="85000" lnSpcReduction="20000"/>
              </a:bodyPr>
              <a:lstStyle/>
              <a:p>
                <a:pPr marL="0" indent="0">
                  <a:buNone/>
                </a:pPr>
                <a:r>
                  <a:rPr lang="en-US" b="1" dirty="0" smtClean="0"/>
                  <a:t>Simple Example: </a:t>
                </a:r>
                <a:r>
                  <a:rPr lang="en-US" dirty="0" smtClean="0"/>
                  <a:t>Estimating the value of pi(</a:t>
                </a:r>
                <a:r>
                  <a:rPr lang="el-GR" dirty="0" smtClean="0"/>
                  <a:t>π</a:t>
                </a:r>
                <a:r>
                  <a:rPr lang="en-US" dirty="0" smtClean="0"/>
                  <a:t>)</a:t>
                </a:r>
              </a:p>
              <a:p>
                <a:pPr marL="0" indent="0">
                  <a:buNone/>
                </a:pPr>
                <a:r>
                  <a:rPr lang="en-US" dirty="0"/>
                  <a:t>Imagine:</a:t>
                </a:r>
              </a:p>
              <a:p>
                <a:r>
                  <a:rPr lang="en-US" dirty="0"/>
                  <a:t>A square with side length = 2 </a:t>
                </a:r>
              </a:p>
              <a:p>
                <a:r>
                  <a:rPr lang="en-US" dirty="0"/>
                  <a:t>A circle inside the square with radius = 1 </a:t>
                </a:r>
              </a:p>
              <a:p>
                <a:r>
                  <a:rPr lang="en-US" dirty="0"/>
                  <a:t>The circle fits perfectly inside the square</a:t>
                </a:r>
                <a:r>
                  <a:rPr lang="en-US" dirty="0" smtClean="0"/>
                  <a:t>.</a:t>
                </a:r>
              </a:p>
              <a:p>
                <a:pPr marL="0" indent="0">
                  <a:buNone/>
                </a:pPr>
                <a:r>
                  <a:rPr lang="en-US" b="1" dirty="0"/>
                  <a:t>Areas</a:t>
                </a:r>
              </a:p>
              <a:p>
                <a:r>
                  <a:rPr lang="en-US" dirty="0"/>
                  <a:t>Area of square = </a:t>
                </a:r>
                <a:r>
                  <a:rPr lang="en-US" dirty="0" smtClean="0"/>
                  <a:t>2×2=4 </a:t>
                </a:r>
                <a:endParaRPr lang="en-US" dirty="0"/>
              </a:p>
              <a:p>
                <a:r>
                  <a:rPr lang="en-US" dirty="0"/>
                  <a:t>Area of circle = </a:t>
                </a:r>
                <a14:m>
                  <m:oMath xmlns:m="http://schemas.openxmlformats.org/officeDocument/2006/math">
                    <m:r>
                      <a:rPr lang="el-GR" i="1" smtClean="0">
                        <a:latin typeface="Cambria Math" panose="02040503050406030204" pitchFamily="18" charset="0"/>
                      </a:rPr>
                      <m:t>𝜋</m:t>
                    </m:r>
                    <m:sSup>
                      <m:sSupPr>
                        <m:ctrlPr>
                          <a:rPr lang="en-US" i="1" smtClean="0">
                            <a:latin typeface="Cambria Math" panose="02040503050406030204" pitchFamily="18" charset="0"/>
                          </a:rPr>
                        </m:ctrlPr>
                      </m:sSupPr>
                      <m:e>
                        <m:r>
                          <a:rPr lang="en-US" i="1" smtClean="0">
                            <a:latin typeface="Cambria Math" panose="02040503050406030204" pitchFamily="18" charset="0"/>
                          </a:rPr>
                          <m:t>𝑟</m:t>
                        </m:r>
                      </m:e>
                      <m:sup>
                        <m:r>
                          <a:rPr lang="en-US" i="1" smtClean="0">
                            <a:latin typeface="Cambria Math" panose="02040503050406030204" pitchFamily="18" charset="0"/>
                          </a:rPr>
                          <m:t>2</m:t>
                        </m:r>
                      </m:sup>
                    </m:sSup>
                  </m:oMath>
                </a14:m>
                <a:r>
                  <a:rPr lang="en-US" dirty="0" smtClean="0"/>
                  <a:t>=</a:t>
                </a:r>
                <a:r>
                  <a:rPr lang="el-GR" dirty="0"/>
                  <a:t> </a:t>
                </a:r>
                <a14:m>
                  <m:oMath xmlns:m="http://schemas.openxmlformats.org/officeDocument/2006/math">
                    <m:r>
                      <a:rPr lang="el-GR" i="1">
                        <a:latin typeface="Cambria Math" panose="02040503050406030204" pitchFamily="18" charset="0"/>
                      </a:rPr>
                      <m:t>𝜋</m:t>
                    </m:r>
                  </m:oMath>
                </a14:m>
                <a:endParaRPr lang="en-US" dirty="0"/>
              </a:p>
              <a:p>
                <a:pPr marL="0" indent="0">
                  <a:buNone/>
                </a:pPr>
                <a:r>
                  <a:rPr lang="en-US" dirty="0" smtClean="0"/>
                  <a:t>So,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𝐴𝑟𝑒𝑎</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𝑐𝑖𝑟𝑐𝑙𝑒</m:t>
                        </m:r>
                      </m:num>
                      <m:den>
                        <m:r>
                          <a:rPr lang="en-US" b="0" i="1" smtClean="0">
                            <a:latin typeface="Cambria Math" panose="02040503050406030204" pitchFamily="18" charset="0"/>
                          </a:rPr>
                          <m:t>𝐴𝑟𝑒𝑎</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𝑠𝑞𝑢𝑎𝑟𝑒</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l-GR" i="1">
                            <a:latin typeface="Cambria Math" panose="02040503050406030204" pitchFamily="18" charset="0"/>
                          </a:rPr>
                          <m:t>𝜋</m:t>
                        </m:r>
                        <m:r>
                          <m:rPr>
                            <m:nor/>
                          </m:rPr>
                          <a:rPr lang="en-US" dirty="0"/>
                          <m:t> </m:t>
                        </m:r>
                      </m:num>
                      <m:den>
                        <m:r>
                          <a:rPr lang="en-US" b="0" i="1" smtClean="0">
                            <a:latin typeface="Cambria Math" panose="02040503050406030204" pitchFamily="18" charset="0"/>
                          </a:rPr>
                          <m:t>4</m:t>
                        </m:r>
                      </m:den>
                    </m:f>
                  </m:oMath>
                </a14:m>
                <a:endParaRPr lang="en-US" dirty="0" smtClean="0"/>
              </a:p>
              <a:p>
                <a:pPr marL="0" indent="0">
                  <a:buNone/>
                </a:pPr>
                <a:endParaRPr lang="en-US" sz="2000" dirty="0" smtClean="0"/>
              </a:p>
              <a:p>
                <a:pPr marL="0" indent="0">
                  <a:buNone/>
                </a:pPr>
                <a:r>
                  <a:rPr lang="en-US" dirty="0"/>
                  <a:t> </a:t>
                </a:r>
                <a:r>
                  <a:rPr lang="en-US" dirty="0" smtClean="0"/>
                  <a:t>    </a:t>
                </a:r>
                <a:r>
                  <a:rPr lang="el-GR" dirty="0" smtClean="0"/>
                  <a:t>π</a:t>
                </a:r>
                <a:r>
                  <a:rPr lang="en-US" dirty="0" smtClean="0"/>
                  <a:t> = 4 X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𝑃𝑜𝑖𝑛𝑡𝑠</m:t>
                        </m:r>
                        <m:r>
                          <a:rPr lang="en-US" b="0" i="1" smtClean="0">
                            <a:latin typeface="Cambria Math" panose="02040503050406030204" pitchFamily="18" charset="0"/>
                          </a:rPr>
                          <m:t> </m:t>
                        </m:r>
                        <m:r>
                          <a:rPr lang="en-US" b="0" i="1" smtClean="0">
                            <a:latin typeface="Cambria Math" panose="02040503050406030204" pitchFamily="18" charset="0"/>
                          </a:rPr>
                          <m:t>𝑖𝑛𝑠𝑖𝑑𝑒</m:t>
                        </m:r>
                        <m:r>
                          <a:rPr lang="en-US" b="0" i="1" smtClean="0">
                            <a:latin typeface="Cambria Math" panose="02040503050406030204" pitchFamily="18" charset="0"/>
                          </a:rPr>
                          <m:t> </m:t>
                        </m:r>
                        <m:r>
                          <a:rPr lang="en-US" b="0" i="1" smtClean="0">
                            <a:latin typeface="Cambria Math" panose="02040503050406030204" pitchFamily="18" charset="0"/>
                          </a:rPr>
                          <m:t>𝑐𝑖𝑟𝑐𝑙𝑒</m:t>
                        </m:r>
                      </m:num>
                      <m:den>
                        <m:r>
                          <a:rPr lang="en-US" b="0" i="1" smtClean="0">
                            <a:latin typeface="Cambria Math" panose="02040503050406030204" pitchFamily="18" charset="0"/>
                          </a:rPr>
                          <m:t>𝑇𝑜𝑡𝑎𝑙</m:t>
                        </m:r>
                        <m:r>
                          <a:rPr lang="en-US" b="0" i="1" smtClean="0">
                            <a:latin typeface="Cambria Math" panose="02040503050406030204" pitchFamily="18" charset="0"/>
                          </a:rPr>
                          <m:t> </m:t>
                        </m:r>
                        <m:r>
                          <a:rPr lang="en-US" b="0" i="1" smtClean="0">
                            <a:latin typeface="Cambria Math" panose="02040503050406030204" pitchFamily="18" charset="0"/>
                          </a:rPr>
                          <m:t>𝑝𝑜𝑖𝑛𝑡𝑠</m:t>
                        </m:r>
                      </m:den>
                    </m:f>
                  </m:oMath>
                </a14:m>
                <a:endParaRPr lang="en-US" dirty="0" smtClean="0"/>
              </a:p>
              <a:p>
                <a:pPr marL="0" indent="0">
                  <a:buNone/>
                </a:pPr>
                <a:endParaRPr lang="en-US" dirty="0" smtClean="0"/>
              </a:p>
              <a:p>
                <a:pPr marL="0" indent="0">
                  <a:buNone/>
                </a:pP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481559"/>
                <a:ext cx="10515600" cy="4695404"/>
              </a:xfrm>
              <a:blipFill rotWithShape="0">
                <a:blip r:embed="rId2"/>
                <a:stretch>
                  <a:fillRect l="-928" t="-2987"/>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6512811" y="2908693"/>
            <a:ext cx="2032800" cy="2045271"/>
          </a:xfrm>
          <a:prstGeom prst="rect">
            <a:avLst/>
          </a:prstGeom>
        </p:spPr>
      </p:pic>
    </p:spTree>
    <p:extLst>
      <p:ext uri="{BB962C8B-B14F-4D97-AF65-F5344CB8AC3E}">
        <p14:creationId xmlns:p14="http://schemas.microsoft.com/office/powerpoint/2010/main" val="18767371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0217"/>
          </a:xfrm>
        </p:spPr>
        <p:txBody>
          <a:bodyPr/>
          <a:lstStyle/>
          <a:p>
            <a:pPr marL="0" indent="0"/>
            <a:r>
              <a:rPr lang="en-US" dirty="0" smtClean="0"/>
              <a:t>1.7 Monte-Carlo simulation </a:t>
            </a:r>
          </a:p>
        </p:txBody>
      </p:sp>
      <p:sp>
        <p:nvSpPr>
          <p:cNvPr id="3" name="Content Placeholder 2"/>
          <p:cNvSpPr>
            <a:spLocks noGrp="1"/>
          </p:cNvSpPr>
          <p:nvPr>
            <p:ph idx="1"/>
          </p:nvPr>
        </p:nvSpPr>
        <p:spPr>
          <a:xfrm>
            <a:off x="838200" y="1481559"/>
            <a:ext cx="10515600" cy="4695404"/>
          </a:xfrm>
        </p:spPr>
        <p:txBody>
          <a:bodyPr>
            <a:normAutofit/>
          </a:bodyPr>
          <a:lstStyle/>
          <a:p>
            <a:pPr marL="0" indent="0">
              <a:buNone/>
            </a:pPr>
            <a:r>
              <a:rPr lang="en-US" b="1" dirty="0"/>
              <a:t>Simple Example: </a:t>
            </a:r>
            <a:r>
              <a:rPr lang="en-US" dirty="0"/>
              <a:t>Estimating the value of pi(</a:t>
            </a:r>
            <a:r>
              <a:rPr lang="el-GR" dirty="0"/>
              <a:t>π</a:t>
            </a:r>
            <a:r>
              <a:rPr lang="en-US" dirty="0" smtClean="0"/>
              <a:t>)</a:t>
            </a:r>
          </a:p>
          <a:p>
            <a:pPr marL="0" indent="0">
              <a:buNone/>
            </a:pPr>
            <a:r>
              <a:rPr lang="en-US" dirty="0" smtClean="0"/>
              <a:t>Algorithm</a:t>
            </a:r>
            <a:endParaRPr lang="en-US" dirty="0"/>
          </a:p>
          <a:p>
            <a:pPr marL="514350" indent="-514350">
              <a:buFont typeface="+mj-lt"/>
              <a:buAutoNum type="arabicPeriod"/>
            </a:pPr>
            <a:r>
              <a:rPr lang="en-US" dirty="0"/>
              <a:t>Generate a random point (x, y) inside a square of side 2 centered at the origin.</a:t>
            </a:r>
          </a:p>
          <a:p>
            <a:pPr marL="514350" indent="-514350">
              <a:buFont typeface="+mj-lt"/>
              <a:buAutoNum type="arabicPeriod"/>
            </a:pPr>
            <a:r>
              <a:rPr lang="en-US" dirty="0"/>
              <a:t>Determine whether the point falls inside the unit circle inscribed in the square by checking whether x² + y² &lt;= 1.</a:t>
            </a:r>
          </a:p>
          <a:p>
            <a:pPr marL="514350" indent="-514350">
              <a:buFont typeface="+mj-lt"/>
              <a:buAutoNum type="arabicPeriod"/>
            </a:pPr>
            <a:r>
              <a:rPr lang="en-US" dirty="0"/>
              <a:t>Repeat steps 1 and 2 for a large number of points (e.g., 10⁷).</a:t>
            </a:r>
          </a:p>
          <a:p>
            <a:pPr marL="514350" indent="-514350">
              <a:buFont typeface="+mj-lt"/>
              <a:buAutoNum type="arabicPeriod"/>
            </a:pPr>
            <a:r>
              <a:rPr lang="en-US" dirty="0"/>
              <a:t>Calculate the ratio of the number of points that fell inside the circle to the total number of points generated.</a:t>
            </a:r>
          </a:p>
          <a:p>
            <a:pPr marL="514350" indent="-514350">
              <a:buFont typeface="+mj-lt"/>
              <a:buAutoNum type="arabicPeriod"/>
            </a:pPr>
            <a:r>
              <a:rPr lang="en-US" dirty="0"/>
              <a:t>Multiply the ratio by 4 to estimate the value of pi.</a:t>
            </a:r>
            <a:endParaRPr lang="en-US" dirty="0"/>
          </a:p>
        </p:txBody>
      </p:sp>
    </p:spTree>
    <p:extLst>
      <p:ext uri="{BB962C8B-B14F-4D97-AF65-F5344CB8AC3E}">
        <p14:creationId xmlns:p14="http://schemas.microsoft.com/office/powerpoint/2010/main" val="19770899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0217"/>
          </a:xfrm>
        </p:spPr>
        <p:txBody>
          <a:bodyPr/>
          <a:lstStyle/>
          <a:p>
            <a:pPr marL="0" indent="0"/>
            <a:r>
              <a:rPr lang="en-US" dirty="0" smtClean="0"/>
              <a:t>1.7 Monte-Carlo simulation </a:t>
            </a:r>
          </a:p>
        </p:txBody>
      </p:sp>
      <p:sp>
        <p:nvSpPr>
          <p:cNvPr id="3" name="Content Placeholder 2"/>
          <p:cNvSpPr>
            <a:spLocks noGrp="1"/>
          </p:cNvSpPr>
          <p:nvPr>
            <p:ph idx="1"/>
          </p:nvPr>
        </p:nvSpPr>
        <p:spPr>
          <a:xfrm>
            <a:off x="838200" y="1481559"/>
            <a:ext cx="10515600" cy="4695404"/>
          </a:xfrm>
        </p:spPr>
        <p:txBody>
          <a:bodyPr>
            <a:normAutofit/>
          </a:bodyPr>
          <a:lstStyle/>
          <a:p>
            <a:pPr marL="0" indent="0">
              <a:buNone/>
            </a:pPr>
            <a:r>
              <a:rPr lang="en-US" b="1" dirty="0"/>
              <a:t>Simple Example: </a:t>
            </a:r>
            <a:r>
              <a:rPr lang="en-US" dirty="0"/>
              <a:t>Estimating the value of pi(</a:t>
            </a:r>
            <a:r>
              <a:rPr lang="el-GR" dirty="0"/>
              <a:t>π</a:t>
            </a:r>
            <a:r>
              <a:rPr lang="en-US" dirty="0" smtClean="0"/>
              <a:t>)</a:t>
            </a:r>
          </a:p>
          <a:p>
            <a:pPr marL="0" indent="0">
              <a:buNone/>
            </a:pPr>
            <a:endParaRPr lang="en-US" b="1" dirty="0" smtClean="0"/>
          </a:p>
          <a:p>
            <a:pPr marL="0" indent="0">
              <a:buNone/>
            </a:pPr>
            <a:r>
              <a:rPr lang="en-US" b="1" dirty="0" smtClean="0"/>
              <a:t>Results </a:t>
            </a:r>
            <a:r>
              <a:rPr lang="en-US" dirty="0" smtClean="0"/>
              <a:t>(Assumptions)</a:t>
            </a:r>
          </a:p>
          <a:p>
            <a:pPr marL="0" indent="0">
              <a:buNone/>
            </a:pPr>
            <a:r>
              <a:rPr lang="fr-FR" dirty="0"/>
              <a:t>10 points: π ≈ 3.2 </a:t>
            </a:r>
            <a:endParaRPr lang="fr-FR" dirty="0" smtClean="0"/>
          </a:p>
          <a:p>
            <a:pPr marL="0" indent="0">
              <a:buNone/>
            </a:pPr>
            <a:r>
              <a:rPr lang="fr-FR" dirty="0" smtClean="0"/>
              <a:t>100 </a:t>
            </a:r>
            <a:r>
              <a:rPr lang="fr-FR" dirty="0"/>
              <a:t>points: π ≈ 3.16 </a:t>
            </a:r>
            <a:endParaRPr lang="fr-FR" dirty="0" smtClean="0"/>
          </a:p>
          <a:p>
            <a:pPr marL="0" indent="0">
              <a:buNone/>
            </a:pPr>
            <a:r>
              <a:rPr lang="fr-FR" dirty="0" smtClean="0"/>
              <a:t>1,000 </a:t>
            </a:r>
            <a:r>
              <a:rPr lang="fr-FR" dirty="0"/>
              <a:t>points: π ≈ 3.142 </a:t>
            </a:r>
            <a:endParaRPr lang="fr-FR" dirty="0" smtClean="0"/>
          </a:p>
          <a:p>
            <a:pPr marL="0" indent="0">
              <a:buNone/>
            </a:pPr>
            <a:r>
              <a:rPr lang="fr-FR" dirty="0" smtClean="0"/>
              <a:t>10,000 </a:t>
            </a:r>
            <a:r>
              <a:rPr lang="fr-FR" dirty="0"/>
              <a:t>points: π ≈ 3.1416 </a:t>
            </a:r>
            <a:endParaRPr lang="fr-FR" dirty="0" smtClean="0"/>
          </a:p>
          <a:p>
            <a:pPr marL="0" indent="0">
              <a:buNone/>
            </a:pPr>
            <a:r>
              <a:rPr lang="fr-FR" dirty="0" smtClean="0"/>
              <a:t>1,000,000 </a:t>
            </a:r>
            <a:r>
              <a:rPr lang="fr-FR" dirty="0"/>
              <a:t>points: π ≈ 3.141592...</a:t>
            </a:r>
            <a:endParaRPr lang="en-US" dirty="0" smtClean="0"/>
          </a:p>
        </p:txBody>
      </p:sp>
    </p:spTree>
    <p:extLst>
      <p:ext uri="{BB962C8B-B14F-4D97-AF65-F5344CB8AC3E}">
        <p14:creationId xmlns:p14="http://schemas.microsoft.com/office/powerpoint/2010/main" val="42127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0217"/>
          </a:xfrm>
        </p:spPr>
        <p:txBody>
          <a:bodyPr/>
          <a:lstStyle/>
          <a:p>
            <a:pPr marL="0" indent="0"/>
            <a:r>
              <a:rPr lang="en-US" dirty="0" smtClean="0"/>
              <a:t>1.7 Monte-Carlo simulation </a:t>
            </a:r>
          </a:p>
        </p:txBody>
      </p:sp>
      <p:sp>
        <p:nvSpPr>
          <p:cNvPr id="3" name="Content Placeholder 2"/>
          <p:cNvSpPr>
            <a:spLocks noGrp="1"/>
          </p:cNvSpPr>
          <p:nvPr>
            <p:ph idx="1"/>
          </p:nvPr>
        </p:nvSpPr>
        <p:spPr>
          <a:xfrm>
            <a:off x="838200" y="1481559"/>
            <a:ext cx="10515600" cy="4695404"/>
          </a:xfrm>
        </p:spPr>
        <p:txBody>
          <a:bodyPr>
            <a:normAutofit/>
          </a:bodyPr>
          <a:lstStyle/>
          <a:p>
            <a:pPr marL="0" indent="0">
              <a:buNone/>
            </a:pPr>
            <a:r>
              <a:rPr lang="en-US" dirty="0" smtClean="0"/>
              <a:t>Assignment</a:t>
            </a:r>
          </a:p>
          <a:p>
            <a:pPr marL="0" indent="0">
              <a:buNone/>
            </a:pPr>
            <a:r>
              <a:rPr lang="en-US" dirty="0" smtClean="0"/>
              <a:t>Q. Advantages and Disadvantages of Monte Carlo simulation</a:t>
            </a:r>
          </a:p>
          <a:p>
            <a:pPr marL="0" indent="0">
              <a:buNone/>
            </a:pPr>
            <a:r>
              <a:rPr lang="en-US" dirty="0" smtClean="0"/>
              <a:t>Q. Applications of Monte Carlo Simulation</a:t>
            </a:r>
          </a:p>
          <a:p>
            <a:pPr marL="0" indent="0">
              <a:buNone/>
            </a:pPr>
            <a:endParaRPr lang="en-US" dirty="0"/>
          </a:p>
        </p:txBody>
      </p:sp>
    </p:spTree>
    <p:extLst>
      <p:ext uri="{BB962C8B-B14F-4D97-AF65-F5344CB8AC3E}">
        <p14:creationId xmlns:p14="http://schemas.microsoft.com/office/powerpoint/2010/main" val="15704316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0217"/>
          </a:xfrm>
        </p:spPr>
        <p:txBody>
          <a:bodyPr/>
          <a:lstStyle/>
          <a:p>
            <a:pPr marL="0" indent="0"/>
            <a:r>
              <a:rPr lang="en-US" dirty="0" smtClean="0"/>
              <a:t>1.7 Monte-Carlo simulation </a:t>
            </a:r>
          </a:p>
        </p:txBody>
      </p:sp>
      <p:sp>
        <p:nvSpPr>
          <p:cNvPr id="3" name="Content Placeholder 2"/>
          <p:cNvSpPr>
            <a:spLocks noGrp="1"/>
          </p:cNvSpPr>
          <p:nvPr>
            <p:ph idx="1"/>
          </p:nvPr>
        </p:nvSpPr>
        <p:spPr>
          <a:xfrm>
            <a:off x="838200" y="1134319"/>
            <a:ext cx="10515600" cy="5042644"/>
          </a:xfrm>
        </p:spPr>
        <p:txBody>
          <a:bodyPr>
            <a:normAutofit/>
          </a:bodyPr>
          <a:lstStyle/>
          <a:p>
            <a:pPr marL="0" indent="0">
              <a:buNone/>
            </a:pPr>
            <a:r>
              <a:rPr lang="en-US" dirty="0" smtClean="0"/>
              <a:t>Q. A bakery keeps records of a popular brand of cake:</a:t>
            </a:r>
          </a:p>
          <a:p>
            <a:pPr marL="0" indent="0">
              <a:buNone/>
            </a:pPr>
            <a:endParaRPr lang="en-US" dirty="0" smtClean="0"/>
          </a:p>
          <a:p>
            <a:pPr marL="0" indent="0">
              <a:buNone/>
            </a:pPr>
            <a:endParaRPr lang="en-US" dirty="0" smtClean="0"/>
          </a:p>
          <a:p>
            <a:pPr marL="0" indent="0">
              <a:buNone/>
            </a:pPr>
            <a:endParaRPr lang="en-US" dirty="0" smtClean="0"/>
          </a:p>
          <a:p>
            <a:pPr marL="0" indent="0">
              <a:buNone/>
            </a:pPr>
            <a:r>
              <a:rPr lang="en-US" dirty="0" smtClean="0"/>
              <a:t>Given set of Random Numbers:</a:t>
            </a:r>
          </a:p>
          <a:p>
            <a:pPr marL="0" indent="0">
              <a:buNone/>
            </a:pPr>
            <a:r>
              <a:rPr lang="en-US" dirty="0" smtClean="0"/>
              <a:t>48,78,09,51,56,77,15,14,68 and 09</a:t>
            </a:r>
          </a:p>
          <a:p>
            <a:pPr marL="0" indent="0">
              <a:buNone/>
            </a:pPr>
            <a:r>
              <a:rPr lang="en-US" dirty="0" err="1" smtClean="0"/>
              <a:t>i</a:t>
            </a:r>
            <a:r>
              <a:rPr lang="en-US" dirty="0" smtClean="0"/>
              <a:t>) Using these sequences, simulate demand for next 10 days.</a:t>
            </a:r>
          </a:p>
          <a:p>
            <a:pPr marL="0" indent="0">
              <a:buNone/>
            </a:pPr>
            <a:r>
              <a:rPr lang="en-US" dirty="0" smtClean="0"/>
              <a:t>ii) Also find stock situation if owner made 35 cake/day.</a:t>
            </a:r>
          </a:p>
          <a:p>
            <a:pPr marL="0" indent="0">
              <a:buNone/>
            </a:pPr>
            <a:r>
              <a:rPr lang="en-US" dirty="0" smtClean="0"/>
              <a:t>iii) Also find average daily demand on the basis of simulated data.</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754594181"/>
              </p:ext>
            </p:extLst>
          </p:nvPr>
        </p:nvGraphicFramePr>
        <p:xfrm>
          <a:off x="1362274" y="1691938"/>
          <a:ext cx="8128001" cy="1016537"/>
        </p:xfrm>
        <a:graphic>
          <a:graphicData uri="http://schemas.openxmlformats.org/drawingml/2006/table">
            <a:tbl>
              <a:tblPr firstRow="1" bandRow="1">
                <a:tableStyleId>{5940675A-B579-460E-94D1-54222C63F5DA}</a:tableStyleId>
              </a:tblPr>
              <a:tblGrid>
                <a:gridCol w="1705017"/>
                <a:gridCol w="856527"/>
                <a:gridCol w="921885"/>
                <a:gridCol w="1161143"/>
                <a:gridCol w="1161143"/>
                <a:gridCol w="1161143"/>
                <a:gridCol w="1161143"/>
              </a:tblGrid>
              <a:tr h="643636">
                <a:tc>
                  <a:txBody>
                    <a:bodyPr/>
                    <a:lstStyle/>
                    <a:p>
                      <a:r>
                        <a:rPr lang="en-US" dirty="0" smtClean="0"/>
                        <a:t>Daily Demand</a:t>
                      </a:r>
                      <a:endParaRPr lang="en-US" dirty="0"/>
                    </a:p>
                  </a:txBody>
                  <a:tcPr/>
                </a:tc>
                <a:tc>
                  <a:txBody>
                    <a:bodyPr/>
                    <a:lstStyle/>
                    <a:p>
                      <a:r>
                        <a:rPr lang="en-US" dirty="0" smtClean="0"/>
                        <a:t>0</a:t>
                      </a:r>
                    </a:p>
                    <a:p>
                      <a:endParaRPr lang="en-US" dirty="0"/>
                    </a:p>
                  </a:txBody>
                  <a:tcPr/>
                </a:tc>
                <a:tc>
                  <a:txBody>
                    <a:bodyPr/>
                    <a:lstStyle/>
                    <a:p>
                      <a:r>
                        <a:rPr lang="en-US" dirty="0" smtClean="0"/>
                        <a:t>15</a:t>
                      </a:r>
                      <a:endParaRPr lang="en-US" dirty="0"/>
                    </a:p>
                  </a:txBody>
                  <a:tcPr/>
                </a:tc>
                <a:tc>
                  <a:txBody>
                    <a:bodyPr/>
                    <a:lstStyle/>
                    <a:p>
                      <a:r>
                        <a:rPr lang="en-US" dirty="0" smtClean="0"/>
                        <a:t>25</a:t>
                      </a:r>
                      <a:endParaRPr lang="en-US" dirty="0"/>
                    </a:p>
                  </a:txBody>
                  <a:tcPr/>
                </a:tc>
                <a:tc>
                  <a:txBody>
                    <a:bodyPr/>
                    <a:lstStyle/>
                    <a:p>
                      <a:r>
                        <a:rPr lang="en-US" dirty="0" smtClean="0"/>
                        <a:t>35</a:t>
                      </a:r>
                      <a:endParaRPr lang="en-US" dirty="0"/>
                    </a:p>
                  </a:txBody>
                  <a:tcPr/>
                </a:tc>
                <a:tc>
                  <a:txBody>
                    <a:bodyPr/>
                    <a:lstStyle/>
                    <a:p>
                      <a:r>
                        <a:rPr lang="en-US" dirty="0" smtClean="0"/>
                        <a:t>45</a:t>
                      </a:r>
                      <a:endParaRPr lang="en-US" dirty="0"/>
                    </a:p>
                  </a:txBody>
                  <a:tcPr/>
                </a:tc>
                <a:tc>
                  <a:txBody>
                    <a:bodyPr/>
                    <a:lstStyle/>
                    <a:p>
                      <a:r>
                        <a:rPr lang="en-US" dirty="0" smtClean="0"/>
                        <a:t>50</a:t>
                      </a:r>
                      <a:endParaRPr lang="en-US" dirty="0"/>
                    </a:p>
                  </a:txBody>
                  <a:tcPr/>
                </a:tc>
              </a:tr>
              <a:tr h="372901">
                <a:tc>
                  <a:txBody>
                    <a:bodyPr/>
                    <a:lstStyle/>
                    <a:p>
                      <a:r>
                        <a:rPr lang="en-US" dirty="0" smtClean="0"/>
                        <a:t>Probability</a:t>
                      </a:r>
                      <a:endParaRPr lang="en-US" dirty="0"/>
                    </a:p>
                  </a:txBody>
                  <a:tcPr/>
                </a:tc>
                <a:tc>
                  <a:txBody>
                    <a:bodyPr/>
                    <a:lstStyle/>
                    <a:p>
                      <a:r>
                        <a:rPr lang="en-US" dirty="0" smtClean="0"/>
                        <a:t>0.01</a:t>
                      </a:r>
                      <a:endParaRPr lang="en-US" dirty="0"/>
                    </a:p>
                  </a:txBody>
                  <a:tcPr/>
                </a:tc>
                <a:tc>
                  <a:txBody>
                    <a:bodyPr/>
                    <a:lstStyle/>
                    <a:p>
                      <a:r>
                        <a:rPr lang="en-US" dirty="0" smtClean="0"/>
                        <a:t>0.15</a:t>
                      </a:r>
                      <a:endParaRPr lang="en-US" dirty="0"/>
                    </a:p>
                  </a:txBody>
                  <a:tcPr/>
                </a:tc>
                <a:tc>
                  <a:txBody>
                    <a:bodyPr/>
                    <a:lstStyle/>
                    <a:p>
                      <a:r>
                        <a:rPr lang="en-US" dirty="0" smtClean="0"/>
                        <a:t>0.20</a:t>
                      </a:r>
                      <a:endParaRPr lang="en-US" dirty="0"/>
                    </a:p>
                  </a:txBody>
                  <a:tcPr/>
                </a:tc>
                <a:tc>
                  <a:txBody>
                    <a:bodyPr/>
                    <a:lstStyle/>
                    <a:p>
                      <a:r>
                        <a:rPr lang="en-US" dirty="0" smtClean="0"/>
                        <a:t>0.50</a:t>
                      </a:r>
                      <a:endParaRPr lang="en-US" dirty="0"/>
                    </a:p>
                  </a:txBody>
                  <a:tcPr/>
                </a:tc>
                <a:tc>
                  <a:txBody>
                    <a:bodyPr/>
                    <a:lstStyle/>
                    <a:p>
                      <a:r>
                        <a:rPr lang="en-US" dirty="0" smtClean="0"/>
                        <a:t>0.12</a:t>
                      </a:r>
                      <a:endParaRPr lang="en-US" dirty="0"/>
                    </a:p>
                  </a:txBody>
                  <a:tcPr/>
                </a:tc>
                <a:tc>
                  <a:txBody>
                    <a:bodyPr/>
                    <a:lstStyle/>
                    <a:p>
                      <a:r>
                        <a:rPr lang="en-US" dirty="0" smtClean="0"/>
                        <a:t>0.02</a:t>
                      </a:r>
                      <a:endParaRPr lang="en-US" dirty="0"/>
                    </a:p>
                  </a:txBody>
                  <a:tcPr/>
                </a:tc>
              </a:tr>
            </a:tbl>
          </a:graphicData>
        </a:graphic>
      </p:graphicFrame>
    </p:spTree>
    <p:extLst>
      <p:ext uri="{BB962C8B-B14F-4D97-AF65-F5344CB8AC3E}">
        <p14:creationId xmlns:p14="http://schemas.microsoft.com/office/powerpoint/2010/main" val="38989887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8281" y="714454"/>
            <a:ext cx="10515600" cy="5582173"/>
          </a:xfrm>
        </p:spPr>
        <p:txBody>
          <a:bodyPr/>
          <a:lstStyle/>
          <a:p>
            <a:pPr marL="0" indent="0">
              <a:buNone/>
            </a:pPr>
            <a:r>
              <a:rPr lang="en-US" dirty="0" smtClean="0"/>
              <a:t>Steps:</a:t>
            </a:r>
          </a:p>
          <a:p>
            <a:pPr marL="514350" indent="-514350">
              <a:buAutoNum type="arabicPeriod"/>
            </a:pPr>
            <a:r>
              <a:rPr lang="en-US" dirty="0" smtClean="0"/>
              <a:t>Establish probability distribution</a:t>
            </a:r>
          </a:p>
          <a:p>
            <a:pPr marL="514350" indent="-514350">
              <a:buAutoNum type="arabicPeriod"/>
            </a:pPr>
            <a:r>
              <a:rPr lang="en-US" dirty="0" smtClean="0"/>
              <a:t>Cumulative Probability Distribution</a:t>
            </a:r>
          </a:p>
          <a:p>
            <a:pPr marL="514350" indent="-514350">
              <a:buAutoNum type="arabicPeriod"/>
            </a:pPr>
            <a:r>
              <a:rPr lang="en-US" dirty="0" smtClean="0"/>
              <a:t>Setting Random Number Interval</a:t>
            </a:r>
          </a:p>
          <a:p>
            <a:pPr marL="514350" indent="-514350">
              <a:buAutoNum type="arabicPeriod"/>
            </a:pPr>
            <a:r>
              <a:rPr lang="en-US" dirty="0" smtClean="0"/>
              <a:t>Generating Random Number</a:t>
            </a:r>
          </a:p>
          <a:p>
            <a:pPr marL="514350" indent="-514350">
              <a:buAutoNum type="arabicPeriod"/>
            </a:pPr>
            <a:r>
              <a:rPr lang="en-US" dirty="0" smtClean="0"/>
              <a:t>Finding the answer of the question</a:t>
            </a:r>
          </a:p>
          <a:p>
            <a:pPr marL="514350" indent="-514350">
              <a:buAutoNum type="arabicPeriod"/>
            </a:pPr>
            <a:endParaRPr lang="en-US" dirty="0"/>
          </a:p>
          <a:p>
            <a:pPr marL="0" indent="0">
              <a:buNone/>
            </a:pPr>
            <a:endParaRPr lang="en-US" dirty="0"/>
          </a:p>
        </p:txBody>
      </p:sp>
    </p:spTree>
    <p:extLst>
      <p:ext uri="{BB962C8B-B14F-4D97-AF65-F5344CB8AC3E}">
        <p14:creationId xmlns:p14="http://schemas.microsoft.com/office/powerpoint/2010/main" val="16862949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625600" y="1741750"/>
            <a:ext cx="7874514" cy="3695772"/>
          </a:xfrm>
          <a:prstGeom prst="rect">
            <a:avLst/>
          </a:prstGeom>
        </p:spPr>
      </p:pic>
      <p:sp>
        <p:nvSpPr>
          <p:cNvPr id="4" name="TextBox 3"/>
          <p:cNvSpPr txBox="1"/>
          <p:nvPr/>
        </p:nvSpPr>
        <p:spPr>
          <a:xfrm>
            <a:off x="7457040" y="2715090"/>
            <a:ext cx="561740" cy="366962"/>
          </a:xfrm>
          <a:prstGeom prst="rect">
            <a:avLst/>
          </a:prstGeom>
          <a:solidFill>
            <a:schemeClr val="accent1">
              <a:lumMod val="40000"/>
              <a:lumOff val="60000"/>
            </a:schemeClr>
          </a:solidFill>
        </p:spPr>
        <p:txBody>
          <a:bodyPr wrap="square" rtlCol="0">
            <a:spAutoFit/>
          </a:bodyPr>
          <a:lstStyle/>
          <a:p>
            <a:r>
              <a:rPr lang="en-US" dirty="0" smtClean="0"/>
              <a:t>0-0</a:t>
            </a:r>
            <a:endParaRPr lang="en-US" dirty="0"/>
          </a:p>
        </p:txBody>
      </p:sp>
      <p:sp>
        <p:nvSpPr>
          <p:cNvPr id="5" name="Rectangle 4"/>
          <p:cNvSpPr/>
          <p:nvPr/>
        </p:nvSpPr>
        <p:spPr>
          <a:xfrm>
            <a:off x="629920" y="620375"/>
            <a:ext cx="6096000" cy="1015663"/>
          </a:xfrm>
          <a:prstGeom prst="rect">
            <a:avLst/>
          </a:prstGeom>
        </p:spPr>
        <p:txBody>
          <a:bodyPr>
            <a:spAutoFit/>
          </a:bodyPr>
          <a:lstStyle/>
          <a:p>
            <a:pPr marL="514350" indent="-514350">
              <a:buAutoNum type="arabicPeriod"/>
            </a:pPr>
            <a:r>
              <a:rPr lang="en-US" sz="2000" dirty="0" smtClean="0"/>
              <a:t>Establish probability distribution</a:t>
            </a:r>
          </a:p>
          <a:p>
            <a:pPr marL="514350" indent="-514350">
              <a:buAutoNum type="arabicPeriod"/>
            </a:pPr>
            <a:r>
              <a:rPr lang="en-US" sz="2000" dirty="0" smtClean="0"/>
              <a:t>Cumulative Probability Distribution</a:t>
            </a:r>
          </a:p>
          <a:p>
            <a:pPr marL="514350" indent="-514350">
              <a:buAutoNum type="arabicPeriod"/>
            </a:pPr>
            <a:r>
              <a:rPr lang="en-US" sz="2000" dirty="0" smtClean="0"/>
              <a:t>Setting Random Number Interval</a:t>
            </a:r>
          </a:p>
        </p:txBody>
      </p:sp>
    </p:spTree>
    <p:extLst>
      <p:ext uri="{BB962C8B-B14F-4D97-AF65-F5344CB8AC3E}">
        <p14:creationId xmlns:p14="http://schemas.microsoft.com/office/powerpoint/2010/main" val="30087193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5480" y="941705"/>
            <a:ext cx="10515600" cy="4351338"/>
          </a:xfrm>
        </p:spPr>
        <p:txBody>
          <a:bodyPr/>
          <a:lstStyle/>
          <a:p>
            <a:pPr marL="0" indent="0">
              <a:buNone/>
            </a:pPr>
            <a:r>
              <a:rPr lang="en-US" dirty="0" smtClean="0"/>
              <a:t>Generating Random Number</a:t>
            </a:r>
          </a:p>
          <a:p>
            <a:pPr marL="0" indent="0">
              <a:buNone/>
            </a:pPr>
            <a:r>
              <a:rPr lang="en-US" dirty="0" smtClean="0"/>
              <a:t>48,78,09,51,56,77,15,14,68,09</a:t>
            </a:r>
          </a:p>
          <a:p>
            <a:pPr marL="0" indent="0">
              <a:buNone/>
            </a:pPr>
            <a:endParaRPr lang="en-US" dirty="0" smtClean="0"/>
          </a:p>
        </p:txBody>
      </p:sp>
      <p:pic>
        <p:nvPicPr>
          <p:cNvPr id="5" name="Picture 4"/>
          <p:cNvPicPr>
            <a:picLocks noChangeAspect="1"/>
          </p:cNvPicPr>
          <p:nvPr/>
        </p:nvPicPr>
        <p:blipFill>
          <a:blip r:embed="rId2"/>
          <a:stretch>
            <a:fillRect/>
          </a:stretch>
        </p:blipFill>
        <p:spPr>
          <a:xfrm>
            <a:off x="1761128" y="2010246"/>
            <a:ext cx="5137718" cy="4075594"/>
          </a:xfrm>
          <a:prstGeom prst="rect">
            <a:avLst/>
          </a:prstGeom>
        </p:spPr>
      </p:pic>
      <p:sp>
        <p:nvSpPr>
          <p:cNvPr id="6" name="Rectangle 5"/>
          <p:cNvSpPr/>
          <p:nvPr/>
        </p:nvSpPr>
        <p:spPr>
          <a:xfrm>
            <a:off x="7182030" y="5293043"/>
            <a:ext cx="3665492" cy="369332"/>
          </a:xfrm>
          <a:prstGeom prst="rect">
            <a:avLst/>
          </a:prstGeom>
        </p:spPr>
        <p:txBody>
          <a:bodyPr wrap="none">
            <a:spAutoFit/>
          </a:bodyPr>
          <a:lstStyle/>
          <a:p>
            <a:pPr algn="r"/>
            <a:r>
              <a:rPr lang="en-US" b="1" dirty="0" smtClean="0"/>
              <a:t>Average daily demand = 270/10 = 27</a:t>
            </a:r>
          </a:p>
        </p:txBody>
      </p:sp>
    </p:spTree>
    <p:extLst>
      <p:ext uri="{BB962C8B-B14F-4D97-AF65-F5344CB8AC3E}">
        <p14:creationId xmlns:p14="http://schemas.microsoft.com/office/powerpoint/2010/main" val="23145390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2600" y="718184"/>
            <a:ext cx="10515600" cy="5631815"/>
          </a:xfrm>
        </p:spPr>
        <p:txBody>
          <a:bodyPr>
            <a:normAutofit fontScale="85000" lnSpcReduction="10000"/>
          </a:bodyPr>
          <a:lstStyle/>
          <a:p>
            <a:pPr marL="0" indent="0">
              <a:buNone/>
            </a:pPr>
            <a:r>
              <a:rPr lang="en-US" dirty="0" smtClean="0"/>
              <a:t>Q. Strong is a dentist who schedules all her patients for 30 minutes appointments. Some of the patients take more or less than 30 minutes depending on the type of dental work to be done. The following summary shows the various categories of work, and the time actually needed to complete the work:-</a:t>
            </a:r>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r>
              <a:rPr lang="en-US" dirty="0" smtClean="0"/>
              <a:t>Use </a:t>
            </a:r>
            <a:r>
              <a:rPr lang="en-US" dirty="0" err="1" smtClean="0"/>
              <a:t>monte</a:t>
            </a:r>
            <a:r>
              <a:rPr lang="en-US" dirty="0" smtClean="0"/>
              <a:t> </a:t>
            </a:r>
            <a:r>
              <a:rPr lang="en-US" dirty="0" err="1" smtClean="0"/>
              <a:t>carlo</a:t>
            </a:r>
            <a:r>
              <a:rPr lang="en-US" dirty="0" smtClean="0"/>
              <a:t> simulation to find average waiting time of patients as well as idle time of doctor if clinic operates for 4 hours. Assume all patients arrive at clinic on scheduled time with arrival time starting at 8:00 am.</a:t>
            </a:r>
          </a:p>
          <a:p>
            <a:pPr marL="0" indent="0">
              <a:buNone/>
            </a:pPr>
            <a:r>
              <a:rPr lang="en-US" dirty="0" smtClean="0"/>
              <a:t>Use following random numbers</a:t>
            </a:r>
          </a:p>
          <a:p>
            <a:pPr marL="0" indent="0">
              <a:buNone/>
            </a:pPr>
            <a:r>
              <a:rPr lang="en-US" dirty="0" smtClean="0"/>
              <a:t>40,82,11,34,25,66,17,79</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4113198414"/>
              </p:ext>
            </p:extLst>
          </p:nvPr>
        </p:nvGraphicFramePr>
        <p:xfrm>
          <a:off x="1753772" y="2177964"/>
          <a:ext cx="8127999" cy="2219960"/>
        </p:xfrm>
        <a:graphic>
          <a:graphicData uri="http://schemas.openxmlformats.org/drawingml/2006/table">
            <a:tbl>
              <a:tblPr firstRow="1" bandRow="1">
                <a:tableStyleId>{5C22544A-7EE6-4342-B048-85BDC9FD1C3A}</a:tableStyleId>
              </a:tblPr>
              <a:tblGrid>
                <a:gridCol w="2709333"/>
                <a:gridCol w="2709333"/>
                <a:gridCol w="2709333"/>
              </a:tblGrid>
              <a:tr h="348826">
                <a:tc>
                  <a:txBody>
                    <a:bodyPr/>
                    <a:lstStyle/>
                    <a:p>
                      <a:r>
                        <a:rPr lang="en-US" dirty="0" smtClean="0"/>
                        <a:t>Category</a:t>
                      </a:r>
                      <a:endParaRPr lang="en-US" dirty="0"/>
                    </a:p>
                  </a:txBody>
                  <a:tcPr/>
                </a:tc>
                <a:tc>
                  <a:txBody>
                    <a:bodyPr/>
                    <a:lstStyle/>
                    <a:p>
                      <a:r>
                        <a:rPr lang="en-US" dirty="0" smtClean="0"/>
                        <a:t>Time Required</a:t>
                      </a:r>
                      <a:endParaRPr lang="en-US" dirty="0"/>
                    </a:p>
                  </a:txBody>
                  <a:tcPr/>
                </a:tc>
                <a:tc>
                  <a:txBody>
                    <a:bodyPr/>
                    <a:lstStyle/>
                    <a:p>
                      <a:r>
                        <a:rPr lang="en-US" dirty="0" smtClean="0"/>
                        <a:t>No. of Patients</a:t>
                      </a:r>
                      <a:endParaRPr lang="en-US" dirty="0"/>
                    </a:p>
                  </a:txBody>
                  <a:tcPr/>
                </a:tc>
              </a:tr>
              <a:tr h="370840">
                <a:tc>
                  <a:txBody>
                    <a:bodyPr/>
                    <a:lstStyle/>
                    <a:p>
                      <a:r>
                        <a:rPr lang="en-US" dirty="0" smtClean="0"/>
                        <a:t>Filling</a:t>
                      </a:r>
                    </a:p>
                  </a:txBody>
                  <a:tcPr/>
                </a:tc>
                <a:tc>
                  <a:txBody>
                    <a:bodyPr/>
                    <a:lstStyle/>
                    <a:p>
                      <a:r>
                        <a:rPr lang="en-US" dirty="0" smtClean="0"/>
                        <a:t>45min</a:t>
                      </a:r>
                      <a:endParaRPr lang="en-US" dirty="0"/>
                    </a:p>
                  </a:txBody>
                  <a:tcPr/>
                </a:tc>
                <a:tc>
                  <a:txBody>
                    <a:bodyPr/>
                    <a:lstStyle/>
                    <a:p>
                      <a:r>
                        <a:rPr lang="en-US" dirty="0" smtClean="0"/>
                        <a:t>40</a:t>
                      </a:r>
                      <a:endParaRPr lang="en-US" dirty="0"/>
                    </a:p>
                  </a:txBody>
                  <a:tcPr/>
                </a:tc>
              </a:tr>
              <a:tr h="370840">
                <a:tc>
                  <a:txBody>
                    <a:bodyPr/>
                    <a:lstStyle/>
                    <a:p>
                      <a:r>
                        <a:rPr lang="en-US" dirty="0" smtClean="0"/>
                        <a:t>Crown</a:t>
                      </a:r>
                      <a:endParaRPr lang="en-US" dirty="0"/>
                    </a:p>
                  </a:txBody>
                  <a:tcPr/>
                </a:tc>
                <a:tc>
                  <a:txBody>
                    <a:bodyPr/>
                    <a:lstStyle/>
                    <a:p>
                      <a:r>
                        <a:rPr lang="en-US" dirty="0" smtClean="0"/>
                        <a:t>60min</a:t>
                      </a:r>
                      <a:endParaRPr lang="en-US" dirty="0"/>
                    </a:p>
                  </a:txBody>
                  <a:tcPr/>
                </a:tc>
                <a:tc>
                  <a:txBody>
                    <a:bodyPr/>
                    <a:lstStyle/>
                    <a:p>
                      <a:r>
                        <a:rPr lang="en-US" dirty="0" smtClean="0"/>
                        <a:t>15</a:t>
                      </a:r>
                      <a:endParaRPr lang="en-US" dirty="0"/>
                    </a:p>
                  </a:txBody>
                  <a:tcPr/>
                </a:tc>
              </a:tr>
              <a:tr h="370840">
                <a:tc>
                  <a:txBody>
                    <a:bodyPr/>
                    <a:lstStyle/>
                    <a:p>
                      <a:r>
                        <a:rPr lang="en-US" dirty="0" smtClean="0"/>
                        <a:t>Cleaning</a:t>
                      </a:r>
                      <a:endParaRPr lang="en-US" dirty="0"/>
                    </a:p>
                  </a:txBody>
                  <a:tcPr/>
                </a:tc>
                <a:tc>
                  <a:txBody>
                    <a:bodyPr/>
                    <a:lstStyle/>
                    <a:p>
                      <a:r>
                        <a:rPr lang="en-US" dirty="0" smtClean="0"/>
                        <a:t>15min</a:t>
                      </a:r>
                      <a:endParaRPr lang="en-US" dirty="0"/>
                    </a:p>
                  </a:txBody>
                  <a:tcPr/>
                </a:tc>
                <a:tc>
                  <a:txBody>
                    <a:bodyPr/>
                    <a:lstStyle/>
                    <a:p>
                      <a:r>
                        <a:rPr lang="en-US" dirty="0" smtClean="0"/>
                        <a:t>15</a:t>
                      </a:r>
                      <a:endParaRPr lang="en-US" dirty="0"/>
                    </a:p>
                  </a:txBody>
                  <a:tcPr/>
                </a:tc>
              </a:tr>
              <a:tr h="370840">
                <a:tc>
                  <a:txBody>
                    <a:bodyPr/>
                    <a:lstStyle/>
                    <a:p>
                      <a:r>
                        <a:rPr lang="en-US" dirty="0" smtClean="0"/>
                        <a:t>Extracting</a:t>
                      </a:r>
                      <a:endParaRPr lang="en-US" dirty="0"/>
                    </a:p>
                  </a:txBody>
                  <a:tcPr/>
                </a:tc>
                <a:tc>
                  <a:txBody>
                    <a:bodyPr/>
                    <a:lstStyle/>
                    <a:p>
                      <a:r>
                        <a:rPr lang="en-US" dirty="0" smtClean="0"/>
                        <a:t>45min</a:t>
                      </a:r>
                      <a:endParaRPr lang="en-US" dirty="0"/>
                    </a:p>
                  </a:txBody>
                  <a:tcPr/>
                </a:tc>
                <a:tc>
                  <a:txBody>
                    <a:bodyPr/>
                    <a:lstStyle/>
                    <a:p>
                      <a:r>
                        <a:rPr lang="en-US" dirty="0" smtClean="0"/>
                        <a:t>10</a:t>
                      </a:r>
                      <a:endParaRPr lang="en-US" dirty="0"/>
                    </a:p>
                  </a:txBody>
                  <a:tcPr/>
                </a:tc>
              </a:tr>
              <a:tr h="370840">
                <a:tc>
                  <a:txBody>
                    <a:bodyPr/>
                    <a:lstStyle/>
                    <a:p>
                      <a:r>
                        <a:rPr lang="en-US" dirty="0" smtClean="0"/>
                        <a:t>Checkup</a:t>
                      </a:r>
                      <a:endParaRPr lang="en-US" dirty="0"/>
                    </a:p>
                  </a:txBody>
                  <a:tcPr/>
                </a:tc>
                <a:tc>
                  <a:txBody>
                    <a:bodyPr/>
                    <a:lstStyle/>
                    <a:p>
                      <a:r>
                        <a:rPr lang="en-US" dirty="0" smtClean="0"/>
                        <a:t>15min</a:t>
                      </a:r>
                      <a:endParaRPr lang="en-US" dirty="0"/>
                    </a:p>
                  </a:txBody>
                  <a:tcPr/>
                </a:tc>
                <a:tc>
                  <a:txBody>
                    <a:bodyPr/>
                    <a:lstStyle/>
                    <a:p>
                      <a:r>
                        <a:rPr lang="en-US" dirty="0" smtClean="0"/>
                        <a:t>20</a:t>
                      </a:r>
                      <a:endParaRPr lang="en-US" dirty="0"/>
                    </a:p>
                  </a:txBody>
                  <a:tcPr/>
                </a:tc>
              </a:tr>
            </a:tbl>
          </a:graphicData>
        </a:graphic>
      </p:graphicFrame>
    </p:spTree>
    <p:extLst>
      <p:ext uri="{BB962C8B-B14F-4D97-AF65-F5344CB8AC3E}">
        <p14:creationId xmlns:p14="http://schemas.microsoft.com/office/powerpoint/2010/main" val="16924360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229465004"/>
              </p:ext>
            </p:extLst>
          </p:nvPr>
        </p:nvGraphicFramePr>
        <p:xfrm>
          <a:off x="657592" y="1054711"/>
          <a:ext cx="10515600" cy="3535680"/>
        </p:xfrm>
        <a:graphic>
          <a:graphicData uri="http://schemas.openxmlformats.org/drawingml/2006/table">
            <a:tbl>
              <a:tblPr firstRow="1" bandRow="1">
                <a:tableStyleId>{5C22544A-7EE6-4342-B048-85BDC9FD1C3A}</a:tableStyleId>
              </a:tblPr>
              <a:tblGrid>
                <a:gridCol w="1752600"/>
                <a:gridCol w="1752600"/>
                <a:gridCol w="1752600"/>
                <a:gridCol w="2085608"/>
                <a:gridCol w="1419592"/>
                <a:gridCol w="1752600"/>
              </a:tblGrid>
              <a:tr h="370840">
                <a:tc>
                  <a:txBody>
                    <a:bodyPr/>
                    <a:lstStyle/>
                    <a:p>
                      <a:r>
                        <a:rPr lang="en-US" sz="2800" dirty="0" smtClean="0"/>
                        <a:t>Category</a:t>
                      </a:r>
                      <a:endParaRPr lang="en-US" sz="2800" dirty="0"/>
                    </a:p>
                  </a:txBody>
                  <a:tcPr/>
                </a:tc>
                <a:tc>
                  <a:txBody>
                    <a:bodyPr/>
                    <a:lstStyle/>
                    <a:p>
                      <a:r>
                        <a:rPr lang="en-US" sz="2800" dirty="0" smtClean="0"/>
                        <a:t>Time Required</a:t>
                      </a:r>
                      <a:endParaRPr lang="en-US" sz="2800" dirty="0"/>
                    </a:p>
                  </a:txBody>
                  <a:tcPr/>
                </a:tc>
                <a:tc>
                  <a:txBody>
                    <a:bodyPr/>
                    <a:lstStyle/>
                    <a:p>
                      <a:r>
                        <a:rPr lang="en-US" sz="2800" dirty="0" smtClean="0"/>
                        <a:t>No. of Patients</a:t>
                      </a:r>
                      <a:endParaRPr lang="en-US" sz="2800" dirty="0"/>
                    </a:p>
                  </a:txBody>
                  <a:tcPr/>
                </a:tc>
                <a:tc>
                  <a:txBody>
                    <a:bodyPr/>
                    <a:lstStyle/>
                    <a:p>
                      <a:r>
                        <a:rPr lang="en-US" sz="2800" dirty="0" smtClean="0"/>
                        <a:t>Probability Distribution</a:t>
                      </a:r>
                      <a:endParaRPr lang="en-US" sz="2800" dirty="0"/>
                    </a:p>
                  </a:txBody>
                  <a:tcPr/>
                </a:tc>
                <a:tc>
                  <a:txBody>
                    <a:bodyPr/>
                    <a:lstStyle/>
                    <a:p>
                      <a:endParaRPr lang="en-US" sz="2800" dirty="0"/>
                    </a:p>
                  </a:txBody>
                  <a:tcPr/>
                </a:tc>
                <a:tc>
                  <a:txBody>
                    <a:bodyPr/>
                    <a:lstStyle/>
                    <a:p>
                      <a:endParaRPr lang="en-US" sz="2800" dirty="0"/>
                    </a:p>
                  </a:txBody>
                  <a:tcPr/>
                </a:tc>
              </a:tr>
              <a:tr h="370840">
                <a:tc>
                  <a:txBody>
                    <a:bodyPr/>
                    <a:lstStyle/>
                    <a:p>
                      <a:r>
                        <a:rPr lang="en-US" sz="2800" dirty="0" smtClean="0"/>
                        <a:t>Filling</a:t>
                      </a:r>
                    </a:p>
                  </a:txBody>
                  <a:tcPr/>
                </a:tc>
                <a:tc>
                  <a:txBody>
                    <a:bodyPr/>
                    <a:lstStyle/>
                    <a:p>
                      <a:r>
                        <a:rPr lang="en-US" sz="2800" dirty="0" smtClean="0"/>
                        <a:t>45min</a:t>
                      </a:r>
                      <a:endParaRPr lang="en-US" sz="2800" dirty="0"/>
                    </a:p>
                  </a:txBody>
                  <a:tcPr/>
                </a:tc>
                <a:tc>
                  <a:txBody>
                    <a:bodyPr/>
                    <a:lstStyle/>
                    <a:p>
                      <a:r>
                        <a:rPr lang="en-US" sz="2800" dirty="0" smtClean="0"/>
                        <a:t>40</a:t>
                      </a:r>
                      <a:endParaRPr lang="en-US" sz="2800" dirty="0"/>
                    </a:p>
                  </a:txBody>
                  <a:tcPr/>
                </a:tc>
                <a:tc>
                  <a:txBody>
                    <a:bodyPr/>
                    <a:lstStyle/>
                    <a:p>
                      <a:r>
                        <a:rPr lang="en-US" sz="2800" dirty="0" smtClean="0"/>
                        <a:t>0.4</a:t>
                      </a:r>
                      <a:endParaRPr lang="en-US" sz="2800" dirty="0"/>
                    </a:p>
                  </a:txBody>
                  <a:tcPr/>
                </a:tc>
                <a:tc>
                  <a:txBody>
                    <a:bodyPr/>
                    <a:lstStyle/>
                    <a:p>
                      <a:endParaRPr lang="en-US" dirty="0"/>
                    </a:p>
                  </a:txBody>
                  <a:tcPr/>
                </a:tc>
                <a:tc>
                  <a:txBody>
                    <a:bodyPr/>
                    <a:lstStyle/>
                    <a:p>
                      <a:endParaRPr lang="en-US" dirty="0"/>
                    </a:p>
                  </a:txBody>
                  <a:tcPr/>
                </a:tc>
              </a:tr>
              <a:tr h="370840">
                <a:tc>
                  <a:txBody>
                    <a:bodyPr/>
                    <a:lstStyle/>
                    <a:p>
                      <a:r>
                        <a:rPr lang="en-US" sz="2800" dirty="0" smtClean="0"/>
                        <a:t>Crown</a:t>
                      </a:r>
                      <a:endParaRPr lang="en-US" sz="2800" dirty="0"/>
                    </a:p>
                  </a:txBody>
                  <a:tcPr/>
                </a:tc>
                <a:tc>
                  <a:txBody>
                    <a:bodyPr/>
                    <a:lstStyle/>
                    <a:p>
                      <a:r>
                        <a:rPr lang="en-US" sz="2800" dirty="0" smtClean="0"/>
                        <a:t>60min</a:t>
                      </a:r>
                      <a:endParaRPr lang="en-US" sz="2800" dirty="0"/>
                    </a:p>
                  </a:txBody>
                  <a:tcPr/>
                </a:tc>
                <a:tc>
                  <a:txBody>
                    <a:bodyPr/>
                    <a:lstStyle/>
                    <a:p>
                      <a:r>
                        <a:rPr lang="en-US" sz="2800" dirty="0" smtClean="0"/>
                        <a:t>15</a:t>
                      </a:r>
                      <a:endParaRPr lang="en-US" sz="2800" dirty="0"/>
                    </a:p>
                  </a:txBody>
                  <a:tcPr/>
                </a:tc>
                <a:tc>
                  <a:txBody>
                    <a:bodyPr/>
                    <a:lstStyle/>
                    <a:p>
                      <a:r>
                        <a:rPr lang="en-US" sz="2800" dirty="0" smtClean="0"/>
                        <a:t>0.15</a:t>
                      </a:r>
                      <a:endParaRPr lang="en-US" sz="2800" dirty="0"/>
                    </a:p>
                  </a:txBody>
                  <a:tcPr/>
                </a:tc>
                <a:tc>
                  <a:txBody>
                    <a:bodyPr/>
                    <a:lstStyle/>
                    <a:p>
                      <a:endParaRPr lang="en-US"/>
                    </a:p>
                  </a:txBody>
                  <a:tcPr/>
                </a:tc>
                <a:tc>
                  <a:txBody>
                    <a:bodyPr/>
                    <a:lstStyle/>
                    <a:p>
                      <a:endParaRPr lang="en-US"/>
                    </a:p>
                  </a:txBody>
                  <a:tcPr/>
                </a:tc>
              </a:tr>
              <a:tr h="370840">
                <a:tc>
                  <a:txBody>
                    <a:bodyPr/>
                    <a:lstStyle/>
                    <a:p>
                      <a:r>
                        <a:rPr lang="en-US" sz="2800" dirty="0" smtClean="0"/>
                        <a:t>Cleaning</a:t>
                      </a:r>
                      <a:endParaRPr lang="en-US" sz="2800" dirty="0"/>
                    </a:p>
                  </a:txBody>
                  <a:tcPr/>
                </a:tc>
                <a:tc>
                  <a:txBody>
                    <a:bodyPr/>
                    <a:lstStyle/>
                    <a:p>
                      <a:r>
                        <a:rPr lang="en-US" sz="2800" dirty="0" smtClean="0"/>
                        <a:t>15min</a:t>
                      </a:r>
                      <a:endParaRPr lang="en-US" sz="2800" dirty="0"/>
                    </a:p>
                  </a:txBody>
                  <a:tcPr/>
                </a:tc>
                <a:tc>
                  <a:txBody>
                    <a:bodyPr/>
                    <a:lstStyle/>
                    <a:p>
                      <a:r>
                        <a:rPr lang="en-US" sz="2800" dirty="0" smtClean="0"/>
                        <a:t>15</a:t>
                      </a:r>
                      <a:endParaRPr lang="en-US" sz="2800" dirty="0"/>
                    </a:p>
                  </a:txBody>
                  <a:tcPr/>
                </a:tc>
                <a:tc>
                  <a:txBody>
                    <a:bodyPr/>
                    <a:lstStyle/>
                    <a:p>
                      <a:r>
                        <a:rPr lang="en-US" sz="2800" dirty="0" smtClean="0"/>
                        <a:t>0.15</a:t>
                      </a:r>
                      <a:endParaRPr lang="en-US" sz="2800" dirty="0"/>
                    </a:p>
                  </a:txBody>
                  <a:tcPr/>
                </a:tc>
                <a:tc>
                  <a:txBody>
                    <a:bodyPr/>
                    <a:lstStyle/>
                    <a:p>
                      <a:endParaRPr lang="en-US"/>
                    </a:p>
                  </a:txBody>
                  <a:tcPr/>
                </a:tc>
                <a:tc>
                  <a:txBody>
                    <a:bodyPr/>
                    <a:lstStyle/>
                    <a:p>
                      <a:endParaRPr lang="en-US"/>
                    </a:p>
                  </a:txBody>
                  <a:tcPr/>
                </a:tc>
              </a:tr>
              <a:tr h="370840">
                <a:tc>
                  <a:txBody>
                    <a:bodyPr/>
                    <a:lstStyle/>
                    <a:p>
                      <a:r>
                        <a:rPr lang="en-US" sz="2800" dirty="0" smtClean="0"/>
                        <a:t>Extracting</a:t>
                      </a:r>
                      <a:endParaRPr lang="en-US" sz="2800" dirty="0"/>
                    </a:p>
                  </a:txBody>
                  <a:tcPr/>
                </a:tc>
                <a:tc>
                  <a:txBody>
                    <a:bodyPr/>
                    <a:lstStyle/>
                    <a:p>
                      <a:r>
                        <a:rPr lang="en-US" sz="2800" dirty="0" smtClean="0"/>
                        <a:t>45min</a:t>
                      </a:r>
                      <a:endParaRPr lang="en-US" sz="2800" dirty="0"/>
                    </a:p>
                  </a:txBody>
                  <a:tcPr/>
                </a:tc>
                <a:tc>
                  <a:txBody>
                    <a:bodyPr/>
                    <a:lstStyle/>
                    <a:p>
                      <a:r>
                        <a:rPr lang="en-US" sz="2800" dirty="0" smtClean="0"/>
                        <a:t>10</a:t>
                      </a:r>
                      <a:endParaRPr lang="en-US" sz="2800" dirty="0"/>
                    </a:p>
                  </a:txBody>
                  <a:tcPr/>
                </a:tc>
                <a:tc>
                  <a:txBody>
                    <a:bodyPr/>
                    <a:lstStyle/>
                    <a:p>
                      <a:r>
                        <a:rPr lang="en-US" sz="2800" dirty="0" smtClean="0"/>
                        <a:t>0.1</a:t>
                      </a:r>
                      <a:endParaRPr lang="en-US" sz="2800" dirty="0"/>
                    </a:p>
                  </a:txBody>
                  <a:tcPr/>
                </a:tc>
                <a:tc>
                  <a:txBody>
                    <a:bodyPr/>
                    <a:lstStyle/>
                    <a:p>
                      <a:endParaRPr lang="en-US"/>
                    </a:p>
                  </a:txBody>
                  <a:tcPr/>
                </a:tc>
                <a:tc>
                  <a:txBody>
                    <a:bodyPr/>
                    <a:lstStyle/>
                    <a:p>
                      <a:endParaRPr lang="en-US"/>
                    </a:p>
                  </a:txBody>
                  <a:tcPr/>
                </a:tc>
              </a:tr>
              <a:tr h="370840">
                <a:tc>
                  <a:txBody>
                    <a:bodyPr/>
                    <a:lstStyle/>
                    <a:p>
                      <a:r>
                        <a:rPr lang="en-US" sz="2800" dirty="0" smtClean="0"/>
                        <a:t>Checkup</a:t>
                      </a:r>
                      <a:endParaRPr lang="en-US" sz="2800" dirty="0"/>
                    </a:p>
                  </a:txBody>
                  <a:tcPr/>
                </a:tc>
                <a:tc>
                  <a:txBody>
                    <a:bodyPr/>
                    <a:lstStyle/>
                    <a:p>
                      <a:r>
                        <a:rPr lang="en-US" sz="2800" dirty="0" smtClean="0"/>
                        <a:t>15min</a:t>
                      </a:r>
                      <a:endParaRPr lang="en-US" sz="2800" dirty="0"/>
                    </a:p>
                  </a:txBody>
                  <a:tcPr/>
                </a:tc>
                <a:tc>
                  <a:txBody>
                    <a:bodyPr/>
                    <a:lstStyle/>
                    <a:p>
                      <a:r>
                        <a:rPr lang="en-US" sz="2800" dirty="0" smtClean="0"/>
                        <a:t>20</a:t>
                      </a:r>
                      <a:endParaRPr lang="en-US" sz="2800" dirty="0"/>
                    </a:p>
                  </a:txBody>
                  <a:tcPr/>
                </a:tc>
                <a:tc>
                  <a:txBody>
                    <a:bodyPr/>
                    <a:lstStyle/>
                    <a:p>
                      <a:r>
                        <a:rPr lang="en-US" sz="2800" dirty="0" smtClean="0"/>
                        <a:t>0.2</a:t>
                      </a:r>
                      <a:endParaRPr lang="en-US" sz="2800" dirty="0"/>
                    </a:p>
                  </a:txBody>
                  <a:tcPr/>
                </a:tc>
                <a:tc>
                  <a:txBody>
                    <a:bodyPr/>
                    <a:lstStyle/>
                    <a:p>
                      <a:endParaRPr lang="en-US" dirty="0"/>
                    </a:p>
                  </a:txBody>
                  <a:tcPr/>
                </a:tc>
                <a:tc>
                  <a:txBody>
                    <a:bodyPr/>
                    <a:lstStyle/>
                    <a:p>
                      <a:endParaRPr lang="en-US" dirty="0"/>
                    </a:p>
                  </a:txBody>
                  <a:tcPr/>
                </a:tc>
              </a:tr>
            </a:tbl>
          </a:graphicData>
        </a:graphic>
      </p:graphicFrame>
    </p:spTree>
    <p:extLst>
      <p:ext uri="{BB962C8B-B14F-4D97-AF65-F5344CB8AC3E}">
        <p14:creationId xmlns:p14="http://schemas.microsoft.com/office/powerpoint/2010/main" val="31295936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339926621"/>
              </p:ext>
            </p:extLst>
          </p:nvPr>
        </p:nvGraphicFramePr>
        <p:xfrm>
          <a:off x="657592" y="1054711"/>
          <a:ext cx="10515600" cy="3535680"/>
        </p:xfrm>
        <a:graphic>
          <a:graphicData uri="http://schemas.openxmlformats.org/drawingml/2006/table">
            <a:tbl>
              <a:tblPr firstRow="1" bandRow="1">
                <a:tableStyleId>{5C22544A-7EE6-4342-B048-85BDC9FD1C3A}</a:tableStyleId>
              </a:tblPr>
              <a:tblGrid>
                <a:gridCol w="1752600"/>
                <a:gridCol w="1752600"/>
                <a:gridCol w="1481870"/>
                <a:gridCol w="2023330"/>
                <a:gridCol w="1898039"/>
                <a:gridCol w="1607161"/>
              </a:tblGrid>
              <a:tr h="370840">
                <a:tc>
                  <a:txBody>
                    <a:bodyPr/>
                    <a:lstStyle/>
                    <a:p>
                      <a:r>
                        <a:rPr lang="en-US" sz="2800" dirty="0" smtClean="0"/>
                        <a:t>Category</a:t>
                      </a:r>
                      <a:endParaRPr lang="en-US" sz="2800" dirty="0"/>
                    </a:p>
                  </a:txBody>
                  <a:tcPr/>
                </a:tc>
                <a:tc>
                  <a:txBody>
                    <a:bodyPr/>
                    <a:lstStyle/>
                    <a:p>
                      <a:r>
                        <a:rPr lang="en-US" sz="2800" dirty="0" smtClean="0"/>
                        <a:t>Time Required</a:t>
                      </a:r>
                      <a:endParaRPr lang="en-US" sz="2800" dirty="0"/>
                    </a:p>
                  </a:txBody>
                  <a:tcPr/>
                </a:tc>
                <a:tc>
                  <a:txBody>
                    <a:bodyPr/>
                    <a:lstStyle/>
                    <a:p>
                      <a:r>
                        <a:rPr lang="en-US" sz="2800" dirty="0" smtClean="0"/>
                        <a:t>No. of Patients</a:t>
                      </a:r>
                      <a:endParaRPr lang="en-US" sz="2800" dirty="0"/>
                    </a:p>
                  </a:txBody>
                  <a:tcPr/>
                </a:tc>
                <a:tc>
                  <a:txBody>
                    <a:bodyPr/>
                    <a:lstStyle/>
                    <a:p>
                      <a:r>
                        <a:rPr lang="en-US" sz="2800" dirty="0" smtClean="0"/>
                        <a:t>Probability Distribution</a:t>
                      </a:r>
                      <a:endParaRPr lang="en-US" sz="2800" dirty="0"/>
                    </a:p>
                  </a:txBody>
                  <a:tcPr/>
                </a:tc>
                <a:tc>
                  <a:txBody>
                    <a:bodyPr/>
                    <a:lstStyle/>
                    <a:p>
                      <a:r>
                        <a:rPr lang="en-US" sz="2800" dirty="0" smtClean="0"/>
                        <a:t>Cumulative Probability</a:t>
                      </a:r>
                      <a:endParaRPr lang="en-US" sz="2800" dirty="0"/>
                    </a:p>
                  </a:txBody>
                  <a:tcPr/>
                </a:tc>
                <a:tc>
                  <a:txBody>
                    <a:bodyPr/>
                    <a:lstStyle/>
                    <a:p>
                      <a:endParaRPr lang="en-US" sz="2800" dirty="0"/>
                    </a:p>
                  </a:txBody>
                  <a:tcPr/>
                </a:tc>
              </a:tr>
              <a:tr h="370840">
                <a:tc>
                  <a:txBody>
                    <a:bodyPr/>
                    <a:lstStyle/>
                    <a:p>
                      <a:r>
                        <a:rPr lang="en-US" sz="2800" dirty="0" smtClean="0"/>
                        <a:t>Filling</a:t>
                      </a:r>
                    </a:p>
                  </a:txBody>
                  <a:tcPr/>
                </a:tc>
                <a:tc>
                  <a:txBody>
                    <a:bodyPr/>
                    <a:lstStyle/>
                    <a:p>
                      <a:r>
                        <a:rPr lang="en-US" sz="2800" dirty="0" smtClean="0"/>
                        <a:t>45min</a:t>
                      </a:r>
                      <a:endParaRPr lang="en-US" sz="2800" dirty="0"/>
                    </a:p>
                  </a:txBody>
                  <a:tcPr/>
                </a:tc>
                <a:tc>
                  <a:txBody>
                    <a:bodyPr/>
                    <a:lstStyle/>
                    <a:p>
                      <a:r>
                        <a:rPr lang="en-US" sz="2800" dirty="0" smtClean="0"/>
                        <a:t>40</a:t>
                      </a:r>
                      <a:endParaRPr lang="en-US" sz="2800" dirty="0"/>
                    </a:p>
                  </a:txBody>
                  <a:tcPr/>
                </a:tc>
                <a:tc>
                  <a:txBody>
                    <a:bodyPr/>
                    <a:lstStyle/>
                    <a:p>
                      <a:r>
                        <a:rPr lang="en-US" sz="2800" dirty="0" smtClean="0"/>
                        <a:t>0.4</a:t>
                      </a:r>
                      <a:endParaRPr lang="en-US" sz="2800" dirty="0"/>
                    </a:p>
                  </a:txBody>
                  <a:tcPr/>
                </a:tc>
                <a:tc>
                  <a:txBody>
                    <a:bodyPr/>
                    <a:lstStyle/>
                    <a:p>
                      <a:r>
                        <a:rPr lang="en-US" sz="2800" dirty="0" smtClean="0"/>
                        <a:t>0.4</a:t>
                      </a:r>
                      <a:endParaRPr lang="en-US" sz="2800" dirty="0"/>
                    </a:p>
                  </a:txBody>
                  <a:tcPr/>
                </a:tc>
                <a:tc>
                  <a:txBody>
                    <a:bodyPr/>
                    <a:lstStyle/>
                    <a:p>
                      <a:endParaRPr lang="en-US" sz="2800" dirty="0"/>
                    </a:p>
                  </a:txBody>
                  <a:tcPr/>
                </a:tc>
              </a:tr>
              <a:tr h="370840">
                <a:tc>
                  <a:txBody>
                    <a:bodyPr/>
                    <a:lstStyle/>
                    <a:p>
                      <a:r>
                        <a:rPr lang="en-US" sz="2800" dirty="0" smtClean="0"/>
                        <a:t>Crown</a:t>
                      </a:r>
                      <a:endParaRPr lang="en-US" sz="2800" dirty="0"/>
                    </a:p>
                  </a:txBody>
                  <a:tcPr/>
                </a:tc>
                <a:tc>
                  <a:txBody>
                    <a:bodyPr/>
                    <a:lstStyle/>
                    <a:p>
                      <a:r>
                        <a:rPr lang="en-US" sz="2800" dirty="0" smtClean="0"/>
                        <a:t>60min</a:t>
                      </a:r>
                      <a:endParaRPr lang="en-US" sz="2800" dirty="0"/>
                    </a:p>
                  </a:txBody>
                  <a:tcPr/>
                </a:tc>
                <a:tc>
                  <a:txBody>
                    <a:bodyPr/>
                    <a:lstStyle/>
                    <a:p>
                      <a:r>
                        <a:rPr lang="en-US" sz="2800" dirty="0" smtClean="0"/>
                        <a:t>15</a:t>
                      </a:r>
                      <a:endParaRPr lang="en-US" sz="2800" dirty="0"/>
                    </a:p>
                  </a:txBody>
                  <a:tcPr/>
                </a:tc>
                <a:tc>
                  <a:txBody>
                    <a:bodyPr/>
                    <a:lstStyle/>
                    <a:p>
                      <a:r>
                        <a:rPr lang="en-US" sz="2800" dirty="0" smtClean="0"/>
                        <a:t>0.15</a:t>
                      </a:r>
                      <a:endParaRPr lang="en-US" sz="2800" dirty="0"/>
                    </a:p>
                  </a:txBody>
                  <a:tcPr/>
                </a:tc>
                <a:tc>
                  <a:txBody>
                    <a:bodyPr/>
                    <a:lstStyle/>
                    <a:p>
                      <a:r>
                        <a:rPr lang="en-US" sz="2800" dirty="0" smtClean="0"/>
                        <a:t>0.55</a:t>
                      </a:r>
                      <a:endParaRPr lang="en-US" sz="2800" dirty="0"/>
                    </a:p>
                  </a:txBody>
                  <a:tcPr/>
                </a:tc>
                <a:tc>
                  <a:txBody>
                    <a:bodyPr/>
                    <a:lstStyle/>
                    <a:p>
                      <a:endParaRPr lang="en-US" sz="2800" dirty="0"/>
                    </a:p>
                  </a:txBody>
                  <a:tcPr/>
                </a:tc>
              </a:tr>
              <a:tr h="370840">
                <a:tc>
                  <a:txBody>
                    <a:bodyPr/>
                    <a:lstStyle/>
                    <a:p>
                      <a:r>
                        <a:rPr lang="en-US" sz="2800" dirty="0" smtClean="0"/>
                        <a:t>Cleaning</a:t>
                      </a:r>
                      <a:endParaRPr lang="en-US" sz="2800" dirty="0"/>
                    </a:p>
                  </a:txBody>
                  <a:tcPr/>
                </a:tc>
                <a:tc>
                  <a:txBody>
                    <a:bodyPr/>
                    <a:lstStyle/>
                    <a:p>
                      <a:r>
                        <a:rPr lang="en-US" sz="2800" dirty="0" smtClean="0"/>
                        <a:t>15min</a:t>
                      </a:r>
                      <a:endParaRPr lang="en-US" sz="2800" dirty="0"/>
                    </a:p>
                  </a:txBody>
                  <a:tcPr/>
                </a:tc>
                <a:tc>
                  <a:txBody>
                    <a:bodyPr/>
                    <a:lstStyle/>
                    <a:p>
                      <a:r>
                        <a:rPr lang="en-US" sz="2800" dirty="0" smtClean="0"/>
                        <a:t>15</a:t>
                      </a:r>
                      <a:endParaRPr lang="en-US" sz="2800" dirty="0"/>
                    </a:p>
                  </a:txBody>
                  <a:tcPr/>
                </a:tc>
                <a:tc>
                  <a:txBody>
                    <a:bodyPr/>
                    <a:lstStyle/>
                    <a:p>
                      <a:r>
                        <a:rPr lang="en-US" sz="2800" dirty="0" smtClean="0"/>
                        <a:t>0.15</a:t>
                      </a:r>
                      <a:endParaRPr lang="en-US" sz="2800" dirty="0"/>
                    </a:p>
                  </a:txBody>
                  <a:tcPr/>
                </a:tc>
                <a:tc>
                  <a:txBody>
                    <a:bodyPr/>
                    <a:lstStyle/>
                    <a:p>
                      <a:r>
                        <a:rPr lang="en-US" sz="2800" dirty="0" smtClean="0"/>
                        <a:t>0.70</a:t>
                      </a:r>
                      <a:endParaRPr lang="en-US" sz="2800" dirty="0"/>
                    </a:p>
                  </a:txBody>
                  <a:tcPr/>
                </a:tc>
                <a:tc>
                  <a:txBody>
                    <a:bodyPr/>
                    <a:lstStyle/>
                    <a:p>
                      <a:endParaRPr lang="en-US" sz="2800" dirty="0"/>
                    </a:p>
                  </a:txBody>
                  <a:tcPr/>
                </a:tc>
              </a:tr>
              <a:tr h="370840">
                <a:tc>
                  <a:txBody>
                    <a:bodyPr/>
                    <a:lstStyle/>
                    <a:p>
                      <a:r>
                        <a:rPr lang="en-US" sz="2800" dirty="0" smtClean="0"/>
                        <a:t>Extracting</a:t>
                      </a:r>
                      <a:endParaRPr lang="en-US" sz="2800" dirty="0"/>
                    </a:p>
                  </a:txBody>
                  <a:tcPr/>
                </a:tc>
                <a:tc>
                  <a:txBody>
                    <a:bodyPr/>
                    <a:lstStyle/>
                    <a:p>
                      <a:r>
                        <a:rPr lang="en-US" sz="2800" dirty="0" smtClean="0"/>
                        <a:t>45min</a:t>
                      </a:r>
                      <a:endParaRPr lang="en-US" sz="2800" dirty="0"/>
                    </a:p>
                  </a:txBody>
                  <a:tcPr/>
                </a:tc>
                <a:tc>
                  <a:txBody>
                    <a:bodyPr/>
                    <a:lstStyle/>
                    <a:p>
                      <a:r>
                        <a:rPr lang="en-US" sz="2800" dirty="0" smtClean="0"/>
                        <a:t>10</a:t>
                      </a:r>
                      <a:endParaRPr lang="en-US" sz="2800" dirty="0"/>
                    </a:p>
                  </a:txBody>
                  <a:tcPr/>
                </a:tc>
                <a:tc>
                  <a:txBody>
                    <a:bodyPr/>
                    <a:lstStyle/>
                    <a:p>
                      <a:r>
                        <a:rPr lang="en-US" sz="2800" dirty="0" smtClean="0"/>
                        <a:t>0.1</a:t>
                      </a:r>
                      <a:endParaRPr lang="en-US" sz="2800" dirty="0"/>
                    </a:p>
                  </a:txBody>
                  <a:tcPr/>
                </a:tc>
                <a:tc>
                  <a:txBody>
                    <a:bodyPr/>
                    <a:lstStyle/>
                    <a:p>
                      <a:r>
                        <a:rPr lang="en-US" sz="2800" dirty="0" smtClean="0"/>
                        <a:t>0.80</a:t>
                      </a:r>
                      <a:endParaRPr lang="en-US" sz="2800" dirty="0"/>
                    </a:p>
                  </a:txBody>
                  <a:tcPr/>
                </a:tc>
                <a:tc>
                  <a:txBody>
                    <a:bodyPr/>
                    <a:lstStyle/>
                    <a:p>
                      <a:endParaRPr lang="en-US" sz="2800" dirty="0"/>
                    </a:p>
                  </a:txBody>
                  <a:tcPr/>
                </a:tc>
              </a:tr>
              <a:tr h="370840">
                <a:tc>
                  <a:txBody>
                    <a:bodyPr/>
                    <a:lstStyle/>
                    <a:p>
                      <a:r>
                        <a:rPr lang="en-US" sz="2800" dirty="0" smtClean="0"/>
                        <a:t>Checkup</a:t>
                      </a:r>
                      <a:endParaRPr lang="en-US" sz="2800" dirty="0"/>
                    </a:p>
                  </a:txBody>
                  <a:tcPr/>
                </a:tc>
                <a:tc>
                  <a:txBody>
                    <a:bodyPr/>
                    <a:lstStyle/>
                    <a:p>
                      <a:r>
                        <a:rPr lang="en-US" sz="2800" dirty="0" smtClean="0"/>
                        <a:t>15min</a:t>
                      </a:r>
                      <a:endParaRPr lang="en-US" sz="2800" dirty="0"/>
                    </a:p>
                  </a:txBody>
                  <a:tcPr/>
                </a:tc>
                <a:tc>
                  <a:txBody>
                    <a:bodyPr/>
                    <a:lstStyle/>
                    <a:p>
                      <a:r>
                        <a:rPr lang="en-US" sz="2800" dirty="0" smtClean="0"/>
                        <a:t>20</a:t>
                      </a:r>
                      <a:endParaRPr lang="en-US" sz="2800" dirty="0"/>
                    </a:p>
                  </a:txBody>
                  <a:tcPr/>
                </a:tc>
                <a:tc>
                  <a:txBody>
                    <a:bodyPr/>
                    <a:lstStyle/>
                    <a:p>
                      <a:r>
                        <a:rPr lang="en-US" sz="2800" dirty="0" smtClean="0"/>
                        <a:t>0.2</a:t>
                      </a:r>
                      <a:endParaRPr lang="en-US" sz="2800" dirty="0"/>
                    </a:p>
                  </a:txBody>
                  <a:tcPr/>
                </a:tc>
                <a:tc>
                  <a:txBody>
                    <a:bodyPr/>
                    <a:lstStyle/>
                    <a:p>
                      <a:r>
                        <a:rPr lang="en-US" sz="2800" dirty="0" smtClean="0"/>
                        <a:t>1.00</a:t>
                      </a:r>
                      <a:endParaRPr lang="en-US" sz="2800" dirty="0"/>
                    </a:p>
                  </a:txBody>
                  <a:tcPr/>
                </a:tc>
                <a:tc>
                  <a:txBody>
                    <a:bodyPr/>
                    <a:lstStyle/>
                    <a:p>
                      <a:endParaRPr lang="en-US" sz="2800" dirty="0"/>
                    </a:p>
                  </a:txBody>
                  <a:tcPr/>
                </a:tc>
              </a:tr>
            </a:tbl>
          </a:graphicData>
        </a:graphic>
      </p:graphicFrame>
    </p:spTree>
    <p:extLst>
      <p:ext uri="{BB962C8B-B14F-4D97-AF65-F5344CB8AC3E}">
        <p14:creationId xmlns:p14="http://schemas.microsoft.com/office/powerpoint/2010/main" val="37331313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610959965"/>
              </p:ext>
            </p:extLst>
          </p:nvPr>
        </p:nvGraphicFramePr>
        <p:xfrm>
          <a:off x="657592" y="1054711"/>
          <a:ext cx="10515600" cy="3962400"/>
        </p:xfrm>
        <a:graphic>
          <a:graphicData uri="http://schemas.openxmlformats.org/drawingml/2006/table">
            <a:tbl>
              <a:tblPr firstRow="1" bandRow="1">
                <a:tableStyleId>{5C22544A-7EE6-4342-B048-85BDC9FD1C3A}</a:tableStyleId>
              </a:tblPr>
              <a:tblGrid>
                <a:gridCol w="1752600"/>
                <a:gridCol w="1528762"/>
                <a:gridCol w="1547446"/>
                <a:gridCol w="1987062"/>
                <a:gridCol w="1947130"/>
                <a:gridCol w="1752600"/>
              </a:tblGrid>
              <a:tr h="370840">
                <a:tc>
                  <a:txBody>
                    <a:bodyPr/>
                    <a:lstStyle/>
                    <a:p>
                      <a:r>
                        <a:rPr lang="en-US" sz="2800" dirty="0" smtClean="0"/>
                        <a:t>Category</a:t>
                      </a:r>
                      <a:endParaRPr lang="en-US" sz="2800" dirty="0"/>
                    </a:p>
                  </a:txBody>
                  <a:tcPr/>
                </a:tc>
                <a:tc>
                  <a:txBody>
                    <a:bodyPr/>
                    <a:lstStyle/>
                    <a:p>
                      <a:r>
                        <a:rPr lang="en-US" sz="2800" dirty="0" smtClean="0"/>
                        <a:t>Time Required</a:t>
                      </a:r>
                      <a:endParaRPr lang="en-US" sz="2800" dirty="0"/>
                    </a:p>
                  </a:txBody>
                  <a:tcPr/>
                </a:tc>
                <a:tc>
                  <a:txBody>
                    <a:bodyPr/>
                    <a:lstStyle/>
                    <a:p>
                      <a:r>
                        <a:rPr lang="en-US" sz="2800" dirty="0" smtClean="0"/>
                        <a:t>No. of Patients</a:t>
                      </a:r>
                      <a:endParaRPr lang="en-US" sz="2800" dirty="0"/>
                    </a:p>
                  </a:txBody>
                  <a:tcPr/>
                </a:tc>
                <a:tc>
                  <a:txBody>
                    <a:bodyPr/>
                    <a:lstStyle/>
                    <a:p>
                      <a:r>
                        <a:rPr lang="en-US" sz="2800" dirty="0" smtClean="0"/>
                        <a:t>Probability Distribution</a:t>
                      </a:r>
                      <a:endParaRPr lang="en-US" sz="2800" dirty="0"/>
                    </a:p>
                  </a:txBody>
                  <a:tcPr/>
                </a:tc>
                <a:tc>
                  <a:txBody>
                    <a:bodyPr/>
                    <a:lstStyle/>
                    <a:p>
                      <a:r>
                        <a:rPr lang="en-US" sz="2800" dirty="0" smtClean="0"/>
                        <a:t>Cumulative Probability</a:t>
                      </a:r>
                      <a:endParaRPr lang="en-US" sz="2800" dirty="0"/>
                    </a:p>
                  </a:txBody>
                  <a:tcPr/>
                </a:tc>
                <a:tc>
                  <a:txBody>
                    <a:bodyPr/>
                    <a:lstStyle/>
                    <a:p>
                      <a:r>
                        <a:rPr lang="en-US" sz="2800" dirty="0" smtClean="0"/>
                        <a:t>Random Number Interval </a:t>
                      </a:r>
                      <a:endParaRPr lang="en-US" sz="2800" dirty="0"/>
                    </a:p>
                  </a:txBody>
                  <a:tcPr/>
                </a:tc>
              </a:tr>
              <a:tr h="370840">
                <a:tc>
                  <a:txBody>
                    <a:bodyPr/>
                    <a:lstStyle/>
                    <a:p>
                      <a:r>
                        <a:rPr lang="en-US" sz="2800" dirty="0" smtClean="0"/>
                        <a:t>Filling</a:t>
                      </a:r>
                    </a:p>
                  </a:txBody>
                  <a:tcPr/>
                </a:tc>
                <a:tc>
                  <a:txBody>
                    <a:bodyPr/>
                    <a:lstStyle/>
                    <a:p>
                      <a:r>
                        <a:rPr lang="en-US" sz="2800" dirty="0" smtClean="0"/>
                        <a:t>45min</a:t>
                      </a:r>
                      <a:endParaRPr lang="en-US" sz="2800" dirty="0"/>
                    </a:p>
                  </a:txBody>
                  <a:tcPr/>
                </a:tc>
                <a:tc>
                  <a:txBody>
                    <a:bodyPr/>
                    <a:lstStyle/>
                    <a:p>
                      <a:r>
                        <a:rPr lang="en-US" sz="2800" dirty="0" smtClean="0"/>
                        <a:t>40</a:t>
                      </a:r>
                      <a:endParaRPr lang="en-US" sz="2800" dirty="0"/>
                    </a:p>
                  </a:txBody>
                  <a:tcPr/>
                </a:tc>
                <a:tc>
                  <a:txBody>
                    <a:bodyPr/>
                    <a:lstStyle/>
                    <a:p>
                      <a:r>
                        <a:rPr lang="en-US" sz="2800" dirty="0" smtClean="0"/>
                        <a:t>0.40</a:t>
                      </a:r>
                      <a:endParaRPr lang="en-US" sz="2800" dirty="0"/>
                    </a:p>
                  </a:txBody>
                  <a:tcPr/>
                </a:tc>
                <a:tc>
                  <a:txBody>
                    <a:bodyPr/>
                    <a:lstStyle/>
                    <a:p>
                      <a:r>
                        <a:rPr lang="en-US" sz="2800" dirty="0" smtClean="0"/>
                        <a:t>0.40</a:t>
                      </a:r>
                      <a:endParaRPr lang="en-US" sz="2800" dirty="0"/>
                    </a:p>
                  </a:txBody>
                  <a:tcPr/>
                </a:tc>
                <a:tc>
                  <a:txBody>
                    <a:bodyPr/>
                    <a:lstStyle/>
                    <a:p>
                      <a:r>
                        <a:rPr lang="en-US" sz="2800" dirty="0" smtClean="0"/>
                        <a:t>0-39</a:t>
                      </a:r>
                      <a:endParaRPr lang="en-US" sz="2800" dirty="0"/>
                    </a:p>
                  </a:txBody>
                  <a:tcPr/>
                </a:tc>
              </a:tr>
              <a:tr h="370840">
                <a:tc>
                  <a:txBody>
                    <a:bodyPr/>
                    <a:lstStyle/>
                    <a:p>
                      <a:r>
                        <a:rPr lang="en-US" sz="2800" dirty="0" smtClean="0"/>
                        <a:t>Crown</a:t>
                      </a:r>
                      <a:endParaRPr lang="en-US" sz="2800" dirty="0"/>
                    </a:p>
                  </a:txBody>
                  <a:tcPr/>
                </a:tc>
                <a:tc>
                  <a:txBody>
                    <a:bodyPr/>
                    <a:lstStyle/>
                    <a:p>
                      <a:r>
                        <a:rPr lang="en-US" sz="2800" dirty="0" smtClean="0"/>
                        <a:t>60min</a:t>
                      </a:r>
                      <a:endParaRPr lang="en-US" sz="2800" dirty="0"/>
                    </a:p>
                  </a:txBody>
                  <a:tcPr/>
                </a:tc>
                <a:tc>
                  <a:txBody>
                    <a:bodyPr/>
                    <a:lstStyle/>
                    <a:p>
                      <a:r>
                        <a:rPr lang="en-US" sz="2800" dirty="0" smtClean="0"/>
                        <a:t>15</a:t>
                      </a:r>
                      <a:endParaRPr lang="en-US" sz="2800" dirty="0"/>
                    </a:p>
                  </a:txBody>
                  <a:tcPr/>
                </a:tc>
                <a:tc>
                  <a:txBody>
                    <a:bodyPr/>
                    <a:lstStyle/>
                    <a:p>
                      <a:r>
                        <a:rPr lang="en-US" sz="2800" dirty="0" smtClean="0"/>
                        <a:t>0.15</a:t>
                      </a:r>
                      <a:endParaRPr lang="en-US" sz="2800" dirty="0"/>
                    </a:p>
                  </a:txBody>
                  <a:tcPr/>
                </a:tc>
                <a:tc>
                  <a:txBody>
                    <a:bodyPr/>
                    <a:lstStyle/>
                    <a:p>
                      <a:r>
                        <a:rPr lang="en-US" sz="2800" dirty="0" smtClean="0"/>
                        <a:t>0.55</a:t>
                      </a:r>
                      <a:endParaRPr lang="en-US" sz="2800" dirty="0"/>
                    </a:p>
                  </a:txBody>
                  <a:tcPr/>
                </a:tc>
                <a:tc>
                  <a:txBody>
                    <a:bodyPr/>
                    <a:lstStyle/>
                    <a:p>
                      <a:r>
                        <a:rPr lang="en-US" sz="2800" dirty="0" smtClean="0"/>
                        <a:t>40-54</a:t>
                      </a:r>
                      <a:endParaRPr lang="en-US" sz="2800" dirty="0"/>
                    </a:p>
                  </a:txBody>
                  <a:tcPr/>
                </a:tc>
              </a:tr>
              <a:tr h="370840">
                <a:tc>
                  <a:txBody>
                    <a:bodyPr/>
                    <a:lstStyle/>
                    <a:p>
                      <a:r>
                        <a:rPr lang="en-US" sz="2800" dirty="0" smtClean="0"/>
                        <a:t>Cleaning</a:t>
                      </a:r>
                      <a:endParaRPr lang="en-US" sz="2800" dirty="0"/>
                    </a:p>
                  </a:txBody>
                  <a:tcPr/>
                </a:tc>
                <a:tc>
                  <a:txBody>
                    <a:bodyPr/>
                    <a:lstStyle/>
                    <a:p>
                      <a:r>
                        <a:rPr lang="en-US" sz="2800" dirty="0" smtClean="0"/>
                        <a:t>15min</a:t>
                      </a:r>
                      <a:endParaRPr lang="en-US" sz="2800" dirty="0"/>
                    </a:p>
                  </a:txBody>
                  <a:tcPr/>
                </a:tc>
                <a:tc>
                  <a:txBody>
                    <a:bodyPr/>
                    <a:lstStyle/>
                    <a:p>
                      <a:r>
                        <a:rPr lang="en-US" sz="2800" dirty="0" smtClean="0"/>
                        <a:t>15</a:t>
                      </a:r>
                      <a:endParaRPr lang="en-US" sz="2800" dirty="0"/>
                    </a:p>
                  </a:txBody>
                  <a:tcPr/>
                </a:tc>
                <a:tc>
                  <a:txBody>
                    <a:bodyPr/>
                    <a:lstStyle/>
                    <a:p>
                      <a:r>
                        <a:rPr lang="en-US" sz="2800" dirty="0" smtClean="0"/>
                        <a:t>0.15</a:t>
                      </a:r>
                      <a:endParaRPr lang="en-US" sz="2800" dirty="0"/>
                    </a:p>
                  </a:txBody>
                  <a:tcPr/>
                </a:tc>
                <a:tc>
                  <a:txBody>
                    <a:bodyPr/>
                    <a:lstStyle/>
                    <a:p>
                      <a:r>
                        <a:rPr lang="en-US" sz="2800" dirty="0" smtClean="0"/>
                        <a:t>0.70</a:t>
                      </a:r>
                      <a:endParaRPr lang="en-US" sz="2800" dirty="0"/>
                    </a:p>
                  </a:txBody>
                  <a:tcPr/>
                </a:tc>
                <a:tc>
                  <a:txBody>
                    <a:bodyPr/>
                    <a:lstStyle/>
                    <a:p>
                      <a:r>
                        <a:rPr lang="en-US" sz="2800" dirty="0" smtClean="0"/>
                        <a:t>55-69</a:t>
                      </a:r>
                      <a:endParaRPr lang="en-US" sz="2800" dirty="0"/>
                    </a:p>
                  </a:txBody>
                  <a:tcPr/>
                </a:tc>
              </a:tr>
              <a:tr h="370840">
                <a:tc>
                  <a:txBody>
                    <a:bodyPr/>
                    <a:lstStyle/>
                    <a:p>
                      <a:r>
                        <a:rPr lang="en-US" sz="2800" dirty="0" smtClean="0"/>
                        <a:t>Extracting</a:t>
                      </a:r>
                      <a:endParaRPr lang="en-US" sz="2800" dirty="0"/>
                    </a:p>
                  </a:txBody>
                  <a:tcPr/>
                </a:tc>
                <a:tc>
                  <a:txBody>
                    <a:bodyPr/>
                    <a:lstStyle/>
                    <a:p>
                      <a:r>
                        <a:rPr lang="en-US" sz="2800" dirty="0" smtClean="0"/>
                        <a:t>45min</a:t>
                      </a:r>
                      <a:endParaRPr lang="en-US" sz="2800" dirty="0"/>
                    </a:p>
                  </a:txBody>
                  <a:tcPr/>
                </a:tc>
                <a:tc>
                  <a:txBody>
                    <a:bodyPr/>
                    <a:lstStyle/>
                    <a:p>
                      <a:r>
                        <a:rPr lang="en-US" sz="2800" dirty="0" smtClean="0"/>
                        <a:t>10</a:t>
                      </a:r>
                      <a:endParaRPr lang="en-US" sz="2800" dirty="0"/>
                    </a:p>
                  </a:txBody>
                  <a:tcPr/>
                </a:tc>
                <a:tc>
                  <a:txBody>
                    <a:bodyPr/>
                    <a:lstStyle/>
                    <a:p>
                      <a:r>
                        <a:rPr lang="en-US" sz="2800" dirty="0" smtClean="0"/>
                        <a:t>0.10</a:t>
                      </a:r>
                      <a:endParaRPr lang="en-US" sz="2800" dirty="0"/>
                    </a:p>
                  </a:txBody>
                  <a:tcPr/>
                </a:tc>
                <a:tc>
                  <a:txBody>
                    <a:bodyPr/>
                    <a:lstStyle/>
                    <a:p>
                      <a:r>
                        <a:rPr lang="en-US" sz="2800" dirty="0" smtClean="0"/>
                        <a:t>0.80</a:t>
                      </a:r>
                      <a:endParaRPr lang="en-US" sz="2800" dirty="0"/>
                    </a:p>
                  </a:txBody>
                  <a:tcPr/>
                </a:tc>
                <a:tc>
                  <a:txBody>
                    <a:bodyPr/>
                    <a:lstStyle/>
                    <a:p>
                      <a:r>
                        <a:rPr lang="en-US" sz="2800" dirty="0" smtClean="0"/>
                        <a:t>70-79</a:t>
                      </a:r>
                      <a:endParaRPr lang="en-US" sz="2800" dirty="0"/>
                    </a:p>
                  </a:txBody>
                  <a:tcPr/>
                </a:tc>
              </a:tr>
              <a:tr h="370840">
                <a:tc>
                  <a:txBody>
                    <a:bodyPr/>
                    <a:lstStyle/>
                    <a:p>
                      <a:r>
                        <a:rPr lang="en-US" sz="2800" dirty="0" smtClean="0"/>
                        <a:t>Checkup</a:t>
                      </a:r>
                      <a:endParaRPr lang="en-US" sz="2800" dirty="0"/>
                    </a:p>
                  </a:txBody>
                  <a:tcPr/>
                </a:tc>
                <a:tc>
                  <a:txBody>
                    <a:bodyPr/>
                    <a:lstStyle/>
                    <a:p>
                      <a:r>
                        <a:rPr lang="en-US" sz="2800" dirty="0" smtClean="0"/>
                        <a:t>15min</a:t>
                      </a:r>
                      <a:endParaRPr lang="en-US" sz="2800" dirty="0"/>
                    </a:p>
                  </a:txBody>
                  <a:tcPr/>
                </a:tc>
                <a:tc>
                  <a:txBody>
                    <a:bodyPr/>
                    <a:lstStyle/>
                    <a:p>
                      <a:r>
                        <a:rPr lang="en-US" sz="2800" dirty="0" smtClean="0"/>
                        <a:t>20</a:t>
                      </a:r>
                      <a:endParaRPr lang="en-US" sz="2800" dirty="0"/>
                    </a:p>
                  </a:txBody>
                  <a:tcPr/>
                </a:tc>
                <a:tc>
                  <a:txBody>
                    <a:bodyPr/>
                    <a:lstStyle/>
                    <a:p>
                      <a:r>
                        <a:rPr lang="en-US" sz="2800" dirty="0" smtClean="0"/>
                        <a:t>0.20</a:t>
                      </a:r>
                      <a:endParaRPr lang="en-US" sz="2800" dirty="0"/>
                    </a:p>
                  </a:txBody>
                  <a:tcPr/>
                </a:tc>
                <a:tc>
                  <a:txBody>
                    <a:bodyPr/>
                    <a:lstStyle/>
                    <a:p>
                      <a:r>
                        <a:rPr lang="en-US" sz="2800" dirty="0" smtClean="0"/>
                        <a:t>1.00</a:t>
                      </a:r>
                      <a:endParaRPr lang="en-US" sz="2800" dirty="0"/>
                    </a:p>
                  </a:txBody>
                  <a:tcPr/>
                </a:tc>
                <a:tc>
                  <a:txBody>
                    <a:bodyPr/>
                    <a:lstStyle/>
                    <a:p>
                      <a:r>
                        <a:rPr lang="en-US" sz="2800" dirty="0" smtClean="0"/>
                        <a:t>80-99</a:t>
                      </a:r>
                      <a:endParaRPr lang="en-US" sz="2800" dirty="0"/>
                    </a:p>
                  </a:txBody>
                  <a:tcPr/>
                </a:tc>
              </a:tr>
            </a:tbl>
          </a:graphicData>
        </a:graphic>
      </p:graphicFrame>
    </p:spTree>
    <p:extLst>
      <p:ext uri="{BB962C8B-B14F-4D97-AF65-F5344CB8AC3E}">
        <p14:creationId xmlns:p14="http://schemas.microsoft.com/office/powerpoint/2010/main" val="4949125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211914199"/>
              </p:ext>
            </p:extLst>
          </p:nvPr>
        </p:nvGraphicFramePr>
        <p:xfrm>
          <a:off x="1589577" y="1459157"/>
          <a:ext cx="8763000" cy="4480560"/>
        </p:xfrm>
        <a:graphic>
          <a:graphicData uri="http://schemas.openxmlformats.org/drawingml/2006/table">
            <a:tbl>
              <a:tblPr firstRow="1" bandRow="1">
                <a:tableStyleId>{5C22544A-7EE6-4342-B048-85BDC9FD1C3A}</a:tableStyleId>
              </a:tblPr>
              <a:tblGrid>
                <a:gridCol w="1752600"/>
                <a:gridCol w="1528762"/>
                <a:gridCol w="1547446"/>
                <a:gridCol w="1987062"/>
                <a:gridCol w="1947130"/>
              </a:tblGrid>
              <a:tr h="370840">
                <a:tc>
                  <a:txBody>
                    <a:bodyPr/>
                    <a:lstStyle/>
                    <a:p>
                      <a:r>
                        <a:rPr lang="en-US" sz="2400" dirty="0" smtClean="0"/>
                        <a:t>Patient</a:t>
                      </a:r>
                      <a:endParaRPr lang="en-US" sz="2400" dirty="0"/>
                    </a:p>
                  </a:txBody>
                  <a:tcPr/>
                </a:tc>
                <a:tc>
                  <a:txBody>
                    <a:bodyPr/>
                    <a:lstStyle/>
                    <a:p>
                      <a:r>
                        <a:rPr lang="en-US" sz="2400" dirty="0" smtClean="0"/>
                        <a:t>Scheduled Arrival</a:t>
                      </a:r>
                      <a:endParaRPr lang="en-US" sz="2400" dirty="0"/>
                    </a:p>
                  </a:txBody>
                  <a:tcPr/>
                </a:tc>
                <a:tc>
                  <a:txBody>
                    <a:bodyPr/>
                    <a:lstStyle/>
                    <a:p>
                      <a:r>
                        <a:rPr lang="en-US" sz="2400" dirty="0" smtClean="0"/>
                        <a:t>Random Number</a:t>
                      </a:r>
                      <a:endParaRPr lang="en-US" sz="2400" dirty="0"/>
                    </a:p>
                  </a:txBody>
                  <a:tcPr/>
                </a:tc>
                <a:tc>
                  <a:txBody>
                    <a:bodyPr/>
                    <a:lstStyle/>
                    <a:p>
                      <a:r>
                        <a:rPr lang="en-US" sz="2400" dirty="0" smtClean="0"/>
                        <a:t>Category</a:t>
                      </a:r>
                      <a:endParaRPr lang="en-US" sz="2400" dirty="0"/>
                    </a:p>
                  </a:txBody>
                  <a:tcPr/>
                </a:tc>
                <a:tc>
                  <a:txBody>
                    <a:bodyPr/>
                    <a:lstStyle/>
                    <a:p>
                      <a:r>
                        <a:rPr lang="en-US" sz="2400" dirty="0" smtClean="0"/>
                        <a:t>Service Time</a:t>
                      </a:r>
                      <a:r>
                        <a:rPr lang="en-US" sz="2400" baseline="0" dirty="0" smtClean="0"/>
                        <a:t> Needed</a:t>
                      </a:r>
                      <a:endParaRPr lang="en-US" sz="2400" dirty="0"/>
                    </a:p>
                  </a:txBody>
                  <a:tcPr/>
                </a:tc>
              </a:tr>
              <a:tr h="370840">
                <a:tc>
                  <a:txBody>
                    <a:bodyPr/>
                    <a:lstStyle/>
                    <a:p>
                      <a:r>
                        <a:rPr lang="en-US" sz="2400" dirty="0" smtClean="0"/>
                        <a:t>1</a:t>
                      </a:r>
                      <a:endParaRPr lang="en-US" sz="2400" dirty="0"/>
                    </a:p>
                  </a:txBody>
                  <a:tcPr/>
                </a:tc>
                <a:tc>
                  <a:txBody>
                    <a:bodyPr/>
                    <a:lstStyle/>
                    <a:p>
                      <a:r>
                        <a:rPr lang="en-US" sz="2400" dirty="0" smtClean="0"/>
                        <a:t>8:00</a:t>
                      </a:r>
                      <a:endParaRPr lang="en-US" sz="2400" dirty="0"/>
                    </a:p>
                  </a:txBody>
                  <a:tcPr/>
                </a:tc>
                <a:tc>
                  <a:txBody>
                    <a:bodyPr/>
                    <a:lstStyle/>
                    <a:p>
                      <a:r>
                        <a:rPr lang="en-US" sz="2400" dirty="0" smtClean="0"/>
                        <a:t>40</a:t>
                      </a:r>
                      <a:endParaRPr lang="en-US" sz="2400" dirty="0"/>
                    </a:p>
                  </a:txBody>
                  <a:tcPr/>
                </a:tc>
                <a:tc>
                  <a:txBody>
                    <a:bodyPr/>
                    <a:lstStyle/>
                    <a:p>
                      <a:r>
                        <a:rPr lang="en-US" sz="2400" dirty="0" smtClean="0"/>
                        <a:t>Crown</a:t>
                      </a:r>
                      <a:endParaRPr lang="en-US" sz="2400" dirty="0"/>
                    </a:p>
                  </a:txBody>
                  <a:tcPr/>
                </a:tc>
                <a:tc>
                  <a:txBody>
                    <a:bodyPr/>
                    <a:lstStyle/>
                    <a:p>
                      <a:r>
                        <a:rPr lang="en-US" sz="2400" dirty="0" smtClean="0"/>
                        <a:t>60min</a:t>
                      </a:r>
                      <a:endParaRPr lang="en-US" sz="2400" dirty="0"/>
                    </a:p>
                  </a:txBody>
                  <a:tcPr/>
                </a:tc>
              </a:tr>
              <a:tr h="370840">
                <a:tc>
                  <a:txBody>
                    <a:bodyPr/>
                    <a:lstStyle/>
                    <a:p>
                      <a:r>
                        <a:rPr lang="en-US" sz="2400" dirty="0" smtClean="0"/>
                        <a:t>2</a:t>
                      </a:r>
                      <a:endParaRPr lang="en-US" sz="2400" dirty="0"/>
                    </a:p>
                  </a:txBody>
                  <a:tcPr/>
                </a:tc>
                <a:tc>
                  <a:txBody>
                    <a:bodyPr/>
                    <a:lstStyle/>
                    <a:p>
                      <a:r>
                        <a:rPr lang="en-US" sz="2400" dirty="0" smtClean="0"/>
                        <a:t>8:30</a:t>
                      </a:r>
                      <a:endParaRPr lang="en-US" sz="2400" dirty="0"/>
                    </a:p>
                  </a:txBody>
                  <a:tcPr/>
                </a:tc>
                <a:tc>
                  <a:txBody>
                    <a:bodyPr/>
                    <a:lstStyle/>
                    <a:p>
                      <a:r>
                        <a:rPr lang="en-US" sz="2400" dirty="0" smtClean="0"/>
                        <a:t>82</a:t>
                      </a:r>
                      <a:endParaRPr lang="en-US" sz="2400" dirty="0"/>
                    </a:p>
                  </a:txBody>
                  <a:tcPr/>
                </a:tc>
                <a:tc>
                  <a:txBody>
                    <a:bodyPr/>
                    <a:lstStyle/>
                    <a:p>
                      <a:r>
                        <a:rPr lang="en-US" sz="2400" dirty="0" smtClean="0"/>
                        <a:t>Checkup</a:t>
                      </a:r>
                      <a:endParaRPr lang="en-US" sz="2400" dirty="0"/>
                    </a:p>
                  </a:txBody>
                  <a:tcPr/>
                </a:tc>
                <a:tc>
                  <a:txBody>
                    <a:bodyPr/>
                    <a:lstStyle/>
                    <a:p>
                      <a:r>
                        <a:rPr lang="en-US" sz="2400" dirty="0" smtClean="0"/>
                        <a:t>15min</a:t>
                      </a:r>
                      <a:endParaRPr lang="en-US" sz="2400" dirty="0"/>
                    </a:p>
                  </a:txBody>
                  <a:tcPr/>
                </a:tc>
              </a:tr>
              <a:tr h="370840">
                <a:tc>
                  <a:txBody>
                    <a:bodyPr/>
                    <a:lstStyle/>
                    <a:p>
                      <a:r>
                        <a:rPr lang="en-US" sz="2400" dirty="0" smtClean="0"/>
                        <a:t>3</a:t>
                      </a:r>
                      <a:endParaRPr lang="en-US" sz="2400" dirty="0"/>
                    </a:p>
                  </a:txBody>
                  <a:tcPr/>
                </a:tc>
                <a:tc>
                  <a:txBody>
                    <a:bodyPr/>
                    <a:lstStyle/>
                    <a:p>
                      <a:r>
                        <a:rPr lang="en-US" sz="2400" dirty="0" smtClean="0"/>
                        <a:t>9:00</a:t>
                      </a:r>
                      <a:endParaRPr lang="en-US" sz="2400" dirty="0"/>
                    </a:p>
                  </a:txBody>
                  <a:tcPr/>
                </a:tc>
                <a:tc>
                  <a:txBody>
                    <a:bodyPr/>
                    <a:lstStyle/>
                    <a:p>
                      <a:r>
                        <a:rPr lang="en-US" sz="2400" dirty="0" smtClean="0"/>
                        <a:t>11</a:t>
                      </a:r>
                      <a:endParaRPr lang="en-US" sz="2400" dirty="0"/>
                    </a:p>
                  </a:txBody>
                  <a:tcPr/>
                </a:tc>
                <a:tc>
                  <a:txBody>
                    <a:bodyPr/>
                    <a:lstStyle/>
                    <a:p>
                      <a:r>
                        <a:rPr lang="en-US" sz="2400" dirty="0" smtClean="0"/>
                        <a:t>Filling</a:t>
                      </a:r>
                      <a:endParaRPr lang="en-US" sz="2400" dirty="0"/>
                    </a:p>
                  </a:txBody>
                  <a:tcPr/>
                </a:tc>
                <a:tc>
                  <a:txBody>
                    <a:bodyPr/>
                    <a:lstStyle/>
                    <a:p>
                      <a:r>
                        <a:rPr lang="en-US" sz="2400" dirty="0" smtClean="0"/>
                        <a:t>45min</a:t>
                      </a:r>
                      <a:endParaRPr lang="en-US" sz="2400" dirty="0"/>
                    </a:p>
                  </a:txBody>
                  <a:tcPr/>
                </a:tc>
              </a:tr>
              <a:tr h="370840">
                <a:tc>
                  <a:txBody>
                    <a:bodyPr/>
                    <a:lstStyle/>
                    <a:p>
                      <a:r>
                        <a:rPr lang="en-US" sz="2400" dirty="0" smtClean="0"/>
                        <a:t>4</a:t>
                      </a:r>
                      <a:endParaRPr lang="en-US" sz="2400" dirty="0"/>
                    </a:p>
                  </a:txBody>
                  <a:tcPr/>
                </a:tc>
                <a:tc>
                  <a:txBody>
                    <a:bodyPr/>
                    <a:lstStyle/>
                    <a:p>
                      <a:r>
                        <a:rPr lang="en-US" sz="2400" dirty="0" smtClean="0"/>
                        <a:t>9:30</a:t>
                      </a:r>
                      <a:endParaRPr lang="en-US" sz="2400" dirty="0"/>
                    </a:p>
                  </a:txBody>
                  <a:tcPr/>
                </a:tc>
                <a:tc>
                  <a:txBody>
                    <a:bodyPr/>
                    <a:lstStyle/>
                    <a:p>
                      <a:r>
                        <a:rPr lang="en-US" sz="2400" dirty="0" smtClean="0"/>
                        <a:t>34</a:t>
                      </a:r>
                      <a:endParaRPr lang="en-US" sz="2400" dirty="0"/>
                    </a:p>
                  </a:txBody>
                  <a:tcPr/>
                </a:tc>
                <a:tc>
                  <a:txBody>
                    <a:bodyPr/>
                    <a:lstStyle/>
                    <a:p>
                      <a:r>
                        <a:rPr lang="en-US" sz="2400" dirty="0" smtClean="0"/>
                        <a:t>Filling</a:t>
                      </a:r>
                      <a:endParaRPr lang="en-US" sz="2400" dirty="0"/>
                    </a:p>
                  </a:txBody>
                  <a:tcPr/>
                </a:tc>
                <a:tc>
                  <a:txBody>
                    <a:bodyPr/>
                    <a:lstStyle/>
                    <a:p>
                      <a:r>
                        <a:rPr lang="en-US" sz="2400" dirty="0" smtClean="0"/>
                        <a:t>45min</a:t>
                      </a:r>
                      <a:endParaRPr lang="en-US" sz="2400" dirty="0"/>
                    </a:p>
                  </a:txBody>
                  <a:tcPr/>
                </a:tc>
              </a:tr>
              <a:tr h="370840">
                <a:tc>
                  <a:txBody>
                    <a:bodyPr/>
                    <a:lstStyle/>
                    <a:p>
                      <a:r>
                        <a:rPr lang="en-US" sz="2400" dirty="0" smtClean="0"/>
                        <a:t>5</a:t>
                      </a:r>
                      <a:endParaRPr lang="en-US" sz="2400" dirty="0"/>
                    </a:p>
                  </a:txBody>
                  <a:tcPr/>
                </a:tc>
                <a:tc>
                  <a:txBody>
                    <a:bodyPr/>
                    <a:lstStyle/>
                    <a:p>
                      <a:r>
                        <a:rPr lang="en-US" sz="2400" dirty="0" smtClean="0"/>
                        <a:t>10:00</a:t>
                      </a:r>
                      <a:endParaRPr lang="en-US" sz="2400" dirty="0"/>
                    </a:p>
                  </a:txBody>
                  <a:tcPr/>
                </a:tc>
                <a:tc>
                  <a:txBody>
                    <a:bodyPr/>
                    <a:lstStyle/>
                    <a:p>
                      <a:r>
                        <a:rPr lang="en-US" sz="2400" dirty="0" smtClean="0"/>
                        <a:t>25</a:t>
                      </a:r>
                      <a:endParaRPr lang="en-US" sz="2400" dirty="0"/>
                    </a:p>
                  </a:txBody>
                  <a:tcPr/>
                </a:tc>
                <a:tc>
                  <a:txBody>
                    <a:bodyPr/>
                    <a:lstStyle/>
                    <a:p>
                      <a:r>
                        <a:rPr lang="en-US" sz="2400" dirty="0" smtClean="0"/>
                        <a:t>Filling</a:t>
                      </a:r>
                      <a:endParaRPr lang="en-US" sz="2400" dirty="0"/>
                    </a:p>
                  </a:txBody>
                  <a:tcPr/>
                </a:tc>
                <a:tc>
                  <a:txBody>
                    <a:bodyPr/>
                    <a:lstStyle/>
                    <a:p>
                      <a:r>
                        <a:rPr lang="en-US" sz="2400" dirty="0" smtClean="0"/>
                        <a:t>45min</a:t>
                      </a:r>
                      <a:endParaRPr lang="en-US" sz="2400" dirty="0"/>
                    </a:p>
                  </a:txBody>
                  <a:tcPr/>
                </a:tc>
              </a:tr>
              <a:tr h="370840">
                <a:tc>
                  <a:txBody>
                    <a:bodyPr/>
                    <a:lstStyle/>
                    <a:p>
                      <a:r>
                        <a:rPr lang="en-US" sz="2400" dirty="0" smtClean="0"/>
                        <a:t>6</a:t>
                      </a:r>
                      <a:endParaRPr lang="en-US" sz="2400" dirty="0"/>
                    </a:p>
                  </a:txBody>
                  <a:tcPr/>
                </a:tc>
                <a:tc>
                  <a:txBody>
                    <a:bodyPr/>
                    <a:lstStyle/>
                    <a:p>
                      <a:r>
                        <a:rPr lang="en-US" sz="2400" dirty="0" smtClean="0"/>
                        <a:t>10:30</a:t>
                      </a:r>
                      <a:endParaRPr lang="en-US" sz="2400" dirty="0"/>
                    </a:p>
                  </a:txBody>
                  <a:tcPr/>
                </a:tc>
                <a:tc>
                  <a:txBody>
                    <a:bodyPr/>
                    <a:lstStyle/>
                    <a:p>
                      <a:r>
                        <a:rPr lang="en-US" sz="2400" dirty="0" smtClean="0"/>
                        <a:t>66</a:t>
                      </a:r>
                      <a:endParaRPr lang="en-US" sz="2400" dirty="0"/>
                    </a:p>
                  </a:txBody>
                  <a:tcPr/>
                </a:tc>
                <a:tc>
                  <a:txBody>
                    <a:bodyPr/>
                    <a:lstStyle/>
                    <a:p>
                      <a:r>
                        <a:rPr lang="en-US" sz="2400" dirty="0" smtClean="0"/>
                        <a:t>Cleaning</a:t>
                      </a:r>
                      <a:endParaRPr lang="en-US" sz="2400" dirty="0"/>
                    </a:p>
                  </a:txBody>
                  <a:tcPr/>
                </a:tc>
                <a:tc>
                  <a:txBody>
                    <a:bodyPr/>
                    <a:lstStyle/>
                    <a:p>
                      <a:r>
                        <a:rPr lang="en-US" sz="2400" dirty="0" smtClean="0"/>
                        <a:t>15min</a:t>
                      </a:r>
                      <a:endParaRPr lang="en-US" sz="2400" dirty="0"/>
                    </a:p>
                  </a:txBody>
                  <a:tcPr/>
                </a:tc>
              </a:tr>
              <a:tr h="370840">
                <a:tc>
                  <a:txBody>
                    <a:bodyPr/>
                    <a:lstStyle/>
                    <a:p>
                      <a:r>
                        <a:rPr lang="en-US" sz="2400" dirty="0" smtClean="0"/>
                        <a:t>7</a:t>
                      </a:r>
                      <a:endParaRPr lang="en-US" sz="2400" dirty="0"/>
                    </a:p>
                  </a:txBody>
                  <a:tcPr/>
                </a:tc>
                <a:tc>
                  <a:txBody>
                    <a:bodyPr/>
                    <a:lstStyle/>
                    <a:p>
                      <a:r>
                        <a:rPr lang="en-US" sz="2400" dirty="0" smtClean="0"/>
                        <a:t>11:00</a:t>
                      </a:r>
                      <a:endParaRPr lang="en-US" sz="2400" dirty="0"/>
                    </a:p>
                  </a:txBody>
                  <a:tcPr/>
                </a:tc>
                <a:tc>
                  <a:txBody>
                    <a:bodyPr/>
                    <a:lstStyle/>
                    <a:p>
                      <a:r>
                        <a:rPr lang="en-US" sz="2400" dirty="0" smtClean="0"/>
                        <a:t>17</a:t>
                      </a:r>
                      <a:endParaRPr lang="en-US" sz="2400" dirty="0"/>
                    </a:p>
                  </a:txBody>
                  <a:tcPr/>
                </a:tc>
                <a:tc>
                  <a:txBody>
                    <a:bodyPr/>
                    <a:lstStyle/>
                    <a:p>
                      <a:r>
                        <a:rPr lang="en-US" sz="2400" dirty="0" smtClean="0"/>
                        <a:t>Filling</a:t>
                      </a:r>
                      <a:endParaRPr lang="en-US" sz="2400" dirty="0"/>
                    </a:p>
                  </a:txBody>
                  <a:tcPr/>
                </a:tc>
                <a:tc>
                  <a:txBody>
                    <a:bodyPr/>
                    <a:lstStyle/>
                    <a:p>
                      <a:r>
                        <a:rPr lang="en-US" sz="2400" dirty="0" smtClean="0"/>
                        <a:t>45min</a:t>
                      </a:r>
                      <a:endParaRPr lang="en-US" sz="2400" dirty="0"/>
                    </a:p>
                  </a:txBody>
                  <a:tcPr/>
                </a:tc>
              </a:tr>
              <a:tr h="370840">
                <a:tc>
                  <a:txBody>
                    <a:bodyPr/>
                    <a:lstStyle/>
                    <a:p>
                      <a:r>
                        <a:rPr lang="en-US" sz="2400" dirty="0" smtClean="0"/>
                        <a:t>8</a:t>
                      </a:r>
                      <a:endParaRPr lang="en-US" sz="2400" dirty="0"/>
                    </a:p>
                  </a:txBody>
                  <a:tcPr/>
                </a:tc>
                <a:tc>
                  <a:txBody>
                    <a:bodyPr/>
                    <a:lstStyle/>
                    <a:p>
                      <a:r>
                        <a:rPr lang="en-US" sz="2400" dirty="0" smtClean="0"/>
                        <a:t>11:30</a:t>
                      </a:r>
                      <a:endParaRPr lang="en-US" sz="2400" dirty="0"/>
                    </a:p>
                  </a:txBody>
                  <a:tcPr/>
                </a:tc>
                <a:tc>
                  <a:txBody>
                    <a:bodyPr/>
                    <a:lstStyle/>
                    <a:p>
                      <a:r>
                        <a:rPr lang="en-US" sz="2400" dirty="0" smtClean="0"/>
                        <a:t>79</a:t>
                      </a:r>
                      <a:endParaRPr lang="en-US" sz="2400" dirty="0"/>
                    </a:p>
                  </a:txBody>
                  <a:tcPr/>
                </a:tc>
                <a:tc>
                  <a:txBody>
                    <a:bodyPr/>
                    <a:lstStyle/>
                    <a:p>
                      <a:r>
                        <a:rPr lang="en-US" sz="2400" dirty="0" smtClean="0"/>
                        <a:t>Extracting</a:t>
                      </a:r>
                      <a:endParaRPr lang="en-US" sz="2400" dirty="0"/>
                    </a:p>
                  </a:txBody>
                  <a:tcPr/>
                </a:tc>
                <a:tc>
                  <a:txBody>
                    <a:bodyPr/>
                    <a:lstStyle/>
                    <a:p>
                      <a:r>
                        <a:rPr lang="en-US" sz="2400" dirty="0" smtClean="0"/>
                        <a:t>45min</a:t>
                      </a:r>
                      <a:endParaRPr lang="en-US" sz="2400" dirty="0"/>
                    </a:p>
                  </a:txBody>
                  <a:tcPr/>
                </a:tc>
              </a:tr>
            </a:tbl>
          </a:graphicData>
        </a:graphic>
      </p:graphicFrame>
    </p:spTree>
    <p:extLst>
      <p:ext uri="{BB962C8B-B14F-4D97-AF65-F5344CB8AC3E}">
        <p14:creationId xmlns:p14="http://schemas.microsoft.com/office/powerpoint/2010/main" val="35918530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265292634"/>
              </p:ext>
            </p:extLst>
          </p:nvPr>
        </p:nvGraphicFramePr>
        <p:xfrm>
          <a:off x="949570" y="685434"/>
          <a:ext cx="10093568" cy="4937760"/>
        </p:xfrm>
        <a:graphic>
          <a:graphicData uri="http://schemas.openxmlformats.org/drawingml/2006/table">
            <a:tbl>
              <a:tblPr firstRow="1" bandRow="1">
                <a:tableStyleId>{5C22544A-7EE6-4342-B048-85BDC9FD1C3A}</a:tableStyleId>
              </a:tblPr>
              <a:tblGrid>
                <a:gridCol w="1220556"/>
                <a:gridCol w="1557812"/>
                <a:gridCol w="1354016"/>
                <a:gridCol w="1565030"/>
                <a:gridCol w="1336433"/>
                <a:gridCol w="1670537"/>
                <a:gridCol w="1389184"/>
              </a:tblGrid>
              <a:tr h="370840">
                <a:tc>
                  <a:txBody>
                    <a:bodyPr/>
                    <a:lstStyle/>
                    <a:p>
                      <a:r>
                        <a:rPr lang="en-US" sz="2400" dirty="0" smtClean="0"/>
                        <a:t>Patient</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Scheduled Arrival</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Service Start</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Service duration</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Service Ends</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Waiting time(</a:t>
                      </a:r>
                      <a:r>
                        <a:rPr lang="en-US" sz="2400" dirty="0" err="1" smtClean="0"/>
                        <a:t>mins</a:t>
                      </a:r>
                      <a:r>
                        <a:rPr lang="en-US" sz="2400" dirty="0" smtClean="0"/>
                        <a:t>)</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Idle time</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370840">
                <a:tc>
                  <a:txBody>
                    <a:bodyPr/>
                    <a:lstStyle/>
                    <a:p>
                      <a:r>
                        <a:rPr lang="en-US" sz="2400" dirty="0" smtClean="0"/>
                        <a:t>1</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8:00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8:00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60min</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9:00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370840">
                <a:tc>
                  <a:txBody>
                    <a:bodyPr/>
                    <a:lstStyle/>
                    <a:p>
                      <a:r>
                        <a:rPr lang="en-US" sz="2400" dirty="0" smtClean="0"/>
                        <a:t>2</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8:30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9:00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15min</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9:15</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30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370840">
                <a:tc>
                  <a:txBody>
                    <a:bodyPr/>
                    <a:lstStyle/>
                    <a:p>
                      <a:r>
                        <a:rPr lang="en-US" sz="2400" dirty="0" smtClean="0"/>
                        <a:t>3</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9:00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9:15</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45min</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10:00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15</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370840">
                <a:tc>
                  <a:txBody>
                    <a:bodyPr/>
                    <a:lstStyle/>
                    <a:p>
                      <a:r>
                        <a:rPr lang="en-US" sz="2400" dirty="0" smtClean="0"/>
                        <a:t>4</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9:30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10:00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45min</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10:45</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30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370840">
                <a:tc>
                  <a:txBody>
                    <a:bodyPr/>
                    <a:lstStyle/>
                    <a:p>
                      <a:r>
                        <a:rPr lang="en-US" sz="2400" dirty="0" smtClean="0"/>
                        <a:t>5</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10:00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10:45</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45min</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11:30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45</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370840">
                <a:tc>
                  <a:txBody>
                    <a:bodyPr/>
                    <a:lstStyle/>
                    <a:p>
                      <a:r>
                        <a:rPr lang="en-US" sz="2400" dirty="0" smtClean="0"/>
                        <a:t>6</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10:30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11:30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15min</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11:45</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60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370840">
                <a:tc>
                  <a:txBody>
                    <a:bodyPr/>
                    <a:lstStyle/>
                    <a:p>
                      <a:r>
                        <a:rPr lang="en-US" sz="2400" dirty="0" smtClean="0"/>
                        <a:t>7</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11:00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11:45</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45min</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12:30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45</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370840">
                <a:tc>
                  <a:txBody>
                    <a:bodyPr/>
                    <a:lstStyle/>
                    <a:p>
                      <a:r>
                        <a:rPr lang="en-US" sz="2400" dirty="0" smtClean="0"/>
                        <a:t>8</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11:30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12:30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45min</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1:15</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60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0</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370840">
                <a:tc>
                  <a:txBody>
                    <a:bodyPr/>
                    <a:lstStyle/>
                    <a:p>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sz="2400" dirty="0" smtClean="0"/>
                        <a:t>Total =285</a:t>
                      </a:r>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n-US" sz="2400"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2" name="Rectangle 1"/>
          <p:cNvSpPr/>
          <p:nvPr/>
        </p:nvSpPr>
        <p:spPr>
          <a:xfrm>
            <a:off x="3283201" y="5934779"/>
            <a:ext cx="3449791" cy="369332"/>
          </a:xfrm>
          <a:prstGeom prst="rect">
            <a:avLst/>
          </a:prstGeom>
        </p:spPr>
        <p:txBody>
          <a:bodyPr wrap="none">
            <a:spAutoFit/>
          </a:bodyPr>
          <a:lstStyle/>
          <a:p>
            <a:pPr algn="r"/>
            <a:r>
              <a:rPr lang="en-US" b="1" dirty="0" smtClean="0"/>
              <a:t>Average waiting time = 285/8 = 35</a:t>
            </a:r>
          </a:p>
        </p:txBody>
      </p:sp>
    </p:spTree>
    <p:extLst>
      <p:ext uri="{BB962C8B-B14F-4D97-AF65-F5344CB8AC3E}">
        <p14:creationId xmlns:p14="http://schemas.microsoft.com/office/powerpoint/2010/main" val="34449656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5108" y="858471"/>
            <a:ext cx="10515600" cy="4351338"/>
          </a:xfrm>
        </p:spPr>
        <p:txBody>
          <a:bodyPr>
            <a:normAutofit lnSpcReduction="10000"/>
          </a:bodyPr>
          <a:lstStyle/>
          <a:p>
            <a:pPr marL="0" indent="0">
              <a:buNone/>
            </a:pPr>
            <a:r>
              <a:rPr lang="en-US" dirty="0"/>
              <a:t>Q. An air force station has a schedule of 15 transport flights leaving per day, each with </a:t>
            </a:r>
            <a:r>
              <a:rPr lang="en-US" dirty="0" smtClean="0"/>
              <a:t>one pilot</a:t>
            </a:r>
            <a:r>
              <a:rPr lang="en-US" dirty="0"/>
              <a:t>. Three reserve pilots are available to replace any pilot who falls sick. The </a:t>
            </a:r>
            <a:r>
              <a:rPr lang="en-US" dirty="0" smtClean="0"/>
              <a:t>probability distribution </a:t>
            </a:r>
            <a:r>
              <a:rPr lang="en-US" dirty="0"/>
              <a:t>for the daily number of pilots who fall sick is as follows:</a:t>
            </a:r>
          </a:p>
          <a:p>
            <a:pPr marL="0" indent="0">
              <a:buNone/>
            </a:pPr>
            <a:endParaRPr lang="en-US" dirty="0" smtClean="0"/>
          </a:p>
          <a:p>
            <a:pPr marL="0" indent="0">
              <a:buNone/>
            </a:pPr>
            <a:endParaRPr lang="en-US" dirty="0" smtClean="0"/>
          </a:p>
          <a:p>
            <a:pPr marL="0" indent="0">
              <a:buNone/>
            </a:pPr>
            <a:endParaRPr lang="en-US" dirty="0"/>
          </a:p>
          <a:p>
            <a:pPr marL="0" indent="0">
              <a:buNone/>
            </a:pPr>
            <a:r>
              <a:rPr lang="en-US" dirty="0" smtClean="0"/>
              <a:t>Use </a:t>
            </a:r>
            <a:r>
              <a:rPr lang="en-US" dirty="0"/>
              <a:t>the Monte Carlo simulation to estimate the utilization of reserved pilots. What is </a:t>
            </a:r>
            <a:r>
              <a:rPr lang="en-US" dirty="0" smtClean="0"/>
              <a:t>the probability </a:t>
            </a:r>
            <a:r>
              <a:rPr lang="en-US" dirty="0"/>
              <a:t>of canceling one flight due to non-availability of pilot? Simulate the system for 5 </a:t>
            </a:r>
            <a:r>
              <a:rPr lang="en-US" dirty="0" smtClean="0"/>
              <a:t>days.</a:t>
            </a: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753599525"/>
              </p:ext>
            </p:extLst>
          </p:nvPr>
        </p:nvGraphicFramePr>
        <p:xfrm>
          <a:off x="1464841" y="2536429"/>
          <a:ext cx="8128001" cy="736600"/>
        </p:xfrm>
        <a:graphic>
          <a:graphicData uri="http://schemas.openxmlformats.org/drawingml/2006/table">
            <a:tbl>
              <a:tblPr firstRow="1" bandRow="1">
                <a:tableStyleId>{2D5ABB26-0587-4C30-8999-92F81FD0307C}</a:tableStyleId>
              </a:tblPr>
              <a:tblGrid>
                <a:gridCol w="2250633"/>
                <a:gridCol w="682906"/>
                <a:gridCol w="879676"/>
                <a:gridCol w="831357"/>
                <a:gridCol w="893271"/>
                <a:gridCol w="1429015"/>
                <a:gridCol w="1161143"/>
              </a:tblGrid>
              <a:tr h="361301">
                <a:tc>
                  <a:txBody>
                    <a:bodyPr/>
                    <a:lstStyle/>
                    <a:p>
                      <a:r>
                        <a:rPr lang="en-US" dirty="0" smtClean="0"/>
                        <a:t>Number of pilots sick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r>
                        <a:rPr lang="en-US" dirty="0" smtClean="0"/>
                        <a:t>Probability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0.15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0.20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0.25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0.15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0.15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0.10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7979770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TotalTime>
  <Words>4050</Words>
  <Application>Microsoft Office PowerPoint</Application>
  <PresentationFormat>Widescreen</PresentationFormat>
  <Paragraphs>706</Paragraphs>
  <Slides>69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69</vt:i4>
      </vt:variant>
    </vt:vector>
  </HeadingPairs>
  <TitlesOfParts>
    <vt:vector size="75" baseType="lpstr">
      <vt:lpstr>Arial</vt:lpstr>
      <vt:lpstr>Calibri</vt:lpstr>
      <vt:lpstr>Calibri Light</vt:lpstr>
      <vt:lpstr>Cambria Math</vt:lpstr>
      <vt:lpstr>Wingdings</vt:lpstr>
      <vt:lpstr>Office Theme</vt:lpstr>
      <vt:lpstr>SIMULATION AND MODELING ENCT353 </vt:lpstr>
      <vt:lpstr>PowerPoint Presentation</vt:lpstr>
      <vt:lpstr>    Chapter-1 </vt:lpstr>
      <vt:lpstr>Overview</vt:lpstr>
      <vt:lpstr>1.1 System and system environment concepts </vt:lpstr>
      <vt:lpstr>1.1 System and system environment concepts </vt:lpstr>
      <vt:lpstr>1.1 System and system environment concepts </vt:lpstr>
      <vt:lpstr>1.1 System and system environment concepts </vt:lpstr>
      <vt:lpstr>PowerPoint Presentation</vt:lpstr>
      <vt:lpstr>1.1 System and system environment concepts </vt:lpstr>
      <vt:lpstr>1.1 System and system environment concepts </vt:lpstr>
      <vt:lpstr>PowerPoint Presentation</vt:lpstr>
      <vt:lpstr>1.2 Continuous and discrete systems </vt:lpstr>
      <vt:lpstr>1.2 Continuous and discrete systems </vt:lpstr>
      <vt:lpstr>1.3 Types of models </vt:lpstr>
      <vt:lpstr>PowerPoint Presentation</vt:lpstr>
      <vt:lpstr>PowerPoint Presentation</vt:lpstr>
      <vt:lpstr>1.3 Types of models </vt:lpstr>
      <vt:lpstr>1.3 Types of models </vt:lpstr>
      <vt:lpstr>1.3 Types of models </vt:lpstr>
      <vt:lpstr>1.3 Types of models </vt:lpstr>
      <vt:lpstr>1.3 Types of models </vt:lpstr>
      <vt:lpstr>1.3 Types of models </vt:lpstr>
      <vt:lpstr>1.3 Types of models </vt:lpstr>
      <vt:lpstr>1.3 Types of models </vt:lpstr>
      <vt:lpstr>1.3 Types of models </vt:lpstr>
      <vt:lpstr>1.3 Types of models </vt:lpstr>
      <vt:lpstr>1.3 Types of models </vt:lpstr>
      <vt:lpstr>1.3 Types of models </vt:lpstr>
      <vt:lpstr>Differences between static modeling and dynamic modeling</vt:lpstr>
      <vt:lpstr>1.4 Model development life cycle </vt:lpstr>
      <vt:lpstr>1.4 Model development life cycle </vt:lpstr>
      <vt:lpstr>1.4 Model development life cycle </vt:lpstr>
      <vt:lpstr>1.4 Model development life cycle </vt:lpstr>
      <vt:lpstr>1.5 Simulation and steps in simulation study </vt:lpstr>
      <vt:lpstr>1.5 Simulation and steps in simulation study </vt:lpstr>
      <vt:lpstr>1.5 Simulation and steps in simulation study </vt:lpstr>
      <vt:lpstr>1.5 Simulation and steps in simulation study </vt:lpstr>
      <vt:lpstr>1.5 Simulation and steps in simulation study </vt:lpstr>
      <vt:lpstr>1.5 Simulation and steps in simulation study </vt:lpstr>
      <vt:lpstr>1.5 Simulation and steps in simulation study </vt:lpstr>
      <vt:lpstr>1.5 Simulation and steps in simulation study </vt:lpstr>
      <vt:lpstr>1.5 Simulation and steps in simulation study </vt:lpstr>
      <vt:lpstr>1.5 Simulation and steps in simulation study </vt:lpstr>
      <vt:lpstr>1.6 Advantages and disadvantages of simulation</vt:lpstr>
      <vt:lpstr>1.6 Advantages and disadvantages of simulation</vt:lpstr>
      <vt:lpstr>1.6 Advantages and disadvantages of simulation</vt:lpstr>
      <vt:lpstr>1.6 Advantages and disadvantages of simulation</vt:lpstr>
      <vt:lpstr>PowerPoint Presentation</vt:lpstr>
      <vt:lpstr>PowerPoint Presentation</vt:lpstr>
      <vt:lpstr>PowerPoint Presentation</vt:lpstr>
      <vt:lpstr>PowerPoint Presentation</vt:lpstr>
      <vt:lpstr>1.7 Monte-Carlo simulation </vt:lpstr>
      <vt:lpstr>1.7 Monte-Carlo simulation </vt:lpstr>
      <vt:lpstr>1.7 Monte-Carlo simulation </vt:lpstr>
      <vt:lpstr>1.7 Monte-Carlo simulation </vt:lpstr>
      <vt:lpstr>1.7 Monte-Carlo simulation </vt:lpstr>
      <vt:lpstr>1.7 Monte-Carlo simulation </vt:lpstr>
      <vt:lpstr>1.7 Monte-Carlo simulation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SIMULATION AND MODELING ENCT353</dc:title>
  <dc:creator>Microsoft account</dc:creator>
  <cp:lastModifiedBy>Microsoft account</cp:lastModifiedBy>
  <cp:revision>34</cp:revision>
  <dcterms:created xsi:type="dcterms:W3CDTF">2026-05-17T05:49:46Z</dcterms:created>
  <dcterms:modified xsi:type="dcterms:W3CDTF">2026-05-20T16:19:08Z</dcterms:modified>
</cp:coreProperties>
</file>